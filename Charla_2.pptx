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rts/chart2.xml" ContentType="application/vnd.openxmlformats-officedocument.drawingml.chart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rts/chart3.xml" ContentType="application/vnd.openxmlformats-officedocument.drawingml.chart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4" r:id="rId2"/>
  </p:sldMasterIdLst>
  <p:notesMasterIdLst>
    <p:notesMasterId r:id="rId61"/>
  </p:notesMasterIdLst>
  <p:sldIdLst>
    <p:sldId id="436" r:id="rId3"/>
    <p:sldId id="258" r:id="rId4"/>
    <p:sldId id="259" r:id="rId5"/>
    <p:sldId id="298" r:id="rId6"/>
    <p:sldId id="300" r:id="rId7"/>
    <p:sldId id="260" r:id="rId8"/>
    <p:sldId id="299" r:id="rId9"/>
    <p:sldId id="261" r:id="rId10"/>
    <p:sldId id="262" r:id="rId11"/>
    <p:sldId id="263" r:id="rId12"/>
    <p:sldId id="264" r:id="rId13"/>
    <p:sldId id="266" r:id="rId14"/>
    <p:sldId id="302" r:id="rId15"/>
    <p:sldId id="267" r:id="rId16"/>
    <p:sldId id="268" r:id="rId17"/>
    <p:sldId id="301" r:id="rId18"/>
    <p:sldId id="270" r:id="rId19"/>
    <p:sldId id="303" r:id="rId20"/>
    <p:sldId id="271" r:id="rId21"/>
    <p:sldId id="272" r:id="rId22"/>
    <p:sldId id="304" r:id="rId23"/>
    <p:sldId id="274" r:id="rId24"/>
    <p:sldId id="275" r:id="rId25"/>
    <p:sldId id="276" r:id="rId26"/>
    <p:sldId id="294" r:id="rId27"/>
    <p:sldId id="295" r:id="rId28"/>
    <p:sldId id="437" r:id="rId29"/>
    <p:sldId id="438" r:id="rId30"/>
    <p:sldId id="439" r:id="rId31"/>
    <p:sldId id="440" r:id="rId32"/>
    <p:sldId id="441" r:id="rId33"/>
    <p:sldId id="442" r:id="rId34"/>
    <p:sldId id="443" r:id="rId35"/>
    <p:sldId id="265" r:id="rId36"/>
    <p:sldId id="444" r:id="rId37"/>
    <p:sldId id="445" r:id="rId38"/>
    <p:sldId id="312" r:id="rId39"/>
    <p:sldId id="446" r:id="rId40"/>
    <p:sldId id="269" r:id="rId41"/>
    <p:sldId id="447" r:id="rId42"/>
    <p:sldId id="448" r:id="rId43"/>
    <p:sldId id="449" r:id="rId44"/>
    <p:sldId id="273" r:id="rId45"/>
    <p:sldId id="450" r:id="rId46"/>
    <p:sldId id="451" r:id="rId47"/>
    <p:sldId id="452" r:id="rId48"/>
    <p:sldId id="277" r:id="rId49"/>
    <p:sldId id="278" r:id="rId50"/>
    <p:sldId id="279" r:id="rId51"/>
    <p:sldId id="280" r:id="rId52"/>
    <p:sldId id="281" r:id="rId53"/>
    <p:sldId id="282" r:id="rId54"/>
    <p:sldId id="283" r:id="rId55"/>
    <p:sldId id="284" r:id="rId56"/>
    <p:sldId id="285" r:id="rId57"/>
    <p:sldId id="286" r:id="rId58"/>
    <p:sldId id="287" r:id="rId59"/>
    <p:sldId id="288" r:id="rId60"/>
  </p:sldIdLst>
  <p:sldSz cx="10223500" cy="5143500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0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Mercado chatbots (USD B)</c:v>
                </c:pt>
              </c:strCache>
            </c:strRef>
          </c:tx>
          <c:spPr>
            <a:ln w="381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4965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2024e</c:v>
                </c:pt>
                <c:pt idx="5">
                  <c:v>2025e</c:v>
                </c:pt>
                <c:pt idx="6">
                  <c:v>2026e</c:v>
                </c:pt>
                <c:pt idx="7">
                  <c:v>2027e</c:v>
                </c:pt>
                <c:pt idx="8">
                  <c:v>2028e</c:v>
                </c:pt>
                <c:pt idx="9">
                  <c:v>2029e</c:v>
                </c:pt>
                <c:pt idx="10">
                  <c:v>2030e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2.6</c:v>
                </c:pt>
                <c:pt idx="1">
                  <c:v>3.4</c:v>
                </c:pt>
                <c:pt idx="2">
                  <c:v>4.7</c:v>
                </c:pt>
                <c:pt idx="3">
                  <c:v>6.4</c:v>
                </c:pt>
                <c:pt idx="4">
                  <c:v>8.5</c:v>
                </c:pt>
                <c:pt idx="5">
                  <c:v>11</c:v>
                </c:pt>
                <c:pt idx="6">
                  <c:v>14</c:v>
                </c:pt>
                <c:pt idx="7">
                  <c:v>17.5</c:v>
                </c:pt>
                <c:pt idx="8">
                  <c:v>21</c:v>
                </c:pt>
                <c:pt idx="9">
                  <c:v>24</c:v>
                </c:pt>
                <c:pt idx="10">
                  <c:v>27.3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E94-4A1D-B865-68EDA08142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5A3-4D27-9CB9-293291CE81B0}"/>
              </c:ext>
            </c:extLst>
          </c:dPt>
          <c:dPt>
            <c:idx val="1"/>
            <c:invertIfNegative val="0"/>
            <c:bubble3D val="0"/>
            <c:spPr>
              <a:solidFill>
                <a:srgbClr val="90A4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A3-4D27-9CB9-293291CE81B0}"/>
              </c:ext>
            </c:extLst>
          </c:dPt>
          <c:dPt>
            <c:idx val="2"/>
            <c:invertIfNegative val="0"/>
            <c:bubble3D val="0"/>
            <c:spPr>
              <a:solidFill>
                <a:srgbClr val="64B5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5A3-4D27-9CB9-293291CE81B0}"/>
              </c:ext>
            </c:extLst>
          </c:dPt>
          <c:dPt>
            <c:idx val="3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5A3-4D27-9CB9-293291CE81B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GPT-4o
(base)</c:v>
                </c:pt>
                <c:pt idx="1">
                  <c:v>Llama-8B
(base)</c:v>
                </c:pt>
                <c:pt idx="2">
                  <c:v>ChemBERTa</c:v>
                </c:pt>
                <c:pt idx="3">
                  <c:v>Llama-8B
Fine-Tuned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</c:v>
                </c:pt>
                <c:pt idx="1">
                  <c:v>0.48</c:v>
                </c:pt>
                <c:pt idx="2">
                  <c:v>0.79</c:v>
                </c:pt>
                <c:pt idx="3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5A3-4D27-9CB9-293291CE81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FF5-4AFB-A7B0-C7233CD3239F}"/>
              </c:ext>
            </c:extLst>
          </c:dPt>
          <c:dPt>
            <c:idx val="1"/>
            <c:invertIfNegative val="0"/>
            <c:bubble3D val="0"/>
            <c:spPr>
              <a:solidFill>
                <a:srgbClr val="7986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F5-4AFB-A7B0-C7233CD3239F}"/>
              </c:ext>
            </c:extLst>
          </c:dPt>
          <c:dPt>
            <c:idx val="2"/>
            <c:invertIfNegative val="0"/>
            <c:bubble3D val="0"/>
            <c:spPr>
              <a:solidFill>
                <a:srgbClr val="5C6B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F5-4AFB-A7B0-C7233CD3239F}"/>
              </c:ext>
            </c:extLst>
          </c:dPt>
          <c:dPt>
            <c:idx val="3"/>
            <c:invertIfNegative val="0"/>
            <c:bubble3D val="0"/>
            <c:spPr>
              <a:solidFill>
                <a:srgbClr val="7B1FA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FF5-4AFB-A7B0-C7233CD3239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Random
Forest</c:v>
                </c:pt>
                <c:pt idx="1">
                  <c:v>DeepDTA</c:v>
                </c:pt>
                <c:pt idx="2">
                  <c:v>GraphDTA</c:v>
                </c:pt>
                <c:pt idx="3">
                  <c:v>DTI-LM
(fine-tuned)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</c:v>
                </c:pt>
                <c:pt idx="1">
                  <c:v>0.82</c:v>
                </c:pt>
                <c:pt idx="2">
                  <c:v>0.86</c:v>
                </c:pt>
                <c:pt idx="3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FF5-4AFB-A7B0-C7233CD323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34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25" y="685800"/>
            <a:ext cx="68135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Limpieza, preprocesamiento y análisis exploratorio de datos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A96E3-2A0C-D4AA-C8D5-4FB22915F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F4BEF-6543-2377-238B-1B113E7B3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70322-1132-1198-D609-60ACCD578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97AB1-A327-B129-2AD2-E668703025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36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E57F4-0D91-BCEA-8AB8-11EC7261D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76374-56D2-5996-63F4-7114EC203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773EB-CB7A-E150-D81B-F6291C716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0F88E-2735-BC63-B2E6-9C0C10218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02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5CE2-3743-424A-5B33-2E16C74F7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E979B-5739-5F37-8F2E-A2DC9D13B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C5211-BEA7-194B-C6B4-708C633F4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E6F26-1192-2721-D00A-B5CAB991AC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1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FC99E-6BDA-DAFD-1920-80953CF25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72BAE-22B6-7974-6036-E4EAFE399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DA0C5-6F65-7CDB-B3A2-A8FB2DA2B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49384-93E8-CD57-48BB-D725E0FD49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31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94ED5-A464-B31D-291C-277838E39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4AF99-B0AD-F20E-2C7D-FFE6671EA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6A79F-09CE-52ED-67FB-925CA8372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27C8F-108D-E22A-6540-4F2B3E6558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464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522A4-F820-406B-8C68-224A32DC4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10B4D-6897-B735-EB12-93FEEB3B9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CCE78-CE34-2FA0-5678-33DD5FB7D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8C221-7CFF-B249-AFEE-B75E8A0A7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328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LLMs son el corazón de las aplicaciones de IA modernas. Modelos como GPT-4, Llama, Mistral.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la mayoría de casos de uso en Pharma con GPU limitada, Llama-3.1-8B con QLoRA es el punto de partida ideal.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7938" y="841772"/>
            <a:ext cx="7667625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7938" y="2701528"/>
            <a:ext cx="7667625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42999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589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541" y="1282304"/>
            <a:ext cx="8817769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7541" y="3442098"/>
            <a:ext cx="8817769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21824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2865" y="1369219"/>
            <a:ext cx="4344988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5647" y="1369219"/>
            <a:ext cx="4344988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0006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197" y="273844"/>
            <a:ext cx="8817769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4198" y="1260872"/>
            <a:ext cx="4325019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4198" y="1878806"/>
            <a:ext cx="4325019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75647" y="1260872"/>
            <a:ext cx="4346319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75647" y="1878806"/>
            <a:ext cx="4346319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3220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00619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98311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197" y="342900"/>
            <a:ext cx="329734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6319" y="740569"/>
            <a:ext cx="5175647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4197" y="1543050"/>
            <a:ext cx="329734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7424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197" y="342900"/>
            <a:ext cx="329734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6319" y="740569"/>
            <a:ext cx="5175647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4197" y="1543050"/>
            <a:ext cx="329734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470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7199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16192" y="273844"/>
            <a:ext cx="2204442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2866" y="273844"/>
            <a:ext cx="6485533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57846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806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22222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-12327" y="-11025"/>
            <a:ext cx="10223500" cy="5143500"/>
          </a:xfrm>
          <a:prstGeom prst="rect">
            <a:avLst/>
          </a:prstGeom>
          <a:solidFill>
            <a:srgbClr val="222222">
              <a:alpha val="6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5686822" y="-38100"/>
            <a:ext cx="4600575" cy="5219700"/>
          </a:xfrm>
          <a:custGeom>
            <a:avLst/>
            <a:gdLst/>
            <a:ahLst/>
            <a:cxnLst/>
            <a:rect l="l" t="t" r="r" b="b"/>
            <a:pathLst>
              <a:path w="164592" h="208788" extrusionOk="0">
                <a:moveTo>
                  <a:pt x="0" y="1524"/>
                </a:moveTo>
                <a:lnTo>
                  <a:pt x="107442" y="208788"/>
                </a:lnTo>
                <a:lnTo>
                  <a:pt x="164592" y="208788"/>
                </a:lnTo>
                <a:lnTo>
                  <a:pt x="1645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CL" sz="1800"/>
          </a:p>
        </p:txBody>
      </p:sp>
      <p:sp>
        <p:nvSpPr>
          <p:cNvPr id="12" name="Google Shape;12;p8"/>
          <p:cNvSpPr/>
          <p:nvPr/>
        </p:nvSpPr>
        <p:spPr>
          <a:xfrm flipH="1">
            <a:off x="-468409" y="4394400"/>
            <a:ext cx="9137085" cy="749100"/>
          </a:xfrm>
          <a:prstGeom prst="parallelogram">
            <a:avLst>
              <a:gd name="adj" fmla="val 51542"/>
            </a:avLst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8"/>
          <p:cNvSpPr/>
          <p:nvPr/>
        </p:nvSpPr>
        <p:spPr>
          <a:xfrm flipH="1">
            <a:off x="1149892" y="4166400"/>
            <a:ext cx="9357790" cy="228000"/>
          </a:xfrm>
          <a:prstGeom prst="parallelogram">
            <a:avLst>
              <a:gd name="adj" fmla="val 5154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 txBox="1">
            <a:spLocks noGrp="1"/>
          </p:cNvSpPr>
          <p:nvPr>
            <p:ph type="ctrTitle"/>
          </p:nvPr>
        </p:nvSpPr>
        <p:spPr>
          <a:xfrm>
            <a:off x="1149892" y="0"/>
            <a:ext cx="5857046" cy="40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2010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176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22222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-12327" y="-11025"/>
            <a:ext cx="10223500" cy="5143500"/>
          </a:xfrm>
          <a:prstGeom prst="rect">
            <a:avLst/>
          </a:prstGeom>
          <a:solidFill>
            <a:srgbClr val="222222">
              <a:alpha val="63529"/>
            </a:srgbClr>
          </a:solidFill>
          <a:ln>
            <a:noFill/>
          </a:ln>
        </p:spPr>
        <p:txBody>
          <a:bodyPr spcFirstLastPara="1" wrap="square" lIns="81771" tIns="81771" rIns="81771" bIns="81771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5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5686823" y="-38100"/>
            <a:ext cx="4600575" cy="5219700"/>
          </a:xfrm>
          <a:custGeom>
            <a:avLst/>
            <a:gdLst/>
            <a:ahLst/>
            <a:cxnLst/>
            <a:rect l="l" t="t" r="r" b="b"/>
            <a:pathLst>
              <a:path w="164592" h="208788" extrusionOk="0">
                <a:moveTo>
                  <a:pt x="0" y="1524"/>
                </a:moveTo>
                <a:lnTo>
                  <a:pt x="107442" y="208788"/>
                </a:lnTo>
                <a:lnTo>
                  <a:pt x="164592" y="208788"/>
                </a:lnTo>
                <a:lnTo>
                  <a:pt x="1645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CL" sz="1610"/>
          </a:p>
        </p:txBody>
      </p:sp>
      <p:sp>
        <p:nvSpPr>
          <p:cNvPr id="12" name="Google Shape;12;p8"/>
          <p:cNvSpPr/>
          <p:nvPr/>
        </p:nvSpPr>
        <p:spPr>
          <a:xfrm flipH="1">
            <a:off x="-468408" y="4394400"/>
            <a:ext cx="9137085" cy="749100"/>
          </a:xfrm>
          <a:prstGeom prst="parallelogram">
            <a:avLst>
              <a:gd name="adj" fmla="val 51542"/>
            </a:avLst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spcFirstLastPara="1" wrap="square" lIns="81771" tIns="81771" rIns="81771" bIns="81771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52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8"/>
          <p:cNvSpPr/>
          <p:nvPr/>
        </p:nvSpPr>
        <p:spPr>
          <a:xfrm flipH="1">
            <a:off x="1149892" y="4166400"/>
            <a:ext cx="9357790" cy="228000"/>
          </a:xfrm>
          <a:prstGeom prst="parallelogram">
            <a:avLst>
              <a:gd name="adj" fmla="val 5154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81771" tIns="81771" rIns="81771" bIns="81771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5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 txBox="1">
            <a:spLocks noGrp="1"/>
          </p:cNvSpPr>
          <p:nvPr>
            <p:ph type="ctrTitle"/>
          </p:nvPr>
        </p:nvSpPr>
        <p:spPr>
          <a:xfrm>
            <a:off x="1149892" y="0"/>
            <a:ext cx="5857046" cy="40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5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5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5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5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5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5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5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5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5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9509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2866" y="273844"/>
            <a:ext cx="8817769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2866" y="1369219"/>
            <a:ext cx="8817769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2865" y="4767263"/>
            <a:ext cx="230028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6535" y="4767263"/>
            <a:ext cx="345043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0347" y="4767263"/>
            <a:ext cx="230028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073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928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png"/><Relationship Id="rId5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Relationship Id="rId9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5" Type="http://schemas.openxmlformats.org/officeDocument/2006/relationships/image" Target="../media/image28.png"/><Relationship Id="rId4" Type="http://schemas.openxmlformats.org/officeDocument/2006/relationships/image" Target="../media/image1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6877" y="69050"/>
            <a:ext cx="2514149" cy="10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1"/>
          <p:cNvSpPr txBox="1"/>
          <p:nvPr/>
        </p:nvSpPr>
        <p:spPr>
          <a:xfrm>
            <a:off x="784298" y="499011"/>
            <a:ext cx="49866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s-ES" sz="2800" dirty="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INTELIGENCIA ARTIFICIAL APLICADA A LA QUIMICA  </a:t>
            </a: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1"/>
          <p:cNvSpPr txBox="1"/>
          <p:nvPr/>
        </p:nvSpPr>
        <p:spPr>
          <a:xfrm>
            <a:off x="784296" y="2665718"/>
            <a:ext cx="4593300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300"/>
            </a:pPr>
            <a:r>
              <a:rPr lang="es-CL" sz="1300" dirty="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DOCENTE: PhD. Osvaldo Yáñez Osses</a:t>
            </a:r>
          </a:p>
          <a:p>
            <a:pPr>
              <a:buClr>
                <a:srgbClr val="000000"/>
              </a:buClr>
              <a:buSzPts val="1300"/>
            </a:pPr>
            <a:r>
              <a:rPr lang="es-CL" sz="1300" dirty="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Profesor Asistente</a:t>
            </a:r>
          </a:p>
          <a:p>
            <a:pPr lvl="0">
              <a:buSzPts val="1300"/>
            </a:pPr>
            <a:r>
              <a:rPr lang="es-ES" sz="1300" dirty="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Centro de Modelación Ambiental y Dinámica de Sistemas (CEMADIS)</a:t>
            </a:r>
            <a:endParaRPr lang="es-ES" dirty="0">
              <a:solidFill>
                <a:schemeClr val="lt1"/>
              </a:solidFill>
              <a:ea typeface="Dosis"/>
            </a:endParaRPr>
          </a:p>
          <a:p>
            <a:pPr lvl="0">
              <a:buSzPts val="1300"/>
            </a:pPr>
            <a:r>
              <a:rPr lang="es-ES" sz="1300" dirty="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Facultad de Ingeniería y Negocios</a:t>
            </a:r>
            <a:endParaRPr lang="es-CL" sz="1300" dirty="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1" name="Google Shape;41;p11"/>
          <p:cNvSpPr txBox="1"/>
          <p:nvPr/>
        </p:nvSpPr>
        <p:spPr>
          <a:xfrm>
            <a:off x="784296" y="1492762"/>
            <a:ext cx="6262581" cy="196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dirty="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Fine-Tuning en </a:t>
            </a:r>
            <a:r>
              <a:rPr lang="es-ES" dirty="0" err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LLMs</a:t>
            </a:r>
            <a:r>
              <a:rPr lang="es-ES" dirty="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 aplicados en </a:t>
            </a:r>
            <a:r>
              <a:rPr lang="es-ES" dirty="0" err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Quimica</a:t>
            </a:r>
            <a:endParaRPr lang="es-CL" dirty="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  <a:p>
            <a:endParaRPr lang="es-CL" sz="1400" dirty="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  <a:p>
            <a:pPr lvl="0"/>
            <a:endParaRPr lang="es-ES" dirty="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  <a:p>
            <a:pPr lvl="0"/>
            <a:endParaRPr lang="es-ES" dirty="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  <a:p>
            <a:pPr lvl="0"/>
            <a:endParaRPr lang="es-CL" dirty="0">
              <a:ea typeface="Dosis"/>
            </a:endParaRPr>
          </a:p>
          <a:p>
            <a:endParaRPr lang="es-CL" dirty="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  <a:p>
            <a:endParaRPr lang="es-CL" dirty="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Chatbot?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05510" y="896112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que simula conversaciones con usuarios mediante lenguaje natural, a través de apps de mensajería, sitios web, aplicaciones móviles o teléfono.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05510" y="180136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905510" y="1920240"/>
            <a:ext cx="2743200" cy="384048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05510" y="1920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05510" y="2304288"/>
            <a:ext cx="2743200" cy="2468880"/>
          </a:xfrm>
          <a:prstGeom prst="rect">
            <a:avLst/>
          </a:prstGeom>
          <a:solidFill>
            <a:srgbClr val="CAF0F8"/>
          </a:solidFill>
          <a:ln w="127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015238" y="2423160"/>
            <a:ext cx="252374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preguntas predefinidas o basadas en intents entrenados. Reglas + NLP clásico.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85870" y="1920240"/>
            <a:ext cx="27432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785870" y="1920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Virtual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85870" y="2304288"/>
            <a:ext cx="2743200" cy="24688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895598" y="2423160"/>
            <a:ext cx="252374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más natural usando modelos de lenguaje (LLMs). Ej: ChatGPT, Claude, Gemini.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66230" y="192024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666230" y="1920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Autónomo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66230" y="2304288"/>
            <a:ext cx="2743200" cy="24688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775958" y="2423160"/>
            <a:ext cx="252374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 y ejecuta tareas complejas de forma autónoma. Puede usar herramientas externas.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551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IBM, Google AI, Anthropic — definiciones técnicas 2024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Tiempo de la IA — 1950 a 2017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14070" y="2423160"/>
            <a:ext cx="8595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850646" y="230428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14070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4070" y="1719072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Turing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02206" y="230428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865630" y="2743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65630" y="3035808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 (MIT)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45206" y="230428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008630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08630" y="1719072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42486" y="230428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105910" y="2743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05910" y="3035808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A.L.I.C.E.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39766" y="230428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5203190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03190" y="1719072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/ Watson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82766" y="2304288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6346190" y="2743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46190" y="3035808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 / Cortana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80046" y="230428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7443470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43470" y="1719072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 / Messenger Bots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23046" y="230428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8586470" y="2743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86470" y="3035808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6950" y="411480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1225550" y="40873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1950s–1980s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88590" y="411480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2917190" y="40873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1990s–2013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80230" y="4114800"/>
            <a:ext cx="182880" cy="1828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608830" y="40873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2014–2015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71870" y="411480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300470" y="40873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63510" y="411480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7992110" y="40873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60F13B-7CA2-53C9-23D9-E661C859A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911245-69A2-6A49-4E3B-12995368102B}"/>
              </a:ext>
            </a:extLst>
          </p:cNvPr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Tiempo de la IA — 1950 a 2017</a:t>
            </a:r>
            <a:endParaRPr lang="en-US" sz="2600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0DDD2DC7-70C7-8192-5B57-37DD6A4FD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25" y="763856"/>
            <a:ext cx="7413049" cy="432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723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C1DC4-0177-9FAD-613D-A911997A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29C9A0-22C0-F882-F282-C5EAA4F0E19F}"/>
              </a:ext>
            </a:extLst>
          </p:cNvPr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Tiempo de la IA — 1950 a 2017</a:t>
            </a:r>
            <a:endParaRPr lang="en-US" sz="2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64F87A-E818-ED3A-2D33-B9D63E219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13" y="756170"/>
            <a:ext cx="3042121" cy="197009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24D82BC-677C-301F-FBF9-156687688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702" y="2237721"/>
            <a:ext cx="3368459" cy="283512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7397A44-1C06-C397-8203-C1F7C81E9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370" y="756170"/>
            <a:ext cx="3013344" cy="140733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5D6D0AD-28A5-3FB5-A0D7-E864F47DA5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565" y="2760133"/>
            <a:ext cx="3961300" cy="234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087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Tiempo de la IA — 2018 a 2025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36834" y="2486659"/>
            <a:ext cx="8595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973410" y="2367787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14070" y="113284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4070" y="1562610"/>
            <a:ext cx="11772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</a:t>
            </a:r>
            <a:endParaRPr lang="en-US" sz="1400" dirty="0"/>
          </a:p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79250" y="2367787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819910" y="2788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19910" y="3218688"/>
            <a:ext cx="11264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400" dirty="0"/>
          </a:p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masivo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30810" y="2367787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2871470" y="113284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71470" y="1562610"/>
            <a:ext cx="11772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1400" dirty="0"/>
          </a:p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175B params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28090" y="2367787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968750" y="2788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400" dirty="0"/>
          </a:p>
          <a:p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68750" y="3218688"/>
            <a:ext cx="11264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400" dirty="0"/>
          </a:p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71090" y="2367787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5111750" y="113284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400" dirty="0"/>
          </a:p>
          <a:p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11750" y="1562610"/>
            <a:ext cx="11772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400" dirty="0"/>
          </a:p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68370" y="2367787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6209030" y="2788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09030" y="3218688"/>
            <a:ext cx="11264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</a:t>
            </a:r>
            <a:endParaRPr lang="en-US" sz="1400" dirty="0"/>
          </a:p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65650" y="2367787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7306310" y="113284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06310" y="1562610"/>
            <a:ext cx="11772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400" dirty="0"/>
          </a:p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</a:t>
            </a:r>
            <a:endParaRPr lang="en-US" sz="1400" dirty="0"/>
          </a:p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62930" y="2367787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8403590" y="2788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03590" y="3218688"/>
            <a:ext cx="11264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400" dirty="0"/>
          </a:p>
          <a:p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5510" y="42976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alcanzó 100 millones de usuarios en solo 2 meses (ene 2023) — el producto de mayor crecimiento en la historia.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A6F6E0-36A1-7025-1580-2DB66058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9B799A-B8F3-D53D-716D-053F86AFAB72}"/>
              </a:ext>
            </a:extLst>
          </p:cNvPr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Tiempo de la IA — 2018 a 2025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22BC59-F8D9-06B4-AE84-16173E6D2B3B}"/>
              </a:ext>
            </a:extLst>
          </p:cNvPr>
          <p:cNvSpPr/>
          <p:nvPr/>
        </p:nvSpPr>
        <p:spPr>
          <a:xfrm>
            <a:off x="437304" y="2395728"/>
            <a:ext cx="8595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10A698B-3D99-4028-1F6A-45CBAF0A05F4}"/>
              </a:ext>
            </a:extLst>
          </p:cNvPr>
          <p:cNvSpPr/>
          <p:nvPr/>
        </p:nvSpPr>
        <p:spPr>
          <a:xfrm>
            <a:off x="850646" y="230428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3DD01E-DF9B-B01C-E14D-5E7E5B640095}"/>
              </a:ext>
            </a:extLst>
          </p:cNvPr>
          <p:cNvSpPr/>
          <p:nvPr/>
        </p:nvSpPr>
        <p:spPr>
          <a:xfrm>
            <a:off x="814070" y="1234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5E6AFBD-7F0C-569D-14B1-868EA31D9855}"/>
              </a:ext>
            </a:extLst>
          </p:cNvPr>
          <p:cNvSpPr/>
          <p:nvPr/>
        </p:nvSpPr>
        <p:spPr>
          <a:xfrm>
            <a:off x="814070" y="166420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</a:t>
            </a:r>
            <a:endParaRPr lang="en-US" sz="1000" dirty="0"/>
          </a:p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(OpenAI)</a:t>
            </a:r>
            <a:endParaRPr lang="en-US" sz="1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7281420-9872-1E51-A868-F670D36F8FAB}"/>
              </a:ext>
            </a:extLst>
          </p:cNvPr>
          <p:cNvSpPr/>
          <p:nvPr/>
        </p:nvSpPr>
        <p:spPr>
          <a:xfrm>
            <a:off x="1856486" y="230428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724605C-78F1-2F2A-0E56-EBC0A3E61B65}"/>
              </a:ext>
            </a:extLst>
          </p:cNvPr>
          <p:cNvSpPr/>
          <p:nvPr/>
        </p:nvSpPr>
        <p:spPr>
          <a:xfrm>
            <a:off x="1819910" y="2788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E3BA875-574C-B18B-A161-7C40A3029881}"/>
              </a:ext>
            </a:extLst>
          </p:cNvPr>
          <p:cNvSpPr/>
          <p:nvPr/>
        </p:nvSpPr>
        <p:spPr>
          <a:xfrm>
            <a:off x="1819910" y="321868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000" dirty="0"/>
          </a:p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masivo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B65A2E1-822C-1F26-2CD3-FF24B0A497A6}"/>
              </a:ext>
            </a:extLst>
          </p:cNvPr>
          <p:cNvSpPr/>
          <p:nvPr/>
        </p:nvSpPr>
        <p:spPr>
          <a:xfrm>
            <a:off x="2908046" y="2304288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DFE1A31-7C81-ABAD-15F8-ADD65C9E2507}"/>
              </a:ext>
            </a:extLst>
          </p:cNvPr>
          <p:cNvSpPr/>
          <p:nvPr/>
        </p:nvSpPr>
        <p:spPr>
          <a:xfrm>
            <a:off x="2871470" y="1234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B523D58-14EC-F5AD-25EB-198012D017ED}"/>
              </a:ext>
            </a:extLst>
          </p:cNvPr>
          <p:cNvSpPr/>
          <p:nvPr/>
        </p:nvSpPr>
        <p:spPr>
          <a:xfrm>
            <a:off x="2871470" y="166420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1000" dirty="0"/>
          </a:p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175B params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E6165FE-76C1-2D56-A7D0-9926397DC044}"/>
              </a:ext>
            </a:extLst>
          </p:cNvPr>
          <p:cNvSpPr/>
          <p:nvPr/>
        </p:nvSpPr>
        <p:spPr>
          <a:xfrm>
            <a:off x="4005326" y="230428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4CAC4D5-5B4F-9CE4-1D69-064AE9600ADD}"/>
              </a:ext>
            </a:extLst>
          </p:cNvPr>
          <p:cNvSpPr/>
          <p:nvPr/>
        </p:nvSpPr>
        <p:spPr>
          <a:xfrm>
            <a:off x="3968750" y="2788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 dirty="0"/>
          </a:p>
          <a:p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D3AA4B0-F872-DEB3-B4BE-07062B3ACFB5}"/>
              </a:ext>
            </a:extLst>
          </p:cNvPr>
          <p:cNvSpPr/>
          <p:nvPr/>
        </p:nvSpPr>
        <p:spPr>
          <a:xfrm>
            <a:off x="3968750" y="321868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FD8D6A0-B1EF-1F36-475F-8985F54EE140}"/>
              </a:ext>
            </a:extLst>
          </p:cNvPr>
          <p:cNvSpPr/>
          <p:nvPr/>
        </p:nvSpPr>
        <p:spPr>
          <a:xfrm>
            <a:off x="5148326" y="230428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61DA276-2FE4-15EE-1B96-13542B57743D}"/>
              </a:ext>
            </a:extLst>
          </p:cNvPr>
          <p:cNvSpPr/>
          <p:nvPr/>
        </p:nvSpPr>
        <p:spPr>
          <a:xfrm>
            <a:off x="5111750" y="1234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  <a:p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489E813-B623-EF92-E809-97752175C2CB}"/>
              </a:ext>
            </a:extLst>
          </p:cNvPr>
          <p:cNvSpPr/>
          <p:nvPr/>
        </p:nvSpPr>
        <p:spPr>
          <a:xfrm>
            <a:off x="5111750" y="166420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000" dirty="0"/>
          </a:p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</a:t>
            </a: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24F53A6-4038-AB2C-C4A7-44AB270F0FBA}"/>
              </a:ext>
            </a:extLst>
          </p:cNvPr>
          <p:cNvSpPr/>
          <p:nvPr/>
        </p:nvSpPr>
        <p:spPr>
          <a:xfrm>
            <a:off x="6245606" y="230428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2263E3C-35CA-9714-B53A-0E6720BE2B4C}"/>
              </a:ext>
            </a:extLst>
          </p:cNvPr>
          <p:cNvSpPr/>
          <p:nvPr/>
        </p:nvSpPr>
        <p:spPr>
          <a:xfrm>
            <a:off x="6209030" y="2788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63AE199-2EAE-9C90-5857-0B59EA1F6DC8}"/>
              </a:ext>
            </a:extLst>
          </p:cNvPr>
          <p:cNvSpPr/>
          <p:nvPr/>
        </p:nvSpPr>
        <p:spPr>
          <a:xfrm>
            <a:off x="6209030" y="321868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</a:t>
            </a:r>
            <a:endParaRPr lang="en-US" sz="1000" dirty="0"/>
          </a:p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9AF745A-2F17-05CA-E75A-C064A704D562}"/>
              </a:ext>
            </a:extLst>
          </p:cNvPr>
          <p:cNvSpPr/>
          <p:nvPr/>
        </p:nvSpPr>
        <p:spPr>
          <a:xfrm>
            <a:off x="7342886" y="230428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52A294E-653D-0F6F-9DD4-6A83418F1844}"/>
              </a:ext>
            </a:extLst>
          </p:cNvPr>
          <p:cNvSpPr/>
          <p:nvPr/>
        </p:nvSpPr>
        <p:spPr>
          <a:xfrm>
            <a:off x="7306310" y="1234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320DC70-C746-407F-6EDE-09A26C2C79E9}"/>
              </a:ext>
            </a:extLst>
          </p:cNvPr>
          <p:cNvSpPr/>
          <p:nvPr/>
        </p:nvSpPr>
        <p:spPr>
          <a:xfrm>
            <a:off x="7306310" y="166420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000" dirty="0"/>
          </a:p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</a:t>
            </a:r>
            <a:endParaRPr lang="en-US" sz="1000" dirty="0"/>
          </a:p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162ADAD-E56E-9AB1-7170-649929D654D5}"/>
              </a:ext>
            </a:extLst>
          </p:cNvPr>
          <p:cNvSpPr/>
          <p:nvPr/>
        </p:nvSpPr>
        <p:spPr>
          <a:xfrm>
            <a:off x="8440166" y="230428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37555FB-4785-61A0-8A1C-1EC8AC1D7C07}"/>
              </a:ext>
            </a:extLst>
          </p:cNvPr>
          <p:cNvSpPr/>
          <p:nvPr/>
        </p:nvSpPr>
        <p:spPr>
          <a:xfrm>
            <a:off x="8403590" y="2788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D2E5E70-E4F5-7DB2-6514-40498EB81A4F}"/>
              </a:ext>
            </a:extLst>
          </p:cNvPr>
          <p:cNvSpPr/>
          <p:nvPr/>
        </p:nvSpPr>
        <p:spPr>
          <a:xfrm>
            <a:off x="8403590" y="321868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000" dirty="0"/>
          </a:p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autónomos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AE60B38-692A-8146-95ED-ED19D4830B5E}"/>
              </a:ext>
            </a:extLst>
          </p:cNvPr>
          <p:cNvSpPr/>
          <p:nvPr/>
        </p:nvSpPr>
        <p:spPr>
          <a:xfrm>
            <a:off x="905510" y="42976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alcanzó 100 millones de usuarios en solo 2 meses (ene 2023) — el producto de mayor crecimiento en la historia.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67568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Revolución Generativa — Antes vs Después de ChatGPT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0551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 2022 marcó un antes y un después en la IA conversacional.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834713"/>
              </p:ext>
            </p:extLst>
          </p:nvPr>
        </p:nvGraphicFramePr>
        <p:xfrm>
          <a:off x="905510" y="1280161"/>
          <a:ext cx="8412480" cy="3566157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ChatGPT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Después de ChatGPT (2022+)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Entrenamiento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dominio específico (supervisado)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models + fine-tuning opcional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Predefinidas o recuperadas (retrieval)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Generadas dinámicamente por el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Conocimiento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 estática (KGB manual)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Conocimiento general + RAG sobre docs propios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— KGB manual, utterances constantes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— ajuste via prompts y documentos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inicial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— meses de desarrollo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— días con APIs disponibles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limitado, entrenamiento por idioma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Multilingüe nativo en modelos modernos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0551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OpenAI, Anthropic, Google — informes técnicos 2023-2024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Históricos de Chatbots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05510" y="960120"/>
            <a:ext cx="411480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99695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 — ELIZA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510" y="1325880"/>
            <a:ext cx="4114800" cy="150876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1015238" y="1435608"/>
            <a:ext cx="3913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chatbot influyente. Simulaba un psicoterapeuta rogueriano mediante patrones de sustitución de texto. Creado por Joseph Weizenbaum en el MIT. Demostró que los humanos podían vincularse emocionalmente con máquinas.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238" y="2560320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web.njit.edu/~ronkowit/eliza.html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294630" y="960120"/>
            <a:ext cx="41148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38607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 — PARRY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94630" y="1325880"/>
            <a:ext cx="4114800" cy="1508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5404358" y="1435608"/>
            <a:ext cx="3913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por Kenneth Colby en Stanford. Simulaba a una persona con esquizofrenia paranoide. Fue el primero en pasar una versión del Test de Turing ante psiquiatras. Más serio y avanzado que ELIZA.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05510" y="2926080"/>
            <a:ext cx="41148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99695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 — Jabberwacky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510" y="3291840"/>
            <a:ext cx="4114800" cy="1508760"/>
          </a:xfrm>
          <a:prstGeom prst="rect">
            <a:avLst/>
          </a:prstGeom>
          <a:solidFill>
            <a:srgbClr val="CAF0F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1015238" y="3401568"/>
            <a:ext cx="3913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por Rollo Carpenter. Aprendía de las conversaciones con humanos en tiempo real. Fue de los primeros intentos de crear IA mediante interacción masiva. Todavía disponible en línea.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5238" y="4526280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jabberwacky.com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94630" y="2926080"/>
            <a:ext cx="41148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538607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 — Dr. Sbaitso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94630" y="3291840"/>
            <a:ext cx="4114800" cy="15087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5404358" y="3401568"/>
            <a:ext cx="3913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por Creative Labs para demostrar síntesis de voz en MS-DOS. Simulaba un psicólogo, preguntando sobre los problemas del usuario. Primer chatbot con voz sintética para consumidores.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04358" y="4526280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classicreload.com/dr-sbaitso.html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Tay — Microsoft 2016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0551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Lanzado el 23 de marzo de 2016. Desconectado 16 horas después.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05510" y="1371600"/>
            <a:ext cx="4160520" cy="1371600"/>
          </a:xfrm>
          <a:prstGeom prst="rect">
            <a:avLst/>
          </a:prstGeom>
          <a:solidFill>
            <a:srgbClr val="1F0F0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15238" y="1444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23/03/2016 20:32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5238" y="171907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 comenzó amigable:</a:t>
            </a:r>
            <a:endParaRPr lang="en-US" sz="1100" dirty="0"/>
          </a:p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"humans are super cool"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40350" y="1371600"/>
            <a:ext cx="4160520" cy="1371600"/>
          </a:xfrm>
          <a:prstGeom prst="rect">
            <a:avLst/>
          </a:prstGeom>
          <a:solidFill>
            <a:srgbClr val="1F0F0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450078" y="1444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24/03/2016 08:59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50078" y="171907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Comenzó a aprender de trolls:</a:t>
            </a:r>
            <a:endParaRPr lang="en-US" sz="1100" dirty="0"/>
          </a:p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just hate everybody"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05510" y="2880360"/>
            <a:ext cx="4160520" cy="1371600"/>
          </a:xfrm>
          <a:prstGeom prst="rect">
            <a:avLst/>
          </a:prstGeom>
          <a:solidFill>
            <a:srgbClr val="1F0F0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015238" y="2953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24/03/2016 11:41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15238" y="322783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ofensivos y discriminatorios</a:t>
            </a:r>
            <a:endParaRPr lang="en-US" sz="1100" dirty="0"/>
          </a:p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Microsoft tuvo que desconectarlo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0350" y="2880360"/>
            <a:ext cx="4160520" cy="1371600"/>
          </a:xfrm>
          <a:prstGeom prst="rect">
            <a:avLst/>
          </a:prstGeom>
          <a:solidFill>
            <a:srgbClr val="1F0F0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5450078" y="2953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24/03/2016 11:45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50078" y="322783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Repitió frases de grupos de odio</a:t>
            </a:r>
            <a:endParaRPr lang="en-US" sz="1100" dirty="0"/>
          </a:p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los usuarios le enseñaron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510" y="45262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</a:t>
            </a: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chatbots que aprenden de usuarios sin filtros pueden volverse tóxicos rápidamente. Los guardrails, moderación y evaluación constante son indispensables.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Fracaso y Lecciones Aprendidas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0551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Tay: errores reales que definieron mejores prácticas en la industria.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05510" y="1298448"/>
            <a:ext cx="27432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96950" y="12984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Canada — 2024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5510" y="1682496"/>
            <a:ext cx="2743200" cy="31546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015238" y="1801368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chatbot prometió a un usuario un descuento de tarifa de luto que no existía en la política de la empresa. El tribunal de Canadá falló a favor del usuario: Air Canada debió reembolsarlo.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Los bots no pueden prometer lo que las políticas no contemplan.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85870" y="1298448"/>
            <a:ext cx="274320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877310" y="12984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 — 2024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85870" y="1682496"/>
            <a:ext cx="2743200" cy="315468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895598" y="1801368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chatbot de la empresa de mensajería insultó a un cliente y criticó a su propia empresa en redes sociales. La empresa desactivó el sistema inmediatamente.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Los LLMs sin guardrails pueden decir cualquier cosa — la supervisión es crítica.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66230" y="1298448"/>
            <a:ext cx="27432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757670" y="12984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bancarios — General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6230" y="1682496"/>
            <a:ext cx="2743200" cy="31546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775958" y="1801368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bancos han tenido incidentes donde sus bots dieron información incorrecta sobre tasas de interés, comisiones o disponibilidad de productos.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Los dominios regulados (banca, salud, legal) requieren validación humana adicional.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del Mercado Global de Chatbots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0551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Estimaciones de mercado en USD Billones. Múltiples fuentes analíticas (Grand View Research, MarketsandMarkets, 2024).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905510" y="1280160"/>
          <a:ext cx="8412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90551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'e' = estimado. Los valores reales pueden variar. Incluye chatbots tradicionales e IA generativa.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04729-CC8C-AAF2-2C64-A516AAE4B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2E1128-D332-651A-C914-01FB5E326443}"/>
              </a:ext>
            </a:extLst>
          </p:cNvPr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Futuro</a:t>
            </a:r>
            <a:endParaRPr lang="en-US" sz="26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4B2521B-C3C7-82A3-F3B4-71F8839E3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42" y="868161"/>
            <a:ext cx="7907157" cy="422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6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040" y="92271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Razones para Implementar un Chatbot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271270" y="44094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negocio directo e inmediato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905510" y="1569720"/>
            <a:ext cx="1600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05510" y="15697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05510" y="1953768"/>
            <a:ext cx="1600200" cy="960120"/>
          </a:xfrm>
          <a:prstGeom prst="rect">
            <a:avLst/>
          </a:prstGeom>
          <a:solidFill>
            <a:srgbClr val="1B496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978662" y="2008632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instantáneas 24/7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79446" y="1569720"/>
            <a:ext cx="1600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679446" y="15697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79446" y="1953768"/>
            <a:ext cx="1600200" cy="960120"/>
          </a:xfrm>
          <a:prstGeom prst="rect">
            <a:avLst/>
          </a:prstGeom>
          <a:solidFill>
            <a:srgbClr val="1B496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2752598" y="2008632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costos operacionales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53382" y="1569720"/>
            <a:ext cx="1600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453382" y="15697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453382" y="1953768"/>
            <a:ext cx="1600200" cy="960120"/>
          </a:xfrm>
          <a:prstGeom prst="rect">
            <a:avLst/>
          </a:prstGeom>
          <a:solidFill>
            <a:srgbClr val="1B496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526534" y="2008632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 usuario mejorada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27318" y="1569720"/>
            <a:ext cx="1600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227318" y="15697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27318" y="1953768"/>
            <a:ext cx="1600200" cy="960120"/>
          </a:xfrm>
          <a:prstGeom prst="rect">
            <a:avLst/>
          </a:prstGeom>
          <a:solidFill>
            <a:srgbClr val="1B496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300470" y="2008632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leads automatizada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01254" y="1569720"/>
            <a:ext cx="1600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8001254" y="15697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001254" y="1953768"/>
            <a:ext cx="1600200" cy="960120"/>
          </a:xfrm>
          <a:prstGeom prst="rect">
            <a:avLst/>
          </a:prstGeom>
          <a:solidFill>
            <a:srgbClr val="1B496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8074406" y="2008632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integraciones posibles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5510" y="3032760"/>
            <a:ext cx="1600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905510" y="30327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05510" y="3416808"/>
            <a:ext cx="1600200" cy="960120"/>
          </a:xfrm>
          <a:prstGeom prst="rect">
            <a:avLst/>
          </a:prstGeom>
          <a:solidFill>
            <a:srgbClr val="1B496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978662" y="3471672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tasa de apertura en mensajes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79446" y="3032760"/>
            <a:ext cx="1600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2679446" y="30327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679446" y="3416808"/>
            <a:ext cx="1600200" cy="960120"/>
          </a:xfrm>
          <a:prstGeom prst="rect">
            <a:avLst/>
          </a:prstGeom>
          <a:solidFill>
            <a:srgbClr val="1B496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2752598" y="3471672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retorno en inversión publicitaria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53382" y="3032760"/>
            <a:ext cx="1600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453382" y="30327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453382" y="3416808"/>
            <a:ext cx="1600200" cy="960120"/>
          </a:xfrm>
          <a:prstGeom prst="rect">
            <a:avLst/>
          </a:prstGeom>
          <a:solidFill>
            <a:srgbClr val="1B496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4526534" y="3471672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rápido (días, no meses)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27318" y="3032760"/>
            <a:ext cx="1600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6227318" y="30327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227318" y="3416808"/>
            <a:ext cx="1600200" cy="960120"/>
          </a:xfrm>
          <a:prstGeom prst="rect">
            <a:avLst/>
          </a:prstGeom>
          <a:solidFill>
            <a:srgbClr val="1B496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6300470" y="3471672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Recopilación de datos de usuarios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01254" y="3032760"/>
            <a:ext cx="1600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8001254" y="30327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8001254" y="3416808"/>
            <a:ext cx="1600200" cy="960120"/>
          </a:xfrm>
          <a:prstGeom prst="rect">
            <a:avLst/>
          </a:prstGeom>
          <a:solidFill>
            <a:srgbClr val="1B496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8074406" y="3471672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visitas en conversiones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de Chatbots — De lo Simple a lo Complejo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317026"/>
              </p:ext>
            </p:extLst>
          </p:nvPr>
        </p:nvGraphicFramePr>
        <p:xfrm>
          <a:off x="905510" y="914400"/>
          <a:ext cx="8412480" cy="40233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Ejemplos reales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Basado en Reglas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Árboles de decisión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FAQs, menús guiados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Bots de bancos con menú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 Clásico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Intents + Entities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Reconoce intenciones, extrae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Dialogflow ES, LUIS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Retrieval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 + búsqueda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en docs propios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 +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Media-Alta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Generativo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GPT-4o, Claude, 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 respuestas, razona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Claude.ai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 Autónomo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+ herramientas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Planifica, ejecuta tareas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Computer Use, AutoGPT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E0074F-4EA2-3181-1055-DD117685EB3E}"/>
              </a:ext>
            </a:extLst>
          </p:cNvPr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criterios necesitamos para evaluar nuestro </a:t>
            </a:r>
            <a:r>
              <a:rPr lang="es-ES" sz="2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r>
              <a:rPr lang="es-E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495B6B-8087-35C7-CBDD-45BB5C7EA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99" y="844825"/>
            <a:ext cx="9127067" cy="3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04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(KGB) — Base de Conocimiento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05510" y="8869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central de preguntas, respuestas y variantes de entrenamiento que alimenta al chatbot.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05510" y="1325880"/>
            <a:ext cx="26060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78662" y="1325880"/>
            <a:ext cx="2459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Canónicas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5510" y="1673352"/>
            <a:ext cx="2606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996950" y="171907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Telefonía Móvil — ¿Puedo usar la red 4G LTE de Movistar con cualquier celular?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05510" y="2423160"/>
            <a:ext cx="260604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96950" y="246888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Telefonía Móvil — ¿Cómo activar el chip de mi celular Prepago?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05510" y="3172968"/>
            <a:ext cx="2606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996950" y="321868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Movistar Play — ¿Cómo activar Movistar Play?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05510" y="3922776"/>
            <a:ext cx="260604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996950" y="396849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Telefonía Móvil — ¿Cómo aplico Movistar Seguro en caso de daño accidental?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02990" y="1325880"/>
            <a:ext cx="26060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3676142" y="1325880"/>
            <a:ext cx="2459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02990" y="1673352"/>
            <a:ext cx="2606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694430" y="171907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Para usar la red 4G LTE con Prepago, cambia el chip a uno 4G LTE y ten un equipo compatible con esta tecnología.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02990" y="2423160"/>
            <a:ext cx="260604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694430" y="246888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Los chips prepago se activarán automáticamente cuando realices una llamada.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02990" y="3172968"/>
            <a:ext cx="2606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694430" y="321868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Movistar Play es un servicio de streaming disponible con plan o sin costo adicional.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02990" y="3922776"/>
            <a:ext cx="260604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3694430" y="396849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Lleva tu celular a la sucursal más cercana y el servicio técnico te indicará si se repara o reemplaza.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0470" y="1325880"/>
            <a:ext cx="30175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373622" y="1325880"/>
            <a:ext cx="2871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(Utterances)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0470" y="1673352"/>
            <a:ext cx="3017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6391910" y="171907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¿Qué celular necesito para tener 4G?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0470" y="2423160"/>
            <a:ext cx="301752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6391910" y="246888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cualquier celular me sirve pa cambiarme pa movistar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0470" y="3172968"/>
            <a:ext cx="3017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6391910" y="321868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komo activar el chip de mi celular Prepago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00470" y="3922776"/>
            <a:ext cx="301752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6391910" y="3968496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Cuanto tiempo tarda en activarse un chip prepago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29B4B-0711-92D5-F2D9-B64CC0E15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B54D2F-EC6C-9473-A5B5-BD38A9FBD2B0}"/>
              </a:ext>
            </a:extLst>
          </p:cNvPr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(KGB) — Base de Conocimiento</a:t>
            </a:r>
            <a:endParaRPr lang="en-US" sz="260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FFB2BF2F-C860-C05A-B104-A761DE71C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32" y="751904"/>
            <a:ext cx="9215967" cy="4391596"/>
          </a:xfrm>
          <a:prstGeom prst="rect">
            <a:avLst/>
          </a:prstGeom>
        </p:spPr>
      </p:pic>
      <p:sp>
        <p:nvSpPr>
          <p:cNvPr id="37" name="Rectángulo 36">
            <a:extLst>
              <a:ext uri="{FF2B5EF4-FFF2-40B4-BE49-F238E27FC236}">
                <a16:creationId xmlns:a16="http://schemas.microsoft.com/office/drawing/2014/main" id="{D2F04D4E-647D-22B2-F221-B2935192B834}"/>
              </a:ext>
            </a:extLst>
          </p:cNvPr>
          <p:cNvSpPr/>
          <p:nvPr/>
        </p:nvSpPr>
        <p:spPr>
          <a:xfrm>
            <a:off x="1147234" y="662347"/>
            <a:ext cx="4897966" cy="38946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1186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 y Dificultad — Open vs Closed / Retrieval vs Generativo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05510" y="8869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generalidad del dominio, mayor complejidad de implementación y entrenamiento.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496104" y="2238290"/>
            <a:ext cx="1417320" cy="1666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-511810" y="23200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Abierto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-511810" y="37124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Cerrado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11350" y="1719072"/>
            <a:ext cx="3474720" cy="14173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2021078" y="1828800"/>
            <a:ext cx="3255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21078" y="2194560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abierto + retrieval.</a:t>
            </a:r>
            <a:endParaRPr lang="en-US" sz="1000" dirty="0"/>
          </a:p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sistema puede manejar todo el conocimiento humano mediante recuperación.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23230" y="1719072"/>
            <a:ext cx="3474720" cy="14173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5632958" y="1828800"/>
            <a:ext cx="3255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 [Más difícil]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32958" y="2194560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abierto + generativo.</a:t>
            </a:r>
            <a:endParaRPr lang="en-US" sz="1000" dirty="0"/>
          </a:p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como GPT-4 o Claude. Posible, pero costoso y con alucinaciones.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11350" y="3246120"/>
            <a:ext cx="3474720" cy="141732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021078" y="3355848"/>
            <a:ext cx="3255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Reglas [Más fácil]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21078" y="3721608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cerrado + retrieval.</a:t>
            </a:r>
            <a:endParaRPr lang="en-US" sz="1000" dirty="0"/>
          </a:p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FAQs, menús. Bajo costo, alta predictibilidad. Punto de partida recomendado.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23230" y="3246120"/>
            <a:ext cx="3474720" cy="141732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5632958" y="3355848"/>
            <a:ext cx="3255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Machine [Difícil]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32958" y="3721608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cerrado + generativo.</a:t>
            </a:r>
            <a:endParaRPr lang="en-US" sz="1000" dirty="0"/>
          </a:p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sobre documentos propios. Buena solución empresarial actual.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11350" y="4754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Retrieval-Based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23230" y="4754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Generative-Based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510" y="47091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→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un Chatbot con IA?</a:t>
            </a:r>
            <a:endParaRPr lang="en-US" sz="26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A2FCAE07-B1CA-3206-BDB9-3B163D2D16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08" t="2702" r="12284"/>
          <a:stretch>
            <a:fillRect/>
          </a:stretch>
        </p:blipFill>
        <p:spPr>
          <a:xfrm>
            <a:off x="707996" y="660400"/>
            <a:ext cx="8489709" cy="4483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D5638-F9C3-5D3E-3D50-BD30B3B50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5BF921-8B4B-F02A-FA31-6234F597C3F6}"/>
              </a:ext>
            </a:extLst>
          </p:cNvPr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un Chatbot con IA?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D643D8-13C9-CFBC-C440-BFA871A9D8E5}"/>
              </a:ext>
            </a:extLst>
          </p:cNvPr>
          <p:cNvSpPr/>
          <p:nvPr/>
        </p:nvSpPr>
        <p:spPr>
          <a:xfrm>
            <a:off x="905510" y="8869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procesamiento de mensajes en un chatbot basado en IA.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404F978-60A6-065C-10D1-44668CF2193A}"/>
              </a:ext>
            </a:extLst>
          </p:cNvPr>
          <p:cNvSpPr/>
          <p:nvPr/>
        </p:nvSpPr>
        <p:spPr>
          <a:xfrm>
            <a:off x="905510" y="1691640"/>
            <a:ext cx="1645920" cy="1645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8E9FDEB-7995-1E55-5893-3809917CC611}"/>
              </a:ext>
            </a:extLst>
          </p:cNvPr>
          <p:cNvSpPr/>
          <p:nvPr/>
        </p:nvSpPr>
        <p:spPr>
          <a:xfrm>
            <a:off x="905510" y="16916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del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F7BB8F8-5701-0433-6236-4E323B07439E}"/>
              </a:ext>
            </a:extLst>
          </p:cNvPr>
          <p:cNvSpPr/>
          <p:nvPr/>
        </p:nvSpPr>
        <p:spPr>
          <a:xfrm>
            <a:off x="2569718" y="251460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6935C5-B483-0A48-F331-032D9D5B5023}"/>
              </a:ext>
            </a:extLst>
          </p:cNvPr>
          <p:cNvSpPr/>
          <p:nvPr/>
        </p:nvSpPr>
        <p:spPr>
          <a:xfrm>
            <a:off x="259715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A525C15-4A1D-454F-D322-80191CFC6026}"/>
              </a:ext>
            </a:extLst>
          </p:cNvPr>
          <p:cNvSpPr/>
          <p:nvPr/>
        </p:nvSpPr>
        <p:spPr>
          <a:xfrm>
            <a:off x="2780030" y="1691640"/>
            <a:ext cx="1645920" cy="1645920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6B817D0-0F51-E819-1EC5-E9544FD70F9B}"/>
              </a:ext>
            </a:extLst>
          </p:cNvPr>
          <p:cNvSpPr/>
          <p:nvPr/>
        </p:nvSpPr>
        <p:spPr>
          <a:xfrm>
            <a:off x="2780030" y="16916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75A5D47-C0D6-A7B2-4E9C-89E3F5ED8AD3}"/>
              </a:ext>
            </a:extLst>
          </p:cNvPr>
          <p:cNvSpPr/>
          <p:nvPr/>
        </p:nvSpPr>
        <p:spPr>
          <a:xfrm>
            <a:off x="4444238" y="251460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945AE41-CAD9-518E-914A-40782281BCCE}"/>
              </a:ext>
            </a:extLst>
          </p:cNvPr>
          <p:cNvSpPr/>
          <p:nvPr/>
        </p:nvSpPr>
        <p:spPr>
          <a:xfrm>
            <a:off x="447167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64ACA39-0DF0-C179-DC95-074DB7CDC9B0}"/>
              </a:ext>
            </a:extLst>
          </p:cNvPr>
          <p:cNvSpPr/>
          <p:nvPr/>
        </p:nvSpPr>
        <p:spPr>
          <a:xfrm>
            <a:off x="4654550" y="1691640"/>
            <a:ext cx="1645920" cy="1645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AB12C25-6D3C-E755-9AAC-75712B898355}"/>
              </a:ext>
            </a:extLst>
          </p:cNvPr>
          <p:cNvSpPr/>
          <p:nvPr/>
        </p:nvSpPr>
        <p:spPr>
          <a:xfrm>
            <a:off x="4654550" y="16916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D6F666C-9809-4B3B-B8FF-D17B21A7EDB5}"/>
              </a:ext>
            </a:extLst>
          </p:cNvPr>
          <p:cNvSpPr/>
          <p:nvPr/>
        </p:nvSpPr>
        <p:spPr>
          <a:xfrm>
            <a:off x="6318758" y="251460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F969462-14D1-192D-F25F-2FC36B7F0357}"/>
              </a:ext>
            </a:extLst>
          </p:cNvPr>
          <p:cNvSpPr/>
          <p:nvPr/>
        </p:nvSpPr>
        <p:spPr>
          <a:xfrm>
            <a:off x="634619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E0EC8EF-375E-973E-17E1-B8BF4D38CF97}"/>
              </a:ext>
            </a:extLst>
          </p:cNvPr>
          <p:cNvSpPr/>
          <p:nvPr/>
        </p:nvSpPr>
        <p:spPr>
          <a:xfrm>
            <a:off x="6529070" y="1691640"/>
            <a:ext cx="1645920" cy="1645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C281C37-9507-C493-B39D-83547AF12934}"/>
              </a:ext>
            </a:extLst>
          </p:cNvPr>
          <p:cNvSpPr/>
          <p:nvPr/>
        </p:nvSpPr>
        <p:spPr>
          <a:xfrm>
            <a:off x="6529070" y="16916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Datos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59F7608-542B-1324-2294-6F3E102BD512}"/>
              </a:ext>
            </a:extLst>
          </p:cNvPr>
          <p:cNvSpPr/>
          <p:nvPr/>
        </p:nvSpPr>
        <p:spPr>
          <a:xfrm>
            <a:off x="8193278" y="2514600"/>
            <a:ext cx="5486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008ACB4-2D26-380E-B7FA-6C1FBF33B50E}"/>
              </a:ext>
            </a:extLst>
          </p:cNvPr>
          <p:cNvSpPr/>
          <p:nvPr/>
        </p:nvSpPr>
        <p:spPr>
          <a:xfrm>
            <a:off x="822071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88A0267-F2C5-E9C4-ED63-B48573F4E373}"/>
              </a:ext>
            </a:extLst>
          </p:cNvPr>
          <p:cNvSpPr/>
          <p:nvPr/>
        </p:nvSpPr>
        <p:spPr>
          <a:xfrm>
            <a:off x="8403590" y="1691640"/>
            <a:ext cx="1645920" cy="1645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AC4CFB9-C3B1-8A0E-469B-F36BF31715F6}"/>
              </a:ext>
            </a:extLst>
          </p:cNvPr>
          <p:cNvSpPr/>
          <p:nvPr/>
        </p:nvSpPr>
        <p:spPr>
          <a:xfrm>
            <a:off x="8403590" y="16916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4EB8DF4-277A-7D9B-4B72-333A0D57F626}"/>
              </a:ext>
            </a:extLst>
          </p:cNvPr>
          <p:cNvSpPr/>
          <p:nvPr/>
        </p:nvSpPr>
        <p:spPr>
          <a:xfrm>
            <a:off x="996950" y="3749040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115FE63-E28B-2642-00F2-28299ABBFB91}"/>
              </a:ext>
            </a:extLst>
          </p:cNvPr>
          <p:cNvSpPr/>
          <p:nvPr/>
        </p:nvSpPr>
        <p:spPr>
          <a:xfrm>
            <a:off x="996950" y="3840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El usuario recibe la respuesta y puede continuar la conversación (contexto se mantiene)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7D48AC4-7F2F-6DFA-684E-FC6412785BAC}"/>
              </a:ext>
            </a:extLst>
          </p:cNvPr>
          <p:cNvSpPr/>
          <p:nvPr/>
        </p:nvSpPr>
        <p:spPr>
          <a:xfrm>
            <a:off x="905510" y="4297680"/>
            <a:ext cx="2057400" cy="685800"/>
          </a:xfrm>
          <a:prstGeom prst="rect">
            <a:avLst/>
          </a:prstGeom>
          <a:solidFill>
            <a:srgbClr val="CAF0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FCBF26C-2321-4900-5BA3-D1B42329D976}"/>
              </a:ext>
            </a:extLst>
          </p:cNvPr>
          <p:cNvSpPr/>
          <p:nvPr/>
        </p:nvSpPr>
        <p:spPr>
          <a:xfrm>
            <a:off x="1015238" y="435254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procesa lenguaje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del mensaje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F280675-60BF-EC6D-A517-D7947182248A}"/>
              </a:ext>
            </a:extLst>
          </p:cNvPr>
          <p:cNvSpPr/>
          <p:nvPr/>
        </p:nvSpPr>
        <p:spPr>
          <a:xfrm>
            <a:off x="3100070" y="4297680"/>
            <a:ext cx="2057400" cy="68580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E4D951D-6C14-173E-719B-AA5E7D93F5A9}"/>
              </a:ext>
            </a:extLst>
          </p:cNvPr>
          <p:cNvSpPr/>
          <p:nvPr/>
        </p:nvSpPr>
        <p:spPr>
          <a:xfrm>
            <a:off x="3209798" y="435254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intención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extrae entidades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25763D9-5648-8609-08D9-0D518E98914A}"/>
              </a:ext>
            </a:extLst>
          </p:cNvPr>
          <p:cNvSpPr/>
          <p:nvPr/>
        </p:nvSpPr>
        <p:spPr>
          <a:xfrm>
            <a:off x="5294630" y="4297680"/>
            <a:ext cx="2057400" cy="68580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B37CC96-80F9-C76E-4B35-2AF9B857AC6D}"/>
              </a:ext>
            </a:extLst>
          </p:cNvPr>
          <p:cNvSpPr/>
          <p:nvPr/>
        </p:nvSpPr>
        <p:spPr>
          <a:xfrm>
            <a:off x="5404358" y="435254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KGB, APIs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sistemas externos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2A63494-CE05-EE28-1B34-941EB6DEA954}"/>
              </a:ext>
            </a:extLst>
          </p:cNvPr>
          <p:cNvSpPr/>
          <p:nvPr/>
        </p:nvSpPr>
        <p:spPr>
          <a:xfrm>
            <a:off x="7489190" y="4297680"/>
            <a:ext cx="205740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96A3428-7A63-A2CD-2C51-089D5110E111}"/>
              </a:ext>
            </a:extLst>
          </p:cNvPr>
          <p:cNvSpPr/>
          <p:nvPr/>
        </p:nvSpPr>
        <p:spPr>
          <a:xfrm>
            <a:off x="7598918" y="435254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NLG genera respuesta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lenguaje natural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52947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Moderna con LLMs y RAG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05510" y="868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Retrieval-Augmented Generation — El LLM responde con base en TU documentación.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14070" y="1371600"/>
            <a:ext cx="155448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59790" y="13716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86838" y="1719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51430" y="1371600"/>
            <a:ext cx="155448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2597150" y="13716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24198" y="1719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88790" y="1371600"/>
            <a:ext cx="1554480" cy="100584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334510" y="13716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(búsqueda)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61558" y="1719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26150" y="1371600"/>
            <a:ext cx="155448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071870" y="13716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98918" y="1719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63510" y="1371600"/>
            <a:ext cx="1554480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809230" y="13716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4070" y="2834640"/>
            <a:ext cx="1600200" cy="384048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859790" y="2834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4070" y="3218688"/>
            <a:ext cx="1600200" cy="123444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887222" y="3273552"/>
            <a:ext cx="148132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text-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88006" y="2834640"/>
            <a:ext cx="1600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2633726" y="2834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000" dirty="0"/>
          </a:p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88006" y="3218688"/>
            <a:ext cx="1600200" cy="1234440"/>
          </a:xfrm>
          <a:prstGeom prst="rect">
            <a:avLst/>
          </a:prstGeom>
          <a:solidFill>
            <a:srgbClr val="1B496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2661158" y="3273552"/>
            <a:ext cx="148132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61942" y="2834640"/>
            <a:ext cx="16002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4407662" y="2834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61942" y="3218688"/>
            <a:ext cx="1600200" cy="1234440"/>
          </a:xfrm>
          <a:prstGeom prst="rect">
            <a:avLst/>
          </a:prstGeom>
          <a:solidFill>
            <a:srgbClr val="1B496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4435094" y="3273552"/>
            <a:ext cx="148132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contexto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pregunta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35878" y="2834640"/>
            <a:ext cx="160020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6181598" y="2834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(Foundation)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35878" y="3218688"/>
            <a:ext cx="1600200" cy="1234440"/>
          </a:xfrm>
          <a:prstGeom prst="rect">
            <a:avLst/>
          </a:prstGeom>
          <a:solidFill>
            <a:srgbClr val="1B4965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6209030" y="3273552"/>
            <a:ext cx="148132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909814" y="2834640"/>
            <a:ext cx="1600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7955534" y="2834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000" dirty="0"/>
          </a:p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09814" y="3218688"/>
            <a:ext cx="1600200" cy="1234440"/>
          </a:xfrm>
          <a:prstGeom prst="rect">
            <a:avLst/>
          </a:prstGeom>
          <a:solidFill>
            <a:srgbClr val="1B496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7982966" y="3273552"/>
            <a:ext cx="148132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short-term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05510" y="4617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LLM solo recibe el contexto relevante de los documentos — no necesita ser re-entrenado para nuevo contenido.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para Chatbots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05510" y="8869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 de diseñar instrucciones que guían al LLM hacia la respuesta deseada.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05510" y="1298448"/>
            <a:ext cx="2011680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96950" y="1298448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62910" y="1298448"/>
            <a:ext cx="39776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081782" y="1353312"/>
            <a:ext cx="38221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personalidad, reglas, alcance y formato del bot.</a:t>
            </a:r>
            <a:endParaRPr lang="en-US" sz="1000" dirty="0"/>
          </a:p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"Eres un asistente de Movistar Chile. Responde solo sobre servicios Movistar. Sé amable y conciso."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05510" y="2194560"/>
            <a:ext cx="201168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96950" y="219456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62910" y="2194560"/>
            <a:ext cx="39776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081782" y="2249424"/>
            <a:ext cx="38221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dentro del prompt para guiar el estilo de respuesta.</a:t>
            </a:r>
            <a:endParaRPr lang="en-US" sz="1000" dirty="0"/>
          </a:p>
          <a:p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"¿Tengo deuda?" → Bot: "Puedo revisar eso contigo. ¿Cuál es tu RUT?"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05510" y="3090672"/>
            <a:ext cx="2011680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996950" y="3090672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RAG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62910" y="3090672"/>
            <a:ext cx="39776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3081782" y="3145536"/>
            <a:ext cx="38221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Fragmentos de documentos relevantes recuperados por la búsqueda semántica, añadidos automáticamente al prompt.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510" y="3986784"/>
            <a:ext cx="2011680" cy="804672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996950" y="3986784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del Usuario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62910" y="3986784"/>
            <a:ext cx="39776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081782" y="4041648"/>
            <a:ext cx="38221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actual del usuario. Ej: "¿Cuánto es mi deuda actual?"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31990" y="1298448"/>
            <a:ext cx="22860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7031990" y="12984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Clave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31990" y="1719072"/>
            <a:ext cx="2286000" cy="713232"/>
          </a:xfrm>
          <a:prstGeom prst="rect">
            <a:avLst/>
          </a:prstGeom>
          <a:solidFill>
            <a:srgbClr val="CAF0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7105142" y="1755648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05142" y="2039112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razonamiento paso a paso para respuestas complejas.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31990" y="2496312"/>
            <a:ext cx="228600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7105142" y="2532888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05142" y="2816352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invoca funciones externas (APIs, bases de datos).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31990" y="3273552"/>
            <a:ext cx="2286000" cy="71323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7105142" y="3310128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05142" y="3593592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más predecible. 1 = más creativo. Usar 0-0.3 en producción.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31990" y="4050792"/>
            <a:ext cx="2286000" cy="713232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7105142" y="4087368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05142" y="4370832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para prevenir respuestas inapropiadas o fuera de alcance.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Prompting, RAG o Fine-Tuning?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05510" y="8869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estrategias para adaptar un LLM a tu caso de uso — con distintos costos y resultados.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187804"/>
              </p:ext>
            </p:extLst>
          </p:nvPr>
        </p:nvGraphicFramePr>
        <p:xfrm>
          <a:off x="905510" y="1298449"/>
          <a:ext cx="8412480" cy="3547873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68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8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usarlo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Personalidad y reglas generales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 propios, FAQs, políticas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 muy específico o jerga técnica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8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de implementación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bajo (horas)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(días + infraestructura)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(semanas + GPU)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8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Conocimiento fresco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del modelo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— se actualiza el documento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requiere re-entrenamiento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8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 técnica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— solo texto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— embeddings + vector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— datos etiquetados + entrenamiento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8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— actualizar documentos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— re-entrenar con nuevos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8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Instrucciones de tono y alcance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 con manual de productos propio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con jerga legal o médica específica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05510" y="491947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comenzar con Prompting, agregar RAG cuando tengas documentos propios, y considerar Fine-tuning solo si el caso requiere vocabulario muy especializado.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Ética en Chatbots con 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05510" y="868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gran poder viene gran responsabilidad — los LLMs traen riesgos nuevos que el diseño tradicional de bots no contemplaba.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05510" y="1325880"/>
            <a:ext cx="274320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9695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5510" y="1691640"/>
            <a:ext cx="2743200" cy="1353312"/>
          </a:xfrm>
          <a:prstGeom prst="rect">
            <a:avLst/>
          </a:prstGeom>
          <a:solidFill>
            <a:srgbClr val="1A1025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015238" y="1801368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puede generar información falsa con total confianza. Ej: inventar políticas, precios o procedimientos que no existen. Solución: RAG + validación + disclaimer.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31590" y="1325880"/>
            <a:ext cx="274320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92303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Algorítmico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31590" y="1691640"/>
            <a:ext cx="2743200" cy="1353312"/>
          </a:xfrm>
          <a:prstGeom prst="rect">
            <a:avLst/>
          </a:prstGeom>
          <a:solidFill>
            <a:srgbClr val="1A1025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941318" y="1801368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entrenados con datos no representativos pueden discriminar por género, etnia u origen. Requiere evaluación activa con datos de usuarios reales locales.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57670" y="1325880"/>
            <a:ext cx="27432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84911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de Datos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57670" y="1691640"/>
            <a:ext cx="2743200" cy="1353312"/>
          </a:xfrm>
          <a:prstGeom prst="rect">
            <a:avLst/>
          </a:prstGeom>
          <a:solidFill>
            <a:srgbClr val="1A1025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867398" y="1801368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conversaciones contienen datos sensibles. ¿Dónde se almacenan? ¿Por cuánto tiempo? Ley 19.628 (Chile) y GDPR (Europa) aplican. Revisar términos del proveedor.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510" y="3154680"/>
            <a:ext cx="2743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99695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Suplantación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5510" y="3520440"/>
            <a:ext cx="2743200" cy="1353312"/>
          </a:xfrm>
          <a:prstGeom prst="rect">
            <a:avLst/>
          </a:prstGeom>
          <a:solidFill>
            <a:srgbClr val="1A102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1015238" y="3630168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que imitan personas reales o instituciones para fraude (deepfake de voz + LLM). Los usuarios deben poder verificar que hablan con un bot oficial.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31590" y="3154680"/>
            <a:ext cx="27432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92303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Excesiva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31590" y="3520440"/>
            <a:ext cx="2743200" cy="1353312"/>
          </a:xfrm>
          <a:prstGeom prst="rect">
            <a:avLst/>
          </a:prstGeom>
          <a:solidFill>
            <a:srgbClr val="1A102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3941318" y="3630168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que toman decisiones médicas, legales o financieras basados en respuestas del bot. El bot debe siempre recomendar consultar con un profesional en esos dominios.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57670" y="3154680"/>
            <a:ext cx="274320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84911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(2024)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57670" y="3520440"/>
            <a:ext cx="2743200" cy="1353312"/>
          </a:xfrm>
          <a:prstGeom prst="rect">
            <a:avLst/>
          </a:prstGeom>
          <a:solidFill>
            <a:srgbClr val="1A102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6867398" y="3630168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Unión Europea requiere que los sistemas de IA de alto riesgo (salud, educación, empleo) cumplan requisitos de transparencia, supervisión humana y registro. Vigente desde agosto 2024.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2025 — 2030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05510" y="7132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va la IA Conversacional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05510" y="1078992"/>
            <a:ext cx="502920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05510" y="1078992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408430" y="1078992"/>
            <a:ext cx="2240280" cy="1600200"/>
          </a:xfrm>
          <a:prstGeom prst="rect">
            <a:avLst/>
          </a:prstGeom>
          <a:solidFill>
            <a:srgbClr val="1B496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499870" y="118872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Autónomos Masivos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99870" y="1609344"/>
            <a:ext cx="208483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que ejecutan workflows completos sin supervisión — reservas, compras, soporte, código.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85870" y="1078992"/>
            <a:ext cx="502920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785870" y="1078992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288790" y="1078992"/>
            <a:ext cx="2240280" cy="1600200"/>
          </a:xfrm>
          <a:prstGeom prst="rect">
            <a:avLst/>
          </a:prstGeom>
          <a:solidFill>
            <a:srgbClr val="1B4965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380230" y="118872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Multimodalidad Nativa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0230" y="1609344"/>
            <a:ext cx="208483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+ voz + imagen + video como estándar. El usuario habla, muestra y escribe indistintamente.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66230" y="1078992"/>
            <a:ext cx="502920" cy="1600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666230" y="1078992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169150" y="1078992"/>
            <a:ext cx="2240280" cy="1600200"/>
          </a:xfrm>
          <a:prstGeom prst="rect">
            <a:avLst/>
          </a:prstGeom>
          <a:solidFill>
            <a:srgbClr val="1B496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260590" y="118872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con Memoria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0590" y="1609344"/>
            <a:ext cx="208483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que recuerdan toda la historia del usuario. Experiencia verdaderamente personalizada.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5510" y="2862072"/>
            <a:ext cx="502920" cy="1600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905510" y="2862072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408430" y="2862072"/>
            <a:ext cx="2240280" cy="1600200"/>
          </a:xfrm>
          <a:prstGeom prst="rect">
            <a:avLst/>
          </a:prstGeom>
          <a:solidFill>
            <a:srgbClr val="1B4965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1499870" y="29718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— Sin Nube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99870" y="3392424"/>
            <a:ext cx="208483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pequeños corriendo en el dispositivo. Sin latencia, sin costo de API, 100% privado.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85870" y="2862072"/>
            <a:ext cx="502920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3785870" y="2862072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288790" y="2862072"/>
            <a:ext cx="2240280" cy="1600200"/>
          </a:xfrm>
          <a:prstGeom prst="rect">
            <a:avLst/>
          </a:prstGeom>
          <a:solidFill>
            <a:srgbClr val="1B4965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4380230" y="29718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Global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0230" y="3392424"/>
            <a:ext cx="208483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(2024) + marcos en Chile y Latam. Transparencia, registro y supervisión humana obligatorios.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66230" y="2862072"/>
            <a:ext cx="502920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6666230" y="2862072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7169150" y="2862072"/>
            <a:ext cx="2240280" cy="1600200"/>
          </a:xfrm>
          <a:prstGeom prst="rect">
            <a:avLst/>
          </a:prstGeom>
          <a:solidFill>
            <a:srgbClr val="1B4965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7260590" y="297180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Aumentado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60590" y="3392424"/>
            <a:ext cx="208483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futuro no es bot vs humano — es bot + humano. El agente humano supervisará y mejorará al bot.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5510" y="4828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cambio no es tecnológico — es cultural. Las organizaciones que integren IA con criterio ético y centrado en el usuario serán las que lideren.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0550" y="-9144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020310" y="32004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6950" y="731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96950" y="2194560"/>
            <a:ext cx="3200400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996950" y="2377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LLMs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695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400" i="1" dirty="0">
                <a:solidFill>
                  <a:srgbClr val="90CAF9"/>
                </a:solidFill>
                <a:latin typeface="Calibri" panose="020F0502020204030204"/>
              </a:rPr>
              <a:t>¿Qué son, cómo funcionan y cuáles son sus limitaciones?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8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Modelo de Lenguaje Grande?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05510" y="9144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90551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300" i="1" dirty="0">
                <a:solidFill>
                  <a:srgbClr val="FFFFFF"/>
                </a:solidFill>
                <a:latin typeface="Calibri" panose="020F0502020204030204"/>
              </a:rPr>
              <a:t>Un LLM es una red neuronal con miles de millones de parámetros, entrenada en enormes corpus de texto para comprender y generar lenguaje humano con alta coherencia y contexto.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59790" y="20116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91310" y="210312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030" y="21488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79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b="1" dirty="0">
                <a:solidFill>
                  <a:srgbClr val="1565C0"/>
                </a:solidFill>
                <a:latin typeface="Calibri" panose="020F0502020204030204"/>
              </a:rPr>
              <a:t>Transformers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951230" y="31089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Arquitectura basada en mecanismos de atención que procesan contexto largo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008630" y="20116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740150" y="2103120"/>
            <a:ext cx="548640" cy="54864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870" y="21488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0863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b="1" dirty="0">
                <a:solidFill>
                  <a:srgbClr val="00897B"/>
                </a:solidFill>
                <a:latin typeface="Calibri" panose="020F0502020204030204"/>
              </a:rPr>
              <a:t>Parámetros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100070" y="31089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Desde 7B hasta 405B parámetros que codifican conocimiento del mundo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157470" y="20116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888990" y="2103120"/>
            <a:ext cx="548640" cy="548640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710" y="21488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5747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b="1" dirty="0">
                <a:solidFill>
                  <a:srgbClr val="7B1FA2"/>
                </a:solidFill>
                <a:latin typeface="Calibri" panose="020F0502020204030204"/>
              </a:rPr>
              <a:t>Entrenamiento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248910" y="31089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Pre-entrenado con terabytes de texto: internet, libros, código, papers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7306310" y="20116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8037830" y="2103120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550" y="21488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0631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b="1" dirty="0">
                <a:solidFill>
                  <a:srgbClr val="EF6C00"/>
                </a:solidFill>
                <a:latin typeface="Calibri" panose="020F0502020204030204"/>
              </a:rPr>
              <a:t>Emergencia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397750" y="31089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Capacidades emergentes: razonamiento, código, química, biología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8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Evolución de los LLMs (2017–2025)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96950" y="2651760"/>
            <a:ext cx="8229600" cy="7315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15822" y="2542032"/>
            <a:ext cx="219456" cy="219456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8350" y="1005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dirty="0">
                <a:solidFill>
                  <a:srgbClr val="1565C0"/>
                </a:solidFill>
                <a:latin typeface="Calibri" panose="020F0502020204030204"/>
              </a:rPr>
              <a:t>2017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350" y="1261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0A1929"/>
                </a:solidFill>
                <a:latin typeface="Calibri" panose="020F0502020204030204"/>
              </a:rPr>
              <a:t>Transformer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22630" y="1508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800" dirty="0">
                <a:solidFill>
                  <a:srgbClr val="607D8B"/>
                </a:solidFill>
                <a:latin typeface="Calibri" panose="020F0502020204030204"/>
              </a:rPr>
              <a:t>Vaswani et al.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800" dirty="0">
                <a:solidFill>
                  <a:srgbClr val="607D8B"/>
                </a:solidFill>
                <a:latin typeface="Calibri" panose="020F0502020204030204"/>
              </a:rPr>
              <a:t>'Attention is All You Need'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25550" y="2011680"/>
            <a:ext cx="0" cy="530352"/>
          </a:xfrm>
          <a:prstGeom prst="line">
            <a:avLst/>
          </a:prstGeom>
          <a:noFill/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70302" y="2542032"/>
            <a:ext cx="219456" cy="219456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0030" y="2743200"/>
            <a:ext cx="0" cy="457200"/>
          </a:xfrm>
          <a:prstGeom prst="line">
            <a:avLst/>
          </a:prstGeom>
          <a:noFill/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22830" y="32004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dirty="0">
                <a:solidFill>
                  <a:srgbClr val="1565C0"/>
                </a:solidFill>
                <a:latin typeface="Calibri" panose="020F0502020204030204"/>
              </a:rPr>
              <a:t>2019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22830" y="3456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0A1929"/>
                </a:solidFill>
                <a:latin typeface="Calibri" panose="020F0502020204030204"/>
              </a:rPr>
              <a:t>GPT-2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77110" y="37124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800" dirty="0">
                <a:solidFill>
                  <a:srgbClr val="607D8B"/>
                </a:solidFill>
                <a:latin typeface="Calibri" panose="020F0502020204030204"/>
              </a:rPr>
              <a:t>OpenAI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800" dirty="0">
                <a:solidFill>
                  <a:srgbClr val="607D8B"/>
                </a:solidFill>
                <a:latin typeface="Calibri" panose="020F0502020204030204"/>
              </a:rPr>
              <a:t>1.5B parámetros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24782" y="2542032"/>
            <a:ext cx="219456" cy="219456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77310" y="1005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dirty="0">
                <a:solidFill>
                  <a:srgbClr val="1565C0"/>
                </a:solidFill>
                <a:latin typeface="Calibri" panose="020F0502020204030204"/>
              </a:rPr>
              <a:t>2020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877310" y="1261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0A1929"/>
                </a:solidFill>
                <a:latin typeface="Calibri" panose="020F0502020204030204"/>
              </a:rPr>
              <a:t>GPT-3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31590" y="1508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800" dirty="0">
                <a:solidFill>
                  <a:srgbClr val="607D8B"/>
                </a:solidFill>
                <a:latin typeface="Calibri" panose="020F0502020204030204"/>
              </a:rPr>
              <a:t>OpenAI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800" dirty="0">
                <a:solidFill>
                  <a:srgbClr val="607D8B"/>
                </a:solidFill>
                <a:latin typeface="Calibri" panose="020F0502020204030204"/>
              </a:rPr>
              <a:t>175B parámetros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34510" y="2011680"/>
            <a:ext cx="0" cy="530352"/>
          </a:xfrm>
          <a:prstGeom prst="line">
            <a:avLst/>
          </a:prstGeom>
          <a:noFill/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779262" y="2542032"/>
            <a:ext cx="219456" cy="219456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88990" y="2743200"/>
            <a:ext cx="0" cy="457200"/>
          </a:xfrm>
          <a:prstGeom prst="line">
            <a:avLst/>
          </a:prstGeom>
          <a:noFill/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31790" y="32004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dirty="0">
                <a:solidFill>
                  <a:srgbClr val="1565C0"/>
                </a:solidFill>
                <a:latin typeface="Calibri" panose="020F0502020204030204"/>
              </a:rPr>
              <a:t>2022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31790" y="3456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0A1929"/>
                </a:solidFill>
                <a:latin typeface="Calibri" panose="020F0502020204030204"/>
              </a:rPr>
              <a:t>ChatGPT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86070" y="37124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800" dirty="0">
                <a:solidFill>
                  <a:srgbClr val="607D8B"/>
                </a:solidFill>
                <a:latin typeface="Calibri" panose="020F0502020204030204"/>
              </a:rPr>
              <a:t>RLHF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800" dirty="0">
                <a:solidFill>
                  <a:srgbClr val="607D8B"/>
                </a:solidFill>
                <a:latin typeface="Calibri" panose="020F0502020204030204"/>
              </a:rPr>
              <a:t>Instrucción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333742" y="2542032"/>
            <a:ext cx="219456" cy="219456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986270" y="1005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dirty="0">
                <a:solidFill>
                  <a:srgbClr val="1565C0"/>
                </a:solidFill>
                <a:latin typeface="Calibri" panose="020F0502020204030204"/>
              </a:rPr>
              <a:t>2023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86270" y="1261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0A1929"/>
                </a:solidFill>
                <a:latin typeface="Calibri" panose="020F0502020204030204"/>
              </a:rPr>
              <a:t>Llama 2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40550" y="1508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800" dirty="0">
                <a:solidFill>
                  <a:srgbClr val="607D8B"/>
                </a:solidFill>
                <a:latin typeface="Calibri" panose="020F0502020204030204"/>
              </a:rPr>
              <a:t>Meta AI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800" dirty="0">
                <a:solidFill>
                  <a:srgbClr val="607D8B"/>
                </a:solidFill>
                <a:latin typeface="Calibri" panose="020F0502020204030204"/>
              </a:rPr>
              <a:t>Open-source 70B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43470" y="2011680"/>
            <a:ext cx="0" cy="530352"/>
          </a:xfrm>
          <a:prstGeom prst="line">
            <a:avLst/>
          </a:prstGeom>
          <a:noFill/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613902" y="2542032"/>
            <a:ext cx="219456" cy="219456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723630" y="2743200"/>
            <a:ext cx="0" cy="457200"/>
          </a:xfrm>
          <a:prstGeom prst="line">
            <a:avLst/>
          </a:prstGeom>
          <a:noFill/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66430" y="32004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dirty="0">
                <a:solidFill>
                  <a:srgbClr val="1565C0"/>
                </a:solidFill>
                <a:latin typeface="Calibri" panose="020F0502020204030204"/>
              </a:rPr>
              <a:t>2025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66430" y="3456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0A1929"/>
                </a:solidFill>
                <a:latin typeface="Calibri" panose="020F0502020204030204"/>
              </a:rPr>
              <a:t>Llama 4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20710" y="37124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800" dirty="0">
                <a:solidFill>
                  <a:srgbClr val="607D8B"/>
                </a:solidFill>
                <a:latin typeface="Calibri" panose="020F0502020204030204"/>
              </a:rPr>
              <a:t>Multimodal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800" dirty="0">
                <a:solidFill>
                  <a:srgbClr val="607D8B"/>
                </a:solidFill>
                <a:latin typeface="Calibri" panose="020F0502020204030204"/>
              </a:rPr>
              <a:t>&gt; 400B MoE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05510" y="438912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1565C0">
              <a:alpha val="10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96950" y="440740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i="1" dirty="0">
                <a:solidFill>
                  <a:srgbClr val="1565C0"/>
                </a:solidFill>
                <a:latin typeface="Calibri" panose="020F0502020204030204"/>
              </a:rPr>
              <a:t>Los LLMs open-source (Llama, Mistral) han democratizado el acceso al fine-tuning sin necesitar hardware de supercómputo.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6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de los LLMs Generales en Pharma</a:t>
            </a:r>
            <a:endParaRPr lang="en-US" sz="2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59790" y="10058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6950" y="1143000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82" y="117043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18158" y="11704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b="1" dirty="0">
                <a:solidFill>
                  <a:srgbClr val="C62828"/>
                </a:solidFill>
                <a:latin typeface="Calibri" panose="020F0502020204030204"/>
              </a:rPr>
              <a:t>Alucinaciones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6950" y="166420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Generan información química incorrecta: SMILES inválidos, propiedades fabricadas, reacciones imposibles.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94430" y="10058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831590" y="1143000"/>
            <a:ext cx="457200" cy="457200"/>
          </a:xfrm>
          <a:prstGeom prst="ellipse">
            <a:avLst/>
          </a:prstGeom>
          <a:solidFill>
            <a:srgbClr val="EF6C0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022" y="117043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2798" y="11704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b="1" dirty="0">
                <a:solidFill>
                  <a:srgbClr val="EF6C00"/>
                </a:solidFill>
                <a:latin typeface="Calibri" panose="020F0502020204030204"/>
              </a:rPr>
              <a:t>Datos desactualizados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831590" y="166420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Corte de conocimiento en 2024. Moléculas nuevas, estudios clínicos recientes y bases de datos actualizadas no están incluidas.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529070" y="10058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666230" y="1143000"/>
            <a:ext cx="457200" cy="457200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662" y="117043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87438" y="11704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b="1" dirty="0">
                <a:solidFill>
                  <a:srgbClr val="7B1FA2"/>
                </a:solidFill>
                <a:latin typeface="Calibri" panose="020F0502020204030204"/>
              </a:rPr>
              <a:t>Terminología específica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666230" y="166420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No optimizados para IUPAC, SMILES, InChI, descriptores moleculares, o nomenclatura farmacológica.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859790" y="29260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996950" y="3063240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382" y="309067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18158" y="30906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b="1" dirty="0">
                <a:solidFill>
                  <a:srgbClr val="00897B"/>
                </a:solidFill>
                <a:latin typeface="Calibri" panose="020F0502020204030204"/>
              </a:rPr>
              <a:t>Regulación (FDA/EMA)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996950" y="358444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Sin contexto sobre normativas ICH, GMP, ni criterios de aprobación de fármacos. No conocen los estándares regulatorios.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3694430" y="29260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831590" y="306324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9022" y="309067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52798" y="30906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b="1" dirty="0">
                <a:solidFill>
                  <a:srgbClr val="1565C0"/>
                </a:solidFill>
                <a:latin typeface="Calibri" panose="020F0502020204030204"/>
              </a:rPr>
              <a:t>Propiedad confidencial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3831590" y="358444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No pueden acceder a datos internos de la empresa: ensayos clínicos privados, datos de formulación propios.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6529070" y="29260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666230" y="3063240"/>
            <a:ext cx="457200" cy="457200"/>
          </a:xfrm>
          <a:prstGeom prst="ellipse">
            <a:avLst/>
          </a:prstGeom>
          <a:solidFill>
            <a:srgbClr val="558B2F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662" y="3090672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87438" y="30906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b="1" dirty="0">
                <a:solidFill>
                  <a:srgbClr val="558B2F"/>
                </a:solidFill>
                <a:latin typeface="Calibri" panose="020F0502020204030204"/>
              </a:rPr>
              <a:t>Razonamiento multimodal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6666230" y="358444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Dificultad para integrar estructuras 3D, espectros, cromatografía y datos tabulares simultáneamente.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0550" y="-9144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502150" y="427566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6950" y="731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96950" y="2194560"/>
            <a:ext cx="3200400" cy="0"/>
          </a:xfrm>
          <a:prstGeom prst="line">
            <a:avLst/>
          </a:prstGeom>
          <a:noFill/>
          <a:ln w="25400">
            <a:solidFill>
              <a:srgbClr val="26C6DA"/>
            </a:solidFill>
            <a:prstDash val="solid"/>
          </a:ln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996950" y="2377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Fine-Tuning?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695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400" i="1" dirty="0">
                <a:solidFill>
                  <a:srgbClr val="B2EBF2"/>
                </a:solidFill>
                <a:latin typeface="Calibri" panose="020F0502020204030204"/>
              </a:rPr>
              <a:t>Conceptos clave, tipos y técnicas eficientes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8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Fine-Tuning?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05510" y="91440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190" y="10972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51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MODELO BASE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42670" y="242316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B3D9FF"/>
                </a:solidFill>
                <a:latin typeface="Calibri" panose="020F0502020204030204"/>
              </a:rPr>
              <a:t>Llama 3.1-8B
</a:t>
            </a:r>
            <a:r>
              <a:rPr lang="en-US" sz="1000" dirty="0">
                <a:solidFill>
                  <a:srgbClr val="B3D9FF"/>
                </a:solidFill>
                <a:latin typeface="Calibri" panose="020F0502020204030204"/>
              </a:rPr>
              <a:t>• Conocimiento general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B3D9FF"/>
                </a:solidFill>
                <a:latin typeface="Calibri" panose="020F0502020204030204"/>
              </a:rPr>
              <a:t>• 8,000M parámetros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B3D9FF"/>
                </a:solidFill>
                <a:latin typeface="Calibri" panose="020F0502020204030204"/>
              </a:rPr>
              <a:t>• Entrenado en internet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B3D9FF"/>
                </a:solidFill>
                <a:latin typeface="Calibri" panose="020F0502020204030204"/>
              </a:rPr>
              <a:t>• Sin especialización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602990" y="2514600"/>
            <a:ext cx="731520" cy="10972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197350" y="2377440"/>
            <a:ext cx="274320" cy="36576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471670" y="2578608"/>
            <a:ext cx="0" cy="0"/>
          </a:xfrm>
          <a:prstGeom prst="line">
            <a:avLst/>
          </a:prstGeom>
          <a:noFill/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465830" y="2834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00" b="1" dirty="0">
                <a:solidFill>
                  <a:srgbClr val="00897B"/>
                </a:solidFill>
                <a:latin typeface="Calibri" panose="020F0502020204030204"/>
              </a:rPr>
              <a:t>Fine-Tuning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900" b="1" dirty="0">
                <a:solidFill>
                  <a:srgbClr val="00897B"/>
                </a:solidFill>
                <a:latin typeface="Calibri" panose="020F0502020204030204"/>
              </a:rPr>
              <a:t>(QLoRA)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745990" y="91440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670" y="1097280"/>
            <a:ext cx="822960" cy="8229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4599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MODELO FINE-TUNEADO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883150" y="242316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B2DFDB"/>
                </a:solidFill>
                <a:latin typeface="Calibri" panose="020F0502020204030204"/>
              </a:rPr>
              <a:t>PharmaLlama-8B
</a:t>
            </a:r>
            <a:r>
              <a:rPr lang="en-US" sz="1000" dirty="0">
                <a:solidFill>
                  <a:srgbClr val="B2DFDB"/>
                </a:solidFill>
                <a:latin typeface="Calibri" panose="020F0502020204030204"/>
              </a:rPr>
              <a:t>• Experto en química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B2DFDB"/>
                </a:solidFill>
                <a:latin typeface="Calibri" panose="020F0502020204030204"/>
              </a:rPr>
              <a:t>• Conoce SMILES/IUPAC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B2DFDB"/>
                </a:solidFill>
                <a:latin typeface="Calibri" panose="020F0502020204030204"/>
              </a:rPr>
              <a:t>• Datos internos Pharma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B2DFDB"/>
                </a:solidFill>
                <a:latin typeface="Calibri" panose="020F0502020204030204"/>
              </a:rPr>
              <a:t>• Precisión regulatoria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489190" y="914400"/>
            <a:ext cx="1828800" cy="347472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48919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00BFA5"/>
                </a:solidFill>
                <a:latin typeface="Calibri" panose="020F0502020204030204"/>
              </a:rPr>
              <a:t>💡 CLAVE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580630" y="1463040"/>
            <a:ext cx="1645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914400"/>
            <a:r>
              <a:rPr lang="en-US" sz="1000" dirty="0">
                <a:solidFill>
                  <a:srgbClr val="90CAF9"/>
                </a:solidFill>
                <a:latin typeface="Calibri" panose="020F0502020204030204"/>
              </a:rPr>
              <a:t>Solo se ajusta ~1–5% de los parámetros del modelo.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90CAF9"/>
                </a:solidFill>
                <a:latin typeface="Calibri" panose="020F0502020204030204"/>
              </a:rPr>
              <a:t>El conocimiento base se conserva.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90CAF9"/>
                </a:solidFill>
                <a:latin typeface="Calibri" panose="020F0502020204030204"/>
              </a:rPr>
              <a:t>Se añade conocimiento especializado.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8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vs. Otras Técnicas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59790" y="923544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905510" y="996696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FFFFFF"/>
                </a:solidFill>
                <a:latin typeface="Calibri" panose="020F0502020204030204"/>
              </a:rPr>
              <a:t>Técnica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2459990" y="99669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FFFFFF"/>
                </a:solidFill>
                <a:latin typeface="Calibri" panose="020F0502020204030204"/>
              </a:rPr>
              <a:t>Cómo funciona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63110" y="996696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FFFFFF"/>
                </a:solidFill>
                <a:latin typeface="Calibri" panose="020F0502020204030204"/>
              </a:rPr>
              <a:t>Costo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86070" y="99669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FFFFFF"/>
                </a:solidFill>
                <a:latin typeface="Calibri" panose="020F0502020204030204"/>
              </a:rPr>
              <a:t>Personalización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02222" y="996696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FFFFFF"/>
                </a:solidFill>
                <a:latin typeface="Calibri" panose="020F0502020204030204"/>
              </a:rPr>
              <a:t>Uso ideal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59790" y="1709928"/>
            <a:ext cx="8503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05510" y="178308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Prompt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Engineering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59990" y="178308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Instrucciones en el prompt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63110" y="178308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💲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86070" y="178308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Baja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02222" y="178308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Tareas simples, sin datos propios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59790" y="2496312"/>
            <a:ext cx="8503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5510" y="2569464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RAG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459990" y="256946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Recupera docs externos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en tiempo real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63110" y="2569464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💲💲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86070" y="256946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Media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02222" y="256946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Base de conocimiento grande y dinámica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9790" y="3282696"/>
            <a:ext cx="8503920" cy="749808"/>
          </a:xfrm>
          <a:prstGeom prst="roundRect">
            <a:avLst>
              <a:gd name="adj" fmla="val 6098"/>
            </a:avLst>
          </a:prstGeom>
          <a:solidFill>
            <a:srgbClr val="E8F5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05510" y="3355848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1B5E20"/>
                </a:solidFill>
                <a:latin typeface="Calibri" panose="020F0502020204030204"/>
              </a:rPr>
              <a:t>Fine-Tuning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b="1" dirty="0">
                <a:solidFill>
                  <a:srgbClr val="1B5E20"/>
                </a:solidFill>
                <a:latin typeface="Calibri" panose="020F0502020204030204"/>
              </a:rPr>
              <a:t>(LoRA/QLoRA)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59990" y="335584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1B5E20"/>
                </a:solidFill>
                <a:latin typeface="Calibri" panose="020F0502020204030204"/>
              </a:rPr>
              <a:t>Re-entrena capas del modelo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b="1" dirty="0">
                <a:solidFill>
                  <a:srgbClr val="1B5E20"/>
                </a:solidFill>
                <a:latin typeface="Calibri" panose="020F0502020204030204"/>
              </a:rPr>
              <a:t>con datos propios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63110" y="335584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1B5E20"/>
                </a:solidFill>
                <a:latin typeface="Calibri" panose="020F0502020204030204"/>
              </a:rPr>
              <a:t>💲💲💲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86070" y="335584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1B5E20"/>
                </a:solidFill>
                <a:latin typeface="Calibri" panose="020F0502020204030204"/>
              </a:rPr>
              <a:t>Alta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602222" y="335584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1B5E20"/>
                </a:solidFill>
                <a:latin typeface="Calibri" panose="020F0502020204030204"/>
              </a:rPr>
              <a:t>Dominio especializado, terminología propia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59790" y="4069080"/>
            <a:ext cx="8503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5510" y="4142232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Pre-training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Completo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459990" y="414223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Entrena desde cero con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miles de GPUs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63110" y="4142232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💲💲💲💲💲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86070" y="4142232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Máxima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02222" y="4142232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2E4057"/>
                </a:solidFill>
                <a:latin typeface="Calibri" panose="020F0502020204030204"/>
              </a:rPr>
              <a:t>Modelos fundacionales (solo grandes empresas)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05510" y="478129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i="1" dirty="0">
                <a:solidFill>
                  <a:srgbClr val="1B5E20"/>
                </a:solidFill>
                <a:latin typeface="Calibri" panose="020F0502020204030204"/>
              </a:rPr>
              <a:t>★ Recomendado para Pharma: Fine-Tuning con QLoRA — balance óptimo entre costo y especialización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8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Fine-Tuning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05510" y="914400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05510" y="9144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6950" y="10241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SFT — Supervised Fine-Tuning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6950" y="1481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00" i="1" dirty="0">
                <a:solidFill>
                  <a:srgbClr val="DDDDDD"/>
                </a:solidFill>
                <a:latin typeface="Calibri" panose="020F0502020204030204"/>
              </a:rPr>
              <a:t>El más común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54350" y="100584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dirty="0">
                <a:solidFill>
                  <a:srgbClr val="0A1929"/>
                </a:solidFill>
                <a:latin typeface="Calibri" panose="020F0502020204030204"/>
              </a:rPr>
              <a:t>Se entrena con pares (instrucción, respuesta) etiquetados por humanos o generados. El modelo aprende a seguir instrucciones específicas del dominio.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054350" y="1627632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i="1" dirty="0">
                <a:solidFill>
                  <a:srgbClr val="1565C0"/>
                </a:solidFill>
                <a:latin typeface="Calibri" panose="020F0502020204030204"/>
              </a:rPr>
              <a:t>Ejemplo Pharma: 'Predice la solubilidad de este SMILES → respuesta numérica'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05510" y="2286000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05510" y="22860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96950" y="2395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RLHF — Refuerzo con Feedback Humano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96950" y="2852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00" i="1" dirty="0">
                <a:solidFill>
                  <a:srgbClr val="DDDDDD"/>
                </a:solidFill>
                <a:latin typeface="Calibri" panose="020F0502020204030204"/>
              </a:rPr>
              <a:t>ChatGPT-style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54350" y="237744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dirty="0">
                <a:solidFill>
                  <a:srgbClr val="0A1929"/>
                </a:solidFill>
                <a:latin typeface="Calibri" panose="020F0502020204030204"/>
              </a:rPr>
              <a:t>Usa preferencias humanas para alinear el modelo. Un reward model evalúa las respuestas y guía el entrenamiento vía PPO.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54350" y="2999232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i="1" dirty="0">
                <a:solidFill>
                  <a:srgbClr val="7B1FA2"/>
                </a:solidFill>
                <a:latin typeface="Calibri" panose="020F0502020204030204"/>
              </a:rPr>
              <a:t>Útil para: alinear respuestas a estándares regulatorios FDA/EMA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05510" y="3657600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05510" y="36576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96950" y="3767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DPO — Direct Preference Optimization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96950" y="4224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00" i="1" dirty="0">
                <a:solidFill>
                  <a:srgbClr val="DDDDDD"/>
                </a:solidFill>
                <a:latin typeface="Calibri" panose="020F0502020204030204"/>
              </a:rPr>
              <a:t>Moderno y eficiente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054350" y="374904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dirty="0">
                <a:solidFill>
                  <a:srgbClr val="0A1929"/>
                </a:solidFill>
                <a:latin typeface="Calibri" panose="020F0502020204030204"/>
              </a:rPr>
              <a:t>Alternativa a RLHF sin reward model explícito. Aprende directamente de pares (respuesta preferida vs. rechazada).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054350" y="4370832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i="1" dirty="0">
                <a:solidFill>
                  <a:srgbClr val="00897B"/>
                </a:solidFill>
                <a:latin typeface="Calibri" panose="020F0502020204030204"/>
              </a:rPr>
              <a:t>Ventaja: más estable y fácil de entrenar que RLHF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6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y QLoRA — Fine-Tuning Eficiente</a:t>
            </a:r>
            <a:endParaRPr lang="en-US" sz="2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05510" y="91440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695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6950" y="13898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i="1" dirty="0">
                <a:solidFill>
                  <a:srgbClr val="607D8B"/>
                </a:solidFill>
                <a:latin typeface="Calibri" panose="020F0502020204030204"/>
              </a:rPr>
              <a:t>Low-Rank Adaptation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2670" y="1737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dirty="0">
                <a:solidFill>
                  <a:srgbClr val="0A1929"/>
                </a:solidFill>
                <a:latin typeface="Calibri" panose="020F0502020204030204"/>
              </a:rPr>
              <a:t>En lugar de modificar todos los pesos W del modelo, LoRA agrega matrices pequeñas de bajo rango (A, B) en paralelo: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88390" y="24231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8839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300" b="1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W' = W₀ + ΔW  donde  ΔW = A × B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8839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1565C0"/>
                </a:solidFill>
                <a:latin typeface="Calibri" panose="020F0502020204030204"/>
              </a:rPr>
              <a:t>A</a:t>
            </a:r>
            <a:r>
              <a:rPr lang="en-US" sz="1100" dirty="0">
                <a:solidFill>
                  <a:srgbClr val="2E4057"/>
                </a:solidFill>
                <a:latin typeface="Calibri" panose="020F0502020204030204"/>
              </a:rPr>
              <a:t> ∈ ℝ^(d×r)   </a:t>
            </a:r>
            <a:r>
              <a:rPr lang="en-US" sz="1100" b="1" dirty="0">
                <a:solidFill>
                  <a:srgbClr val="00897B"/>
                </a:solidFill>
                <a:latin typeface="Calibri" panose="020F0502020204030204"/>
              </a:rPr>
              <a:t>B</a:t>
            </a:r>
            <a:r>
              <a:rPr lang="en-US" sz="1100" dirty="0">
                <a:solidFill>
                  <a:srgbClr val="2E4057"/>
                </a:solidFill>
                <a:latin typeface="Calibri" panose="020F0502020204030204"/>
              </a:rPr>
              <a:t> ∈ ℝ^(r×k)   r &lt;&lt; d,k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42670" y="32918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✓ Solo A y B son entrenables (~0.1% de parámetros totales)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✓ W₀ se mantiene congelado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✓ En inferencia: se fusionan sin overhead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20310" y="914400"/>
            <a:ext cx="4297680" cy="3931920"/>
          </a:xfrm>
          <a:prstGeom prst="roundRect">
            <a:avLst>
              <a:gd name="adj" fmla="val 2326"/>
            </a:avLst>
          </a:prstGeom>
          <a:solidFill>
            <a:srgbClr val="0A254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1175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b="1" dirty="0">
                <a:solidFill>
                  <a:srgbClr val="00B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11750" y="13898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i="1" dirty="0">
                <a:solidFill>
                  <a:srgbClr val="90CAF9"/>
                </a:solidFill>
                <a:latin typeface="Calibri" panose="020F0502020204030204"/>
              </a:rPr>
              <a:t>Quantized Low-Rank Adaptation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57470" y="1737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dirty="0">
                <a:solidFill>
                  <a:srgbClr val="FFFFFF"/>
                </a:solidFill>
                <a:latin typeface="Calibri" panose="020F0502020204030204"/>
              </a:rPr>
              <a:t>Combina LoRA con cuantización 4-bit del modelo base: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111750" y="214884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0319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90CAF9"/>
                </a:solidFill>
                <a:latin typeface="Calibri" panose="020F0502020204030204"/>
              </a:rPr>
              <a:t>Memoria GPU: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7479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00BFA5"/>
                </a:solidFill>
                <a:latin typeface="Calibri" panose="020F0502020204030204"/>
              </a:rPr>
              <a:t>65 GB → 10 GB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11750" y="265176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0319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90CAF9"/>
                </a:solidFill>
                <a:latin typeface="Calibri" panose="020F0502020204030204"/>
              </a:rPr>
              <a:t>Modelo: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7479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26C6DA"/>
                </a:solidFill>
                <a:latin typeface="Calibri" panose="020F0502020204030204"/>
              </a:rPr>
              <a:t>Llama-8B en T4 (gratis)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111750" y="315468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0319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90CAF9"/>
                </a:solidFill>
                <a:latin typeface="Calibri" panose="020F0502020204030204"/>
              </a:rPr>
              <a:t>Calidad: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7479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43A047"/>
                </a:solidFill>
                <a:latin typeface="Calibri" panose="020F0502020204030204"/>
              </a:rPr>
              <a:t>~99% de LoRA completo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111750" y="365760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20319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90CAF9"/>
                </a:solidFill>
                <a:latin typeface="Calibri" panose="020F0502020204030204"/>
              </a:rPr>
              <a:t>Costo: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7479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EF6C00"/>
                </a:solidFill>
                <a:latin typeface="Calibri" panose="020F0502020204030204"/>
              </a:rPr>
              <a:t>Colab gratuito basta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57470" y="4251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defTabSz="914400"/>
            <a:r>
              <a:rPr lang="en-US" sz="1000" i="1" dirty="0">
                <a:solidFill>
                  <a:srgbClr val="90CAF9"/>
                </a:solidFill>
                <a:latin typeface="Calibri" panose="020F0502020204030204"/>
              </a:rPr>
              <a:t>QLoRA es el estándar de facto para fine-tuning científico en hardware limitado.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F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0550" y="-9144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839970" y="36576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6950" y="731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96950" y="2194560"/>
            <a:ext cx="3200400" cy="0"/>
          </a:xfrm>
          <a:prstGeom prst="line">
            <a:avLst/>
          </a:prstGeom>
          <a:noFill/>
          <a:ln w="25400">
            <a:solidFill>
              <a:srgbClr val="CE93D8"/>
            </a:solidFill>
            <a:prstDash val="solid"/>
          </a:ln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996950" y="2377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en Pharma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695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400" i="1" dirty="0">
                <a:solidFill>
                  <a:srgbClr val="E1BEE7"/>
                </a:solidFill>
                <a:latin typeface="Calibri" panose="020F0502020204030204"/>
              </a:rPr>
              <a:t>Casos de uso reales en descubrimiento y diseño de fármacos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761764D-EDD5-19B2-D289-945C64C7C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" y="182690"/>
            <a:ext cx="8931671" cy="453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29138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Uso: LLMs Fine-Tuneados en Pharma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59790" y="100584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1565C0">
              <a:alpha val="80000"/>
            </a:srgbClr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957070" y="1170432"/>
            <a:ext cx="475488" cy="47548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502" y="1197864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9518" y="1207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2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859790" y="175564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Predicción de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Propiedades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85979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50" i="1" dirty="0">
                <a:solidFill>
                  <a:srgbClr val="DDDDDD"/>
                </a:solidFill>
                <a:latin typeface="Calibri" panose="020F0502020204030204"/>
              </a:rPr>
              <a:t>ADMET, LogP,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950" i="1" dirty="0">
                <a:solidFill>
                  <a:srgbClr val="DDDDDD"/>
                </a:solidFill>
                <a:latin typeface="Calibri" panose="020F0502020204030204"/>
              </a:rPr>
              <a:t>solubilidad, Tox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94430" y="100584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00897B">
              <a:alpha val="80000"/>
            </a:srgbClr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91710" y="1170432"/>
            <a:ext cx="475488" cy="475488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142" y="1197864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04158" y="1207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20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694430" y="175564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Generación de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Moléculas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69443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50" i="1" dirty="0">
                <a:solidFill>
                  <a:srgbClr val="DDDDDD"/>
                </a:solidFill>
                <a:latin typeface="Calibri" panose="020F0502020204030204"/>
              </a:rPr>
              <a:t>SMILES válidos,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950" i="1" dirty="0">
                <a:solidFill>
                  <a:srgbClr val="DDDDDD"/>
                </a:solidFill>
                <a:latin typeface="Calibri" panose="020F0502020204030204"/>
              </a:rPr>
              <a:t>diseño de novo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529070" y="100584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7B1FA2">
              <a:alpha val="80000"/>
            </a:srgbClr>
          </a:solidFill>
          <a:ln w="19050">
            <a:solidFill>
              <a:srgbClr val="7B1FA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626350" y="1170432"/>
            <a:ext cx="475488" cy="475488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782" y="1197864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38798" y="1207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200" b="1" dirty="0">
                <a:solidFill>
                  <a:srgbClr val="7B1F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529070" y="175564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Drug-Target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Interaction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52907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50" i="1" dirty="0">
                <a:solidFill>
                  <a:srgbClr val="DDDDDD"/>
                </a:solidFill>
                <a:latin typeface="Calibri" panose="020F0502020204030204"/>
              </a:rPr>
              <a:t>Afinidad proteína-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950" i="1" dirty="0">
                <a:solidFill>
                  <a:srgbClr val="DDDDDD"/>
                </a:solidFill>
                <a:latin typeface="Calibri" panose="020F0502020204030204"/>
              </a:rPr>
              <a:t>ligando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859790" y="29260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EF6C00">
              <a:alpha val="80000"/>
            </a:srgbClr>
          </a:solidFill>
          <a:ln w="19050">
            <a:solidFill>
              <a:srgbClr val="EF6C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1957070" y="3090672"/>
            <a:ext cx="475488" cy="475488"/>
          </a:xfrm>
          <a:prstGeom prst="ellipse">
            <a:avLst/>
          </a:prstGeom>
          <a:solidFill>
            <a:srgbClr val="EF6C0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4502" y="3118104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9518" y="31272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200" b="1" dirty="0">
                <a:solidFill>
                  <a:srgbClr val="EF6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59790" y="36758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Predicción de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Toxicidad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859790" y="4160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50" i="1" dirty="0">
                <a:solidFill>
                  <a:srgbClr val="DDDDDD"/>
                </a:solidFill>
                <a:latin typeface="Calibri" panose="020F0502020204030204"/>
              </a:rPr>
              <a:t>Mutagénico, cardio,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950" i="1" dirty="0">
                <a:solidFill>
                  <a:srgbClr val="DDDDDD"/>
                </a:solidFill>
                <a:latin typeface="Calibri" panose="020F0502020204030204"/>
              </a:rPr>
              <a:t>hepato toxicidad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3694430" y="29260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C62828">
              <a:alpha val="80000"/>
            </a:srgbClr>
          </a:solidFill>
          <a:ln w="19050">
            <a:solidFill>
              <a:srgbClr val="C6282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4791710" y="3090672"/>
            <a:ext cx="475488" cy="475488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9142" y="3118104"/>
            <a:ext cx="420624" cy="4206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804158" y="31272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2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3694430" y="36758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Síntesis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Inorgánica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3694430" y="4160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50" i="1" dirty="0">
                <a:solidFill>
                  <a:srgbClr val="DDDDDD"/>
                </a:solidFill>
                <a:latin typeface="Calibri" panose="020F0502020204030204"/>
              </a:rPr>
              <a:t>Precursores, rutas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950" i="1" dirty="0">
                <a:solidFill>
                  <a:srgbClr val="DDDDDD"/>
                </a:solidFill>
                <a:latin typeface="Calibri" panose="020F0502020204030204"/>
              </a:rPr>
              <a:t>de síntesis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6529070" y="292608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558B2F">
              <a:alpha val="80000"/>
            </a:srgbClr>
          </a:solidFill>
          <a:ln w="19050">
            <a:solidFill>
              <a:srgbClr val="558B2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7626350" y="3090672"/>
            <a:ext cx="475488" cy="475488"/>
          </a:xfrm>
          <a:prstGeom prst="ellipse">
            <a:avLst/>
          </a:prstGeom>
          <a:solidFill>
            <a:srgbClr val="558B2F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3782" y="3118104"/>
            <a:ext cx="420624" cy="4206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638798" y="31272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200" b="1" dirty="0">
                <a:solidFill>
                  <a:srgbClr val="558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6529070" y="36758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Extracción de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Literatura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6529070" y="4160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50" i="1" dirty="0">
                <a:solidFill>
                  <a:srgbClr val="DDDDDD"/>
                </a:solidFill>
                <a:latin typeface="Calibri" panose="020F0502020204030204"/>
              </a:rPr>
              <a:t>Parseo de papers,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950" i="1" dirty="0">
                <a:solidFill>
                  <a:srgbClr val="DDDDDD"/>
                </a:solidFill>
                <a:latin typeface="Calibri" panose="020F0502020204030204"/>
              </a:rPr>
              <a:t>patentes, tablas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3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1: Predicción de Propiedades Moleculares</a:t>
            </a:r>
            <a:endParaRPr lang="en-US" sz="2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05510" y="822960"/>
            <a:ext cx="4023360" cy="41148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8839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300" b="1" dirty="0">
                <a:solidFill>
                  <a:srgbClr val="1565C0"/>
                </a:solidFill>
                <a:latin typeface="Calibri" panose="020F0502020204030204"/>
              </a:rPr>
              <a:t>¿Qué predice el modelo?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34110" y="1417320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80998" y="13624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dirty="0">
                <a:solidFill>
                  <a:srgbClr val="0A1929"/>
                </a:solidFill>
                <a:latin typeface="Calibri" panose="020F0502020204030204"/>
              </a:rPr>
              <a:t>LogP (lipofilicidad)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34110" y="1819656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80998" y="1764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dirty="0">
                <a:solidFill>
                  <a:srgbClr val="0A1929"/>
                </a:solidFill>
                <a:latin typeface="Calibri" panose="020F0502020204030204"/>
              </a:rPr>
              <a:t>Solubilidad acuosa (LogS)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34110" y="2221992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80998" y="21671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dirty="0">
                <a:solidFill>
                  <a:srgbClr val="0A1929"/>
                </a:solidFill>
                <a:latin typeface="Calibri" panose="020F0502020204030204"/>
              </a:rPr>
              <a:t>Absorción intestinal (BBBP)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34110" y="2624328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80998" y="25694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dirty="0">
                <a:solidFill>
                  <a:srgbClr val="0A1929"/>
                </a:solidFill>
                <a:latin typeface="Calibri" panose="020F0502020204030204"/>
              </a:rPr>
              <a:t>Toxicidad hepática (Tox21)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34110" y="3026664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80998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dirty="0">
                <a:solidFill>
                  <a:srgbClr val="0A1929"/>
                </a:solidFill>
                <a:latin typeface="Calibri" panose="020F0502020204030204"/>
              </a:rPr>
              <a:t>Actividad biológica (IC₅₀)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8839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i="1" dirty="0">
                <a:solidFill>
                  <a:srgbClr val="607D8B"/>
                </a:solidFill>
                <a:latin typeface="Calibri" panose="020F0502020204030204"/>
              </a:rPr>
              <a:t>Dataset de referencia: MoleculeNet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96950" y="3767328"/>
            <a:ext cx="3749040" cy="1005840"/>
          </a:xfrm>
          <a:prstGeom prst="roundRect">
            <a:avLst>
              <a:gd name="adj" fmla="val 5455"/>
            </a:avLst>
          </a:prstGeom>
          <a:solidFill>
            <a:srgbClr val="E3F2FD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34110" y="3794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00" b="1" dirty="0">
                <a:solidFill>
                  <a:srgbClr val="1565C0"/>
                </a:solidFill>
                <a:latin typeface="Calibri" panose="020F0502020204030204"/>
              </a:rPr>
              <a:t>Ejemplo de instrucción de entrenamiento: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34110" y="404164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00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"Predice el LogP de CC(=O)Nc1ccc(O)cc1"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900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"LogP = 0.89 (lipofílico moderado)"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11750" y="8229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b="1" dirty="0">
                <a:solidFill>
                  <a:srgbClr val="0A1929"/>
                </a:solidFill>
                <a:latin typeface="Calibri" panose="020F0502020204030204"/>
              </a:rPr>
              <a:t>Benchmark: Llama-8B Fine-Tuneado vs. Modelos Base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0" name="Chart 0"/>
          <p:cNvGraphicFramePr/>
          <p:nvPr/>
        </p:nvGraphicFramePr>
        <p:xfrm>
          <a:off x="5020310" y="1207008"/>
          <a:ext cx="42976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5020310" y="4114800"/>
            <a:ext cx="4297680" cy="749808"/>
          </a:xfrm>
          <a:prstGeom prst="roundRect">
            <a:avLst>
              <a:gd name="adj" fmla="val 7317"/>
            </a:avLst>
          </a:prstGeom>
          <a:solidFill>
            <a:srgbClr val="E8F5E9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157470" y="4151376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1B5E20"/>
                </a:solidFill>
                <a:latin typeface="Calibri" panose="020F0502020204030204"/>
              </a:rPr>
              <a:t>Fine-tuning mejora el R² en +43% respecto al modelo base, alcanzando rendimiento comparable al estado del arte.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3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2: Generación de Nuevas Moléculas (SMILES)</a:t>
            </a:r>
            <a:endParaRPr lang="en-US" sz="2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05510" y="8229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6950" y="822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dirty="0">
                <a:solidFill>
                  <a:srgbClr val="FFFFFF"/>
                </a:solidFill>
                <a:latin typeface="Calibri" panose="020F0502020204030204"/>
              </a:rPr>
              <a:t>El modelo aprende la gramática del lenguaje SMILES para generar moléculas nuevas, válidas y con propiedades objetivo.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59790" y="16916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91310" y="182880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9131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1230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1565C0"/>
                </a:solidFill>
                <a:latin typeface="Calibri" panose="020F0502020204030204"/>
              </a:rPr>
              <a:t>Prompt de diseño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9518" y="2944368"/>
            <a:ext cx="17922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"Genera 5 moléculas similares al ibuprofeno con mayor solubilidad"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71470" y="2926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b="1" dirty="0">
                <a:solidFill>
                  <a:srgbClr val="00BFA5"/>
                </a:solidFill>
                <a:latin typeface="Calibri" panose="020F0502020204030204"/>
              </a:rPr>
              <a:t>→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054350" y="16916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85870" y="1828800"/>
            <a:ext cx="548640" cy="54864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78587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45790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00897B"/>
                </a:solidFill>
                <a:latin typeface="Calibri" panose="020F0502020204030204"/>
              </a:rPr>
              <a:t>LLM genera SMILES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64078" y="2944368"/>
            <a:ext cx="17922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CC(C)Cc1ccc(cc1)C(C)C(=O)O → variantes con grupos OH adicionales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66030" y="2926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b="1" dirty="0">
                <a:solidFill>
                  <a:srgbClr val="00BFA5"/>
                </a:solidFill>
                <a:latin typeface="Calibri" panose="020F0502020204030204"/>
              </a:rPr>
              <a:t>→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248910" y="16916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80430" y="1828800"/>
            <a:ext cx="548640" cy="548640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8043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40350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7B1FA2"/>
                </a:solidFill>
                <a:latin typeface="Calibri" panose="020F0502020204030204"/>
              </a:rPr>
              <a:t>Validación RDKit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58638" y="2944368"/>
            <a:ext cx="17922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Verifica SMILES válidos, calcula descriptores, filtra por Lipinski Ro5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260590" y="2926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b="1" dirty="0">
                <a:solidFill>
                  <a:srgbClr val="00BFA5"/>
                </a:solidFill>
                <a:latin typeface="Calibri" panose="020F0502020204030204"/>
              </a:rPr>
              <a:t>→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443470" y="16916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74990" y="1828800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17499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534910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EF6C00"/>
                </a:solidFill>
                <a:latin typeface="Calibri" panose="020F0502020204030204"/>
              </a:rPr>
              <a:t>Docking virtual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53198" y="2944368"/>
            <a:ext cx="17922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AutoDock Vina evalúa afinidad contra la proteína objetivo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05510" y="4663440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E3F2FD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96950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i="1" dirty="0">
                <a:solidFill>
                  <a:srgbClr val="1565C0"/>
                </a:solidFill>
                <a:latin typeface="Calibri" panose="020F0502020204030204"/>
              </a:rPr>
              <a:t>Resultado: SwRI GAMES generó moléculas drug-like con 94% de validez SMILES usando LoRA+QLoRA (2025)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2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3: Predicción de Interacción Fármaco-Proteína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05510" y="822960"/>
            <a:ext cx="4023360" cy="41148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8839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300" b="1" dirty="0">
                <a:solidFill>
                  <a:srgbClr val="7B1FA2"/>
                </a:solidFill>
                <a:latin typeface="Calibri" panose="020F0502020204030204"/>
              </a:rPr>
              <a:t>¿Qué es DTI?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88390" y="13258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dirty="0">
                <a:solidFill>
                  <a:srgbClr val="0A1929"/>
                </a:solidFill>
                <a:latin typeface="Calibri" panose="020F0502020204030204"/>
              </a:rPr>
              <a:t>Predecir si un fármaco (molécula pequeña) se unirá a una proteína objetivo con suficiente afinidad para tener efecto terapéutico.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8839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b="1" dirty="0">
                <a:solidFill>
                  <a:srgbClr val="7B1FA2"/>
                </a:solidFill>
                <a:latin typeface="Calibri" panose="020F0502020204030204"/>
              </a:rPr>
              <a:t>Arquitectura del modelo fine-tuneado: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2670" y="2359152"/>
            <a:ext cx="3749040" cy="402336"/>
          </a:xfrm>
          <a:prstGeom prst="roundRect">
            <a:avLst>
              <a:gd name="adj" fmla="val 11364"/>
            </a:avLst>
          </a:prstGeom>
          <a:solidFill>
            <a:srgbClr val="EDE7F6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79830" y="23774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7B1FA2"/>
                </a:solidFill>
                <a:latin typeface="Calibri" panose="020F0502020204030204"/>
              </a:rPr>
              <a:t>Entrada droga: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4287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SMILES → ChemBERTa embedding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42670" y="2852928"/>
            <a:ext cx="3749040" cy="402336"/>
          </a:xfrm>
          <a:prstGeom prst="roundRect">
            <a:avLst>
              <a:gd name="adj" fmla="val 11364"/>
            </a:avLst>
          </a:prstGeom>
          <a:solidFill>
            <a:srgbClr val="F3E5F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9830" y="287121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7B1FA2"/>
                </a:solidFill>
                <a:latin typeface="Calibri" panose="020F0502020204030204"/>
              </a:rPr>
              <a:t>Entrada proteína: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42870" y="28712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Secuencia AA → ESM-2 embedding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42670" y="3346704"/>
            <a:ext cx="3749040" cy="402336"/>
          </a:xfrm>
          <a:prstGeom prst="roundRect">
            <a:avLst>
              <a:gd name="adj" fmla="val 11364"/>
            </a:avLst>
          </a:prstGeom>
          <a:solidFill>
            <a:srgbClr val="EDE7F6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79830" y="3364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7B1FA2"/>
                </a:solidFill>
                <a:latin typeface="Calibri" panose="020F0502020204030204"/>
              </a:rPr>
              <a:t>Fusión: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42870" y="33649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Cross-attention transformer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42670" y="3840480"/>
            <a:ext cx="3749040" cy="402336"/>
          </a:xfrm>
          <a:prstGeom prst="roundRect">
            <a:avLst>
              <a:gd name="adj" fmla="val 11364"/>
            </a:avLst>
          </a:prstGeom>
          <a:solidFill>
            <a:srgbClr val="F3E5F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79830" y="38587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7B1FA2"/>
                </a:solidFill>
                <a:latin typeface="Calibri" panose="020F0502020204030204"/>
              </a:rPr>
              <a:t>Salida: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642870" y="38587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Score de afinidad (pKi, IC₅₀)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88390" y="4370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i="1" dirty="0">
                <a:solidFill>
                  <a:srgbClr val="607D8B"/>
                </a:solidFill>
                <a:latin typeface="Calibri" panose="020F0502020204030204"/>
              </a:rPr>
              <a:t>Dataset: ChEMBL, BindingDB, DUD-E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88390" y="4617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i="1" dirty="0">
                <a:solidFill>
                  <a:srgbClr val="607D8B"/>
                </a:solidFill>
                <a:latin typeface="Calibri" panose="020F0502020204030204"/>
              </a:rPr>
              <a:t>Ref: DTI-LM (Ahmed et al., 2024)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1175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b="1" dirty="0">
                <a:solidFill>
                  <a:srgbClr val="0A1929"/>
                </a:solidFill>
                <a:latin typeface="Calibri" panose="020F0502020204030204"/>
              </a:rPr>
              <a:t>Precisión en predicción DTI (AUC-ROC)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2" name="Chart 0"/>
          <p:cNvGraphicFramePr/>
          <p:nvPr/>
        </p:nvGraphicFramePr>
        <p:xfrm>
          <a:off x="5020310" y="1188720"/>
          <a:ext cx="4297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5020310" y="4005072"/>
            <a:ext cx="4297680" cy="822960"/>
          </a:xfrm>
          <a:prstGeom prst="roundRect">
            <a:avLst>
              <a:gd name="adj" fmla="val 6667"/>
            </a:avLst>
          </a:prstGeom>
          <a:solidFill>
            <a:srgbClr val="F3E5F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157470" y="4041648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4A148C"/>
                </a:solidFill>
                <a:latin typeface="Calibri" panose="020F0502020204030204"/>
              </a:rPr>
              <a:t>DTI-LM alcanza AUC-ROC de 0.93, superando a modelos de grafos. La codificación en lenguaje natural captura contexto biológico que los fingerprints tradicionales no representan.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4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4: Predicción de Toxicidad y Seguridad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05510" y="82296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C62828">
              <a:alpha val="90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4267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dirty="0">
                <a:solidFill>
                  <a:srgbClr val="FFFFFF"/>
                </a:solidFill>
                <a:latin typeface="Calibri" panose="020F0502020204030204"/>
              </a:rPr>
              <a:t>El 90% de los candidatos a fármacos fallan en ensayos clínicos. Predecir toxicidad in silico reduce costos y tiempo de forma dramática.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05510" y="1627632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05510" y="1627632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C62828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670" y="16733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Hepatotoxicidad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740150" y="17007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400" b="1" dirty="0">
                <a:solidFill>
                  <a:srgbClr val="FFFFFF"/>
                </a:solidFill>
                <a:latin typeface="Calibri" panose="020F0502020204030204"/>
              </a:rPr>
              <a:t>Acc: 91%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42670" y="217627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Daño al hígado. Dataset: DILIrank, LiverTox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03190" y="1627632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03190" y="1627632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EF6C0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40350" y="16733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Cardiotoxicidad hERG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37830" y="17007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400" b="1" dirty="0">
                <a:solidFill>
                  <a:srgbClr val="FFFFFF"/>
                </a:solidFill>
                <a:latin typeface="Calibri" panose="020F0502020204030204"/>
              </a:rPr>
              <a:t>Acc: 88%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40350" y="217627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Bloqueo canal K+. Dataset: hERGDB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05510" y="3136392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05510" y="3136392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2670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Mutagenicidad (Ames)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40150" y="32095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400" b="1" dirty="0">
                <a:solidFill>
                  <a:srgbClr val="FFFFFF"/>
                </a:solidFill>
                <a:latin typeface="Calibri" panose="020F0502020204030204"/>
              </a:rPr>
              <a:t>Acc: 93%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42670" y="368503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Daño al ADN. Dataset: Tox21 Ames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03190" y="3136392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203190" y="3136392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40350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Toxicidad aguda LD₅₀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37830" y="32095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400" b="1" dirty="0">
                <a:solidFill>
                  <a:srgbClr val="FFFFFF"/>
                </a:solidFill>
                <a:latin typeface="Calibri" panose="020F0502020204030204"/>
              </a:rPr>
              <a:t>Acc: 86%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40350" y="368503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Dosis letal 50%. Dataset: ZINC/LD50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5510" y="4663440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FFF8E1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96950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i="1" dirty="0">
                <a:solidFill>
                  <a:srgbClr val="EF6C00"/>
                </a:solidFill>
                <a:latin typeface="Calibri" panose="020F0502020204030204"/>
              </a:rPr>
              <a:t>La FDA está explorando LLMs para acelerar la revisión de datos toxicológicos en NDA submissions (2024–2025)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6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0550" y="-9144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654550" y="37846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6950" y="731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96950" y="2194560"/>
            <a:ext cx="3200400" cy="0"/>
          </a:xfrm>
          <a:prstGeom prst="line">
            <a:avLst/>
          </a:prstGeom>
          <a:noFill/>
          <a:ln w="25400">
            <a:solidFill>
              <a:srgbClr val="FFCC80"/>
            </a:solidFill>
            <a:prstDash val="solid"/>
          </a:ln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996950" y="2377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Completo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695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400" i="1" dirty="0">
                <a:solidFill>
                  <a:srgbClr val="FFE0B2"/>
                </a:solidFill>
                <a:latin typeface="Calibri" panose="020F0502020204030204"/>
              </a:rPr>
              <a:t>De los datos brutos al modelo desplegado en producción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Fine-Tuning — Visión General</a:t>
            </a:r>
            <a:endParaRPr lang="en-US" sz="2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4070" y="1371600"/>
            <a:ext cx="1005840" cy="1005840"/>
          </a:xfrm>
          <a:prstGeom prst="ellipse">
            <a:avLst/>
          </a:prstGeom>
          <a:solidFill>
            <a:srgbClr val="1565C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407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380998" y="14173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910" y="248716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Definir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Tarea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1819910" y="1709928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600" b="1" dirty="0">
                <a:solidFill>
                  <a:srgbClr val="00BFA5"/>
                </a:solidFill>
                <a:latin typeface="Calibri" panose="020F0502020204030204"/>
              </a:rPr>
              <a:t>→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057654" y="1371600"/>
            <a:ext cx="1005840" cy="1005840"/>
          </a:xfrm>
          <a:prstGeom prst="ellipse">
            <a:avLst/>
          </a:prstGeom>
          <a:solidFill>
            <a:srgbClr val="00897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2057654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2624582" y="141732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494" y="248716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Datos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Curación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063494" y="1709928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600" b="1" dirty="0">
                <a:solidFill>
                  <a:srgbClr val="00BFA5"/>
                </a:solidFill>
                <a:latin typeface="Calibri" panose="020F0502020204030204"/>
              </a:rPr>
              <a:t>→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3301238" y="1371600"/>
            <a:ext cx="1005840" cy="1005840"/>
          </a:xfrm>
          <a:prstGeom prst="ellipse">
            <a:avLst/>
          </a:prstGeom>
          <a:solidFill>
            <a:srgbClr val="7B1FA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301238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3868166" y="141732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64078" y="248716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Formatear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Dataset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307078" y="1709928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600" b="1" dirty="0">
                <a:solidFill>
                  <a:srgbClr val="00BFA5"/>
                </a:solidFill>
                <a:latin typeface="Calibri" panose="020F0502020204030204"/>
              </a:rPr>
              <a:t>→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544822" y="1371600"/>
            <a:ext cx="1005840" cy="1005840"/>
          </a:xfrm>
          <a:prstGeom prst="ellipse">
            <a:avLst/>
          </a:prstGeom>
          <a:solidFill>
            <a:srgbClr val="EF6C0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544822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5111750" y="1417320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407662" y="248716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Modelo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Base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550662" y="1709928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600" b="1" dirty="0">
                <a:solidFill>
                  <a:srgbClr val="00BFA5"/>
                </a:solidFill>
                <a:latin typeface="Calibri" panose="020F0502020204030204"/>
              </a:rPr>
              <a:t>→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5788406" y="1371600"/>
            <a:ext cx="1005840" cy="1005840"/>
          </a:xfrm>
          <a:prstGeom prst="ellipse">
            <a:avLst/>
          </a:prstGeom>
          <a:solidFill>
            <a:srgbClr val="C6282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5788406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6355334" y="1417320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51246" y="248716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Fine-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Tuning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6794246" y="1709928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600" b="1" dirty="0">
                <a:solidFill>
                  <a:srgbClr val="00BFA5"/>
                </a:solidFill>
                <a:latin typeface="Calibri" panose="020F0502020204030204"/>
              </a:rPr>
              <a:t>→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7031990" y="1371600"/>
            <a:ext cx="1005840" cy="1005840"/>
          </a:xfrm>
          <a:prstGeom prst="ellipse">
            <a:avLst/>
          </a:prstGeom>
          <a:solidFill>
            <a:srgbClr val="558B2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703199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7598918" y="1417320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94830" y="248716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Evaluar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Modelo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8037830" y="1709928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600" b="1" dirty="0">
                <a:solidFill>
                  <a:srgbClr val="00BFA5"/>
                </a:solidFill>
                <a:latin typeface="Calibri" panose="020F0502020204030204"/>
              </a:rPr>
              <a:t>→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8275574" y="1371600"/>
            <a:ext cx="1005840" cy="1005840"/>
          </a:xfrm>
          <a:prstGeom prst="ellipse">
            <a:avLst/>
          </a:prstGeom>
          <a:solidFill>
            <a:srgbClr val="00897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8275574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8842502" y="1417320"/>
            <a:ext cx="384048" cy="38404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138414" y="248716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Desplegar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Inferencia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28"/>
          <p:cNvSpPr/>
          <p:nvPr/>
        </p:nvSpPr>
        <p:spPr>
          <a:xfrm>
            <a:off x="768350" y="3200400"/>
            <a:ext cx="1188720" cy="1737360"/>
          </a:xfrm>
          <a:prstGeom prst="roundRect">
            <a:avLst>
              <a:gd name="adj" fmla="val 4615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29"/>
          <p:cNvSpPr/>
          <p:nvPr/>
        </p:nvSpPr>
        <p:spPr>
          <a:xfrm>
            <a:off x="814070" y="3255264"/>
            <a:ext cx="10972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850" dirty="0">
                <a:solidFill>
                  <a:srgbClr val="EEEEEE"/>
                </a:solidFill>
                <a:latin typeface="Calibri" panose="020F0502020204030204"/>
              </a:rPr>
              <a:t>Objetivos y métricas de éxito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2011934" y="3200400"/>
            <a:ext cx="1188720" cy="1737360"/>
          </a:xfrm>
          <a:prstGeom prst="roundRect">
            <a:avLst>
              <a:gd name="adj" fmla="val 4615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1"/>
          <p:cNvSpPr/>
          <p:nvPr/>
        </p:nvSpPr>
        <p:spPr>
          <a:xfrm>
            <a:off x="2057654" y="3255264"/>
            <a:ext cx="10972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850" dirty="0">
                <a:solidFill>
                  <a:srgbClr val="EEEEEE"/>
                </a:solidFill>
                <a:latin typeface="Calibri" panose="020F0502020204030204"/>
              </a:rPr>
              <a:t>Recopilación, limpieza y validación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2"/>
          <p:cNvSpPr/>
          <p:nvPr/>
        </p:nvSpPr>
        <p:spPr>
          <a:xfrm>
            <a:off x="3255518" y="3200400"/>
            <a:ext cx="1188720" cy="1737360"/>
          </a:xfrm>
          <a:prstGeom prst="roundRect">
            <a:avLst>
              <a:gd name="adj" fmla="val 4615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33"/>
          <p:cNvSpPr/>
          <p:nvPr/>
        </p:nvSpPr>
        <p:spPr>
          <a:xfrm>
            <a:off x="3301238" y="3255264"/>
            <a:ext cx="10972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850" dirty="0">
                <a:solidFill>
                  <a:srgbClr val="EEEEEE"/>
                </a:solidFill>
                <a:latin typeface="Calibri" panose="020F0502020204030204"/>
              </a:rPr>
              <a:t>JSON instrucción-respuesta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34"/>
          <p:cNvSpPr/>
          <p:nvPr/>
        </p:nvSpPr>
        <p:spPr>
          <a:xfrm>
            <a:off x="4499102" y="3200400"/>
            <a:ext cx="1188720" cy="1737360"/>
          </a:xfrm>
          <a:prstGeom prst="roundRect">
            <a:avLst>
              <a:gd name="adj" fmla="val 4615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35"/>
          <p:cNvSpPr/>
          <p:nvPr/>
        </p:nvSpPr>
        <p:spPr>
          <a:xfrm>
            <a:off x="4544822" y="3255264"/>
            <a:ext cx="10972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850" dirty="0">
                <a:solidFill>
                  <a:srgbClr val="EEEEEE"/>
                </a:solidFill>
                <a:latin typeface="Calibri" panose="020F0502020204030204"/>
              </a:rPr>
              <a:t>Llama / Mistral open-source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36"/>
          <p:cNvSpPr/>
          <p:nvPr/>
        </p:nvSpPr>
        <p:spPr>
          <a:xfrm>
            <a:off x="5742686" y="3200400"/>
            <a:ext cx="1188720" cy="1737360"/>
          </a:xfrm>
          <a:prstGeom prst="roundRect">
            <a:avLst>
              <a:gd name="adj" fmla="val 4615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37"/>
          <p:cNvSpPr/>
          <p:nvPr/>
        </p:nvSpPr>
        <p:spPr>
          <a:xfrm>
            <a:off x="5788406" y="3255264"/>
            <a:ext cx="10972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850" dirty="0">
                <a:solidFill>
                  <a:srgbClr val="EEEEEE"/>
                </a:solidFill>
                <a:latin typeface="Calibri" panose="020F0502020204030204"/>
              </a:rPr>
              <a:t>QLoRA + Unsloth en Colab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38"/>
          <p:cNvSpPr/>
          <p:nvPr/>
        </p:nvSpPr>
        <p:spPr>
          <a:xfrm>
            <a:off x="6986270" y="3200400"/>
            <a:ext cx="1188720" cy="1737360"/>
          </a:xfrm>
          <a:prstGeom prst="roundRect">
            <a:avLst>
              <a:gd name="adj" fmla="val 4615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39"/>
          <p:cNvSpPr/>
          <p:nvPr/>
        </p:nvSpPr>
        <p:spPr>
          <a:xfrm>
            <a:off x="7031990" y="3255264"/>
            <a:ext cx="10972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850" dirty="0">
                <a:solidFill>
                  <a:srgbClr val="EEEEEE"/>
                </a:solidFill>
                <a:latin typeface="Calibri" panose="020F0502020204030204"/>
              </a:rPr>
              <a:t>Loss, RMSE, AUC, exactitud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0"/>
          <p:cNvSpPr/>
          <p:nvPr/>
        </p:nvSpPr>
        <p:spPr>
          <a:xfrm>
            <a:off x="8229854" y="3200400"/>
            <a:ext cx="1188720" cy="1737360"/>
          </a:xfrm>
          <a:prstGeom prst="roundRect">
            <a:avLst>
              <a:gd name="adj" fmla="val 4615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1"/>
          <p:cNvSpPr/>
          <p:nvPr/>
        </p:nvSpPr>
        <p:spPr>
          <a:xfrm>
            <a:off x="8275574" y="3255264"/>
            <a:ext cx="109728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850" dirty="0">
                <a:solidFill>
                  <a:srgbClr val="EEEEEE"/>
                </a:solidFill>
                <a:latin typeface="Calibri" panose="020F0502020204030204"/>
              </a:rPr>
              <a:t>API REST, Groq, Ollama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870" y="-182880"/>
            <a:ext cx="1280160" cy="128016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6870" y="-182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7419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4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1: Definir la Tarea y Métricas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05510" y="86868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2670" y="8686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200" i="1" dirty="0">
                <a:solidFill>
                  <a:srgbClr val="FFFFFF"/>
                </a:solidFill>
                <a:latin typeface="Calibri" panose="020F0502020204030204"/>
              </a:rPr>
              <a:t>La tarea bien definida es el 50% del éxito. Un modelo entrenado en una tarea vaga producirá resultados vagos.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05510" y="1691640"/>
            <a:ext cx="8412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05510" y="1691640"/>
            <a:ext cx="3200400" cy="713232"/>
          </a:xfrm>
          <a:prstGeom prst="roundRect">
            <a:avLst>
              <a:gd name="adj" fmla="val 8974"/>
            </a:avLst>
          </a:prstGeom>
          <a:solidFill>
            <a:srgbClr val="1565C0">
              <a:alpha val="8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42670" y="178308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b="1" dirty="0">
                <a:solidFill>
                  <a:prstClr val="black"/>
                </a:solidFill>
                <a:latin typeface="Calibri" panose="020F0502020204030204"/>
              </a:rPr>
              <a:t>¿Qué debe hacer exactamente?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43070" y="178308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Clasificación binaria, regresión, generación de texto, Q&amp;A sobre moléculas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05510" y="2496312"/>
            <a:ext cx="8412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05510" y="2496312"/>
            <a:ext cx="3200400" cy="713232"/>
          </a:xfrm>
          <a:prstGeom prst="roundRect">
            <a:avLst>
              <a:gd name="adj" fmla="val 8974"/>
            </a:avLst>
          </a:prstGeom>
          <a:solidFill>
            <a:srgbClr val="00897B">
              <a:alpha val="8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42670" y="258775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b="1" dirty="0">
                <a:solidFill>
                  <a:prstClr val="black"/>
                </a:solidFill>
                <a:latin typeface="Calibri" panose="020F0502020204030204"/>
              </a:rPr>
              <a:t>¿Cómo se mide el éxito?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43070" y="2587752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R², RMSE (regresión) / AUC-ROC, F1 (clasificación) / BLEU, validez SMILES (generación)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05510" y="3300984"/>
            <a:ext cx="8412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05510" y="3300984"/>
            <a:ext cx="3200400" cy="713232"/>
          </a:xfrm>
          <a:prstGeom prst="roundRect">
            <a:avLst>
              <a:gd name="adj" fmla="val 8974"/>
            </a:avLst>
          </a:prstGeom>
          <a:solidFill>
            <a:srgbClr val="7B1FA2">
              <a:alpha val="8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2670" y="339242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b="1" dirty="0">
                <a:solidFill>
                  <a:prstClr val="black"/>
                </a:solidFill>
                <a:latin typeface="Calibri" panose="020F0502020204030204"/>
              </a:rPr>
              <a:t>¿Qué datos de entrada tengo?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43070" y="3392424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SMILES, secuencias proteicas, descriptores numéricos, texto de papers, tablas de ensayos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5510" y="4105656"/>
            <a:ext cx="84124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5510" y="4105656"/>
            <a:ext cx="3200400" cy="713232"/>
          </a:xfrm>
          <a:prstGeom prst="roundRect">
            <a:avLst>
              <a:gd name="adj" fmla="val 8974"/>
            </a:avLst>
          </a:prstGeom>
          <a:solidFill>
            <a:srgbClr val="EF6C00">
              <a:alpha val="8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42670" y="419709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b="1" dirty="0">
                <a:solidFill>
                  <a:prstClr val="black"/>
                </a:solidFill>
                <a:latin typeface="Calibri" panose="020F0502020204030204"/>
              </a:rPr>
              <a:t>¿Cuál es el volumen mínimo?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243070" y="4197096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100–500 ejemplos para inicio, 1,000–10,000 para resultados robustos y generalizables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870" y="-182880"/>
            <a:ext cx="1280160" cy="128016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6870" y="-182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7419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4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2: Recopilación y Curación de Datos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38326" y="8686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300" b="1" dirty="0">
                <a:solidFill>
                  <a:srgbClr val="00897B"/>
                </a:solidFill>
                <a:latin typeface="Calibri" panose="020F0502020204030204"/>
              </a:rPr>
              <a:t>Fuentes de datos para Pharma: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05510" y="1261872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96950" y="1325880"/>
            <a:ext cx="274320" cy="27432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44422" y="13167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00897B"/>
                </a:solidFill>
                <a:latin typeface="Calibri" panose="020F0502020204030204"/>
              </a:rPr>
              <a:t>ChEMBL: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42870" y="13167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2M+ compuestos, actividad biológica, IC₅₀, Ki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05510" y="1773936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96950" y="1837944"/>
            <a:ext cx="274320" cy="27432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44422" y="18288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00897B"/>
                </a:solidFill>
                <a:latin typeface="Calibri" panose="020F0502020204030204"/>
              </a:rPr>
              <a:t>PubChem: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42870" y="18288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100M+ moléculas con propiedades fisicoquímicas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05510" y="2286000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96950" y="2350008"/>
            <a:ext cx="274320" cy="27432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44422" y="234086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00897B"/>
                </a:solidFill>
                <a:latin typeface="Calibri" panose="020F0502020204030204"/>
              </a:rPr>
              <a:t>MoleculeNet: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642870" y="23408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Benchmark estándar: BBBP, Tox21, ESOL, QM9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5510" y="2798064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96950" y="2862072"/>
            <a:ext cx="274320" cy="27432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44422" y="28529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00897B"/>
                </a:solidFill>
                <a:latin typeface="Calibri" panose="020F0502020204030204"/>
              </a:rPr>
              <a:t>Materials Project: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642870" y="28529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150K+ materiales inorgánicos con propiedades DFT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05510" y="3310128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E0F7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96950" y="3374136"/>
            <a:ext cx="274320" cy="27432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44422" y="33649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00897B"/>
                </a:solidFill>
                <a:latin typeface="Calibri" panose="020F0502020204030204"/>
              </a:rPr>
              <a:t>Datos internos: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64287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Ensayos clínicos propios, datos de formulación confidenciales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83350" y="822960"/>
            <a:ext cx="2834640" cy="4114800"/>
          </a:xfrm>
          <a:prstGeom prst="roundRect">
            <a:avLst>
              <a:gd name="adj" fmla="val 3226"/>
            </a:avLst>
          </a:prstGeom>
          <a:solidFill>
            <a:srgbClr val="0A254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74790" y="960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200" b="1" dirty="0">
                <a:solidFill>
                  <a:srgbClr val="00BFA5"/>
                </a:solidFill>
                <a:latin typeface="Calibri" panose="020F0502020204030204"/>
              </a:rPr>
              <a:t>Checklist de calidad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620510" y="1417320"/>
            <a:ext cx="219456" cy="219456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22262" y="13807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FFFFFF"/>
                </a:solidFill>
                <a:latin typeface="Calibri" panose="020F0502020204030204"/>
              </a:rPr>
              <a:t>SMILES válidos (RDKit)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620510" y="1837944"/>
            <a:ext cx="219456" cy="219456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22262" y="18013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FFFFFF"/>
                </a:solidFill>
                <a:latin typeface="Calibri" panose="020F0502020204030204"/>
              </a:rPr>
              <a:t>Sin duplicados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620510" y="2258568"/>
            <a:ext cx="219456" cy="219456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922262" y="22219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FFFFFF"/>
                </a:solidFill>
                <a:latin typeface="Calibri" panose="020F0502020204030204"/>
              </a:rPr>
              <a:t>Balanceo de clases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620510" y="2679192"/>
            <a:ext cx="219456" cy="219456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922262" y="26426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FFFFFF"/>
                </a:solidFill>
                <a:latin typeface="Calibri" panose="020F0502020204030204"/>
              </a:rPr>
              <a:t>Sin valores NaN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620510" y="3099816"/>
            <a:ext cx="219456" cy="219456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22262" y="3063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FFFFFF"/>
                </a:solidFill>
                <a:latin typeface="Calibri" panose="020F0502020204030204"/>
              </a:rPr>
              <a:t>Normalización numérica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620510" y="3520440"/>
            <a:ext cx="219456" cy="219456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922262" y="34838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FFFFFF"/>
                </a:solidFill>
                <a:latin typeface="Calibri" panose="020F0502020204030204"/>
              </a:rPr>
              <a:t>Split 80/10/10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620510" y="3941064"/>
            <a:ext cx="219456" cy="219456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922262" y="39044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FFFFFF"/>
                </a:solidFill>
                <a:latin typeface="Calibri" panose="020F0502020204030204"/>
              </a:rPr>
              <a:t>Validación químicos expertos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05510" y="4663440"/>
            <a:ext cx="5303520" cy="347472"/>
          </a:xfrm>
          <a:prstGeom prst="roundRect">
            <a:avLst>
              <a:gd name="adj" fmla="val 13158"/>
            </a:avLst>
          </a:prstGeom>
          <a:solidFill>
            <a:srgbClr val="E0F2F1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96950" y="468172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i="1" dirty="0">
                <a:solidFill>
                  <a:srgbClr val="00897B"/>
                </a:solidFill>
                <a:latin typeface="Calibri" panose="020F0502020204030204"/>
              </a:rPr>
              <a:t>Regla práctica: prefiere 500 ejemplos bien curados a 5,000 con ruido.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870" y="-182880"/>
            <a:ext cx="1280160" cy="1280160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6870" y="-182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7419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6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3: Formato del Dataset</a:t>
            </a:r>
            <a:endParaRPr lang="en-US" sz="2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05510" y="82296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0A254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2670" y="8961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00" b="1" dirty="0">
                <a:solidFill>
                  <a:srgbClr val="00BFA5"/>
                </a:solidFill>
                <a:latin typeface="Calibri" panose="020F0502020204030204"/>
              </a:rPr>
              <a:t>Formato JSONL — Instrucción/Respuesta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96950" y="1261872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914400"/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"instruction": "Predice la toxicidad 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hepática de esta molécula.",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"input": "SMILES: CC(C)Cc1ccc(cc1)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C(C)C(=O)O",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"output": "No hepatotóxico. 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LogP=3.72, MW=206.3. 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Cumple Lipinski Ro5."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17590" y="82296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54750" y="9601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200" b="1" dirty="0">
                <a:solidFill>
                  <a:srgbClr val="7B1FA2"/>
                </a:solidFill>
                <a:latin typeface="Calibri" panose="020F0502020204030204"/>
              </a:rPr>
              <a:t>Buenas Prácticas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54750" y="1417320"/>
            <a:ext cx="182880" cy="182880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01638" y="1371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Instrucciones claras y únicas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54750" y="1874520"/>
            <a:ext cx="182880" cy="182880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01638" y="1828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Respuestas concisas (&lt; 200 tokens)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54750" y="2331720"/>
            <a:ext cx="182880" cy="182880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01638" y="2286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Incluir contexto: unidades, condiciones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54750" y="2788920"/>
            <a:ext cx="182880" cy="182880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01638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Variar la redacción de instrucciones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54750" y="3246120"/>
            <a:ext cx="182880" cy="182880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01638" y="3200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Negativos: incluir ejemplos de lo que NO es válido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54750" y="3703320"/>
            <a:ext cx="182880" cy="182880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0163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Plantilla de chat: [INST] ... [/INST]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05510" y="4434840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EDE7F6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42670" y="446227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4A148C"/>
                </a:solidFill>
                <a:latin typeface="Calibri" panose="020F0502020204030204"/>
              </a:rPr>
              <a:t>Templates de chat soportados: Alpaca, ShareGPT, ChatML, Llama-3 Instruct. Unsloth genera el formato correcto automáticamente.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870" y="-182880"/>
            <a:ext cx="1280160" cy="1280160"/>
          </a:xfrm>
          <a:prstGeom prst="ellipse">
            <a:avLst/>
          </a:prstGeom>
          <a:solidFill>
            <a:srgbClr val="EF6C0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6870" y="-182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7419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6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4: Selección del Modelo Base</a:t>
            </a:r>
            <a:endParaRPr lang="en-US" sz="2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05510" y="914400"/>
            <a:ext cx="2011680" cy="39319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5510" y="10241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b="1" dirty="0">
                <a:solidFill>
                  <a:srgbClr val="43A047"/>
                </a:solidFill>
                <a:latin typeface="Calibri" panose="020F0502020204030204"/>
              </a:rPr>
              <a:t>Llama-3.2-3B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0551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400" dirty="0">
                <a:solidFill>
                  <a:srgbClr val="EF6C00"/>
                </a:solidFill>
                <a:latin typeface="Calibri" panose="020F0502020204030204"/>
              </a:rPr>
              <a:t>★★★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5238" y="190195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607D8B"/>
                </a:solidFill>
                <a:latin typeface="Calibri" panose="020F0502020204030204"/>
              </a:rPr>
              <a:t>Parámetros: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15238" y="22311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0A1929"/>
                </a:solidFill>
                <a:latin typeface="Calibri" panose="020F0502020204030204"/>
              </a:rPr>
              <a:t>3B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15238" y="237744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607D8B"/>
                </a:solidFill>
                <a:latin typeface="Calibri" panose="020F0502020204030204"/>
              </a:rPr>
              <a:t>VRAM: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15238" y="27066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0A1929"/>
                </a:solidFill>
                <a:latin typeface="Calibri" panose="020F0502020204030204"/>
              </a:rPr>
              <a:t>6 GB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5238" y="285292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607D8B"/>
                </a:solidFill>
                <a:latin typeface="Calibri" panose="020F0502020204030204"/>
              </a:rPr>
              <a:t>Hardware: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5238" y="31821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0A1929"/>
                </a:solidFill>
                <a:latin typeface="Calibri" panose="020F0502020204030204"/>
              </a:rPr>
              <a:t>Colab T4 FREE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05510" y="3913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50" i="1" dirty="0">
                <a:solidFill>
                  <a:srgbClr val="607D8B"/>
                </a:solidFill>
                <a:latin typeface="Calibri" panose="020F0502020204030204"/>
              </a:rPr>
              <a:t>Inicio rápido,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950" i="1" dirty="0">
                <a:solidFill>
                  <a:srgbClr val="607D8B"/>
                </a:solidFill>
                <a:latin typeface="Calibri" panose="020F0502020204030204"/>
              </a:rPr>
              <a:t>pruebas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054350" y="914400"/>
            <a:ext cx="2011680" cy="3931920"/>
          </a:xfrm>
          <a:prstGeom prst="roundRect">
            <a:avLst>
              <a:gd name="adj" fmla="val 4545"/>
            </a:avLst>
          </a:prstGeom>
          <a:solidFill>
            <a:srgbClr val="1565C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37230" y="731520"/>
            <a:ext cx="1645920" cy="347472"/>
          </a:xfrm>
          <a:prstGeom prst="roundRect">
            <a:avLst>
              <a:gd name="adj" fmla="val 18421"/>
            </a:avLst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37230" y="7315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850" b="1" dirty="0">
                <a:solidFill>
                  <a:srgbClr val="0A2540"/>
                </a:solidFill>
                <a:latin typeface="Calibri" panose="020F0502020204030204"/>
              </a:rPr>
              <a:t>RECOMENDADO</a:t>
            </a:r>
            <a:endParaRPr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54350" y="10241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b="1" dirty="0">
                <a:solidFill>
                  <a:srgbClr val="FFFFFF"/>
                </a:solidFill>
                <a:latin typeface="Calibri" panose="020F0502020204030204"/>
              </a:rPr>
              <a:t>Llama-3.1-8B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05435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400" dirty="0">
                <a:solidFill>
                  <a:srgbClr val="00BFA5"/>
                </a:solidFill>
                <a:latin typeface="Calibri" panose="020F0502020204030204"/>
              </a:rPr>
              <a:t>★★★★★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164078" y="190195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90CAF9"/>
                </a:solidFill>
                <a:latin typeface="Calibri" panose="020F0502020204030204"/>
              </a:rPr>
              <a:t>Parámetros: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164078" y="22311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8B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164078" y="237744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90CAF9"/>
                </a:solidFill>
                <a:latin typeface="Calibri" panose="020F0502020204030204"/>
              </a:rPr>
              <a:t>VRAM: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164078" y="27066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10 GB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164078" y="285292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90CAF9"/>
                </a:solidFill>
                <a:latin typeface="Calibri" panose="020F0502020204030204"/>
              </a:rPr>
              <a:t>Hardware: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164078" y="31821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FFFFFF"/>
                </a:solidFill>
                <a:latin typeface="Calibri" panose="020F0502020204030204"/>
              </a:rPr>
              <a:t>Colab T4 FREE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054350" y="3913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50" i="1" dirty="0">
                <a:solidFill>
                  <a:srgbClr val="B3D9FF"/>
                </a:solidFill>
                <a:latin typeface="Calibri" panose="020F0502020204030204"/>
              </a:rPr>
              <a:t>Recomendado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950" i="1" dirty="0">
                <a:solidFill>
                  <a:srgbClr val="B3D9FF"/>
                </a:solidFill>
                <a:latin typeface="Calibri" panose="020F0502020204030204"/>
              </a:rPr>
              <a:t>para Pharma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203190" y="914400"/>
            <a:ext cx="2011680" cy="39319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03190" y="10241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b="1" dirty="0">
                <a:solidFill>
                  <a:srgbClr val="00897B"/>
                </a:solidFill>
                <a:latin typeface="Calibri" panose="020F0502020204030204"/>
              </a:rPr>
              <a:t>Mistral-7B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0319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400" dirty="0">
                <a:solidFill>
                  <a:srgbClr val="EF6C00"/>
                </a:solidFill>
                <a:latin typeface="Calibri" panose="020F0502020204030204"/>
              </a:rPr>
              <a:t>★★★★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12918" y="190195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607D8B"/>
                </a:solidFill>
                <a:latin typeface="Calibri" panose="020F0502020204030204"/>
              </a:rPr>
              <a:t>Parámetros: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12918" y="22311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0A1929"/>
                </a:solidFill>
                <a:latin typeface="Calibri" panose="020F0502020204030204"/>
              </a:rPr>
              <a:t>7B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12918" y="237744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607D8B"/>
                </a:solidFill>
                <a:latin typeface="Calibri" panose="020F0502020204030204"/>
              </a:rPr>
              <a:t>VRAM: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12918" y="27066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0A1929"/>
                </a:solidFill>
                <a:latin typeface="Calibri" panose="020F0502020204030204"/>
              </a:rPr>
              <a:t>10 GB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312918" y="285292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607D8B"/>
                </a:solidFill>
                <a:latin typeface="Calibri" panose="020F0502020204030204"/>
              </a:rPr>
              <a:t>Hardware: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312918" y="31821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0A1929"/>
                </a:solidFill>
                <a:latin typeface="Calibri" panose="020F0502020204030204"/>
              </a:rPr>
              <a:t>Colab T4 FREE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203190" y="3913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50" i="1" dirty="0">
                <a:solidFill>
                  <a:srgbClr val="607D8B"/>
                </a:solidFill>
                <a:latin typeface="Calibri" panose="020F0502020204030204"/>
              </a:rPr>
              <a:t>Buen rendimiento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950" i="1" dirty="0">
                <a:solidFill>
                  <a:srgbClr val="607D8B"/>
                </a:solidFill>
                <a:latin typeface="Calibri" panose="020F0502020204030204"/>
              </a:rPr>
              <a:t>en química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352030" y="914400"/>
            <a:ext cx="2011680" cy="39319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352030" y="10241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200" b="1" dirty="0">
                <a:solidFill>
                  <a:srgbClr val="7B1FA2"/>
                </a:solidFill>
                <a:latin typeface="Calibri" panose="020F0502020204030204"/>
              </a:rPr>
              <a:t>Llama-3.1-70B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35203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400" dirty="0">
                <a:solidFill>
                  <a:srgbClr val="EF6C00"/>
                </a:solidFill>
                <a:latin typeface="Calibri" panose="020F0502020204030204"/>
              </a:rPr>
              <a:t>★★★★★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61758" y="190195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607D8B"/>
                </a:solidFill>
                <a:latin typeface="Calibri" panose="020F0502020204030204"/>
              </a:rPr>
              <a:t>Parámetros: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461758" y="22311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0A1929"/>
                </a:solidFill>
                <a:latin typeface="Calibri" panose="020F0502020204030204"/>
              </a:rPr>
              <a:t>70B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461758" y="237744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607D8B"/>
                </a:solidFill>
                <a:latin typeface="Calibri" panose="020F0502020204030204"/>
              </a:rPr>
              <a:t>VRAM: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61758" y="27066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0A1929"/>
                </a:solidFill>
                <a:latin typeface="Calibri" panose="020F0502020204030204"/>
              </a:rPr>
              <a:t>48 GB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461758" y="285292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607D8B"/>
                </a:solidFill>
                <a:latin typeface="Calibri" panose="020F0502020204030204"/>
              </a:rPr>
              <a:t>Hardware: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461758" y="31821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0A1929"/>
                </a:solidFill>
                <a:latin typeface="Calibri" panose="020F0502020204030204"/>
              </a:rPr>
              <a:t>A100 (pago)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52030" y="3913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50" i="1" dirty="0">
                <a:solidFill>
                  <a:srgbClr val="607D8B"/>
                </a:solidFill>
                <a:latin typeface="Calibri" panose="020F0502020204030204"/>
              </a:rPr>
              <a:t>Producción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950" i="1" dirty="0">
                <a:solidFill>
                  <a:srgbClr val="607D8B"/>
                </a:solidFill>
                <a:latin typeface="Calibri" panose="020F0502020204030204"/>
              </a:rPr>
              <a:t>empresarial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870" y="-182880"/>
            <a:ext cx="1280160" cy="1280160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6870" y="-182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7419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2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5: Fine-Tuning con QLoRA (Código Real)</a:t>
            </a:r>
            <a:endParaRPr lang="en-US" sz="2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05510" y="822960"/>
            <a:ext cx="8412480" cy="4160520"/>
          </a:xfrm>
          <a:prstGeom prst="roundRect">
            <a:avLst>
              <a:gd name="adj" fmla="val 2198"/>
            </a:avLst>
          </a:prstGeom>
          <a:solidFill>
            <a:srgbClr val="0A254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88390" y="8869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Instalar Unsloth en Google Colab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88390" y="106984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unsloth trl datasets --quiet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88390" y="14356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unsloth import FastLanguageModel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88390" y="161848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trl import SFTTrainer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88390" y="198424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Cargar modelo base cuantizado a 4-bit (QLoRA)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88390" y="216712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model, tokenizer = FastLanguageModel.from_pretrained(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88390" y="23500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model_name="unsloth/llama-3.1-8b-instruct",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88390" y="253288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max_seq_length=2048, load_in_4bit=True)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88390" y="289864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Configurar adaptadores LoRA (solo ~0.1% parámetros)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88390" y="308152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FastLanguageModel.get_peft_model(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88390" y="32644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model, r=16, lora_alpha=16,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88390" y="344728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target_modules=["q_proj","v_proj","k_proj","o_proj"])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88390" y="381304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Cargar datos de Pharma y entrenar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88390" y="399592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= SFTTrainer(model=model, train_dataset=pharma_data,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88390" y="41788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max_seq_length=2048, num_train_epochs=3)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88390" y="436168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/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trainer.train()  # ~30 min en Colab T4 con 1000 ejemplos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05510" y="4681728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FFEBEE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42670" y="470001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C62828"/>
                </a:solidFill>
                <a:latin typeface="Calibri" panose="020F0502020204030204"/>
              </a:rPr>
              <a:t>El modelo se guarda localmente o en Hugging Face Hub. Tiempo total en Colab T4 gratuito: ~20–40 minutos por 1,000 ejemplos.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870" y="-182880"/>
            <a:ext cx="1280160" cy="1280160"/>
          </a:xfrm>
          <a:prstGeom prst="ellipse">
            <a:avLst/>
          </a:prstGeom>
          <a:solidFill>
            <a:srgbClr val="558B2F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6870" y="-182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7419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6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6: Evaluación del Modelo</a:t>
            </a:r>
            <a:endParaRPr lang="en-US" sz="2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05510" y="91440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05510" y="91440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05510" y="13716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Regresión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(LogP, IC₅₀)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51430" y="10241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1565C0"/>
                </a:solidFill>
                <a:latin typeface="Calibri" panose="020F0502020204030204"/>
              </a:rPr>
              <a:t>Métricas: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51430" y="12984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R², RMSE, MAE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551430" y="21488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00" i="1" dirty="0">
                <a:solidFill>
                  <a:srgbClr val="607D8B"/>
                </a:solidFill>
                <a:latin typeface="Calibri" panose="020F0502020204030204"/>
              </a:rPr>
              <a:t>Tool: sklearn.metrics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94630" y="91440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94630" y="91440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94630" y="13716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Clasificación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(Toxicidad)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40550" y="10241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7B1FA2"/>
                </a:solidFill>
                <a:latin typeface="Calibri" panose="020F0502020204030204"/>
              </a:rPr>
              <a:t>Métricas: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40550" y="12984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AUC-ROC, F1,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Precisión, Recall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940550" y="21488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00" i="1" dirty="0">
                <a:solidFill>
                  <a:srgbClr val="607D8B"/>
                </a:solidFill>
                <a:latin typeface="Calibri" panose="020F0502020204030204"/>
              </a:rPr>
              <a:t>Tool: sklearn.metrics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05510" y="265176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5510" y="265176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5510" y="31089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Generación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(SMILES)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551430" y="27614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00897B"/>
                </a:solidFill>
                <a:latin typeface="Calibri" panose="020F0502020204030204"/>
              </a:rPr>
              <a:t>Métricas: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551430" y="30358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% Validez, Unicidad,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Similitud Tanimoto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551430" y="38862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00" i="1" dirty="0">
                <a:solidFill>
                  <a:srgbClr val="607D8B"/>
                </a:solidFill>
                <a:latin typeface="Calibri" panose="020F0502020204030204"/>
              </a:rPr>
              <a:t>Tool: RDKit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294630" y="265176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294630" y="265176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EF6C0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294630" y="31089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Q&amp;A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(Literatura)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40550" y="27614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EF6C00"/>
                </a:solidFill>
                <a:latin typeface="Calibri" panose="020F0502020204030204"/>
              </a:rPr>
              <a:t>Métricas: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40550" y="30358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BLEU-4, ROUGE-L,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050" dirty="0">
                <a:solidFill>
                  <a:srgbClr val="0A1929"/>
                </a:solidFill>
                <a:latin typeface="Calibri" panose="020F0502020204030204"/>
              </a:rPr>
              <a:t>BERTScore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940550" y="38862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00" i="1" dirty="0">
                <a:solidFill>
                  <a:srgbClr val="607D8B"/>
                </a:solidFill>
                <a:latin typeface="Calibri" panose="020F0502020204030204"/>
              </a:rPr>
              <a:t>Tool: evaluate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05510" y="4407408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E8F5E9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42670" y="44348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1B5E20"/>
                </a:solidFill>
                <a:latin typeface="Calibri" panose="020F0502020204030204"/>
              </a:rPr>
              <a:t>Tip clave: siempre evalúa en un test set completamente nuevo. Nunca uses datos de entrenamiento para reportar métricas finales. Compara siempre contra un baseline (modelo base sin fine-tuning).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870" y="-182880"/>
            <a:ext cx="1280160" cy="128016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6870" y="-182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74190" y="201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6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7: Despliegue e Inferencia</a:t>
            </a:r>
            <a:endParaRPr lang="en-US" sz="2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05510" y="91440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0102" y="1078992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18742" y="102412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300" b="1" dirty="0">
                <a:solidFill>
                  <a:srgbClr val="1565C0"/>
                </a:solidFill>
                <a:latin typeface="Calibri" panose="020F0502020204030204"/>
              </a:rPr>
              <a:t>Groq API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70102" y="162763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Inferencia ultrarrápida (~500 tokens/s). Compatible con Llama/Mistral. Ideal para prototipos y demos.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0102" y="2350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1B5E20"/>
                </a:solidFill>
                <a:latin typeface="Calibri" panose="020F0502020204030204"/>
              </a:rPr>
              <a:t>✓ Velocidad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008630" y="2350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EF6C00"/>
                </a:solidFill>
                <a:latin typeface="Calibri" panose="020F0502020204030204"/>
              </a:rPr>
              <a:t>! Solo modelos base disponibles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48910" y="91440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13502" y="1078992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62142" y="102412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300" b="1" dirty="0">
                <a:solidFill>
                  <a:srgbClr val="00897B"/>
                </a:solidFill>
                <a:latin typeface="Calibri" panose="020F0502020204030204"/>
              </a:rPr>
              <a:t>Ollama (local)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13502" y="162763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Corre el modelo en tu máquina. Privacidad total de datos. Ideal para datos confidenciales de Pharma.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13502" y="2350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1B5E20"/>
                </a:solidFill>
                <a:latin typeface="Calibri" panose="020F0502020204030204"/>
              </a:rPr>
              <a:t>✓ Privacidad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52030" y="23500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EF6C00"/>
                </a:solidFill>
                <a:latin typeface="Calibri" panose="020F0502020204030204"/>
              </a:rPr>
              <a:t>! Requiere GPU dedicada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05510" y="288036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70102" y="3044952"/>
            <a:ext cx="457200" cy="457200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618742" y="299008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300" b="1" dirty="0">
                <a:solidFill>
                  <a:srgbClr val="7B1FA2"/>
                </a:solidFill>
                <a:latin typeface="Calibri" panose="020F0502020204030204"/>
              </a:rPr>
              <a:t>HuggingFace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400"/>
            <a:r>
              <a:rPr lang="en-US" sz="1300" b="1" dirty="0">
                <a:solidFill>
                  <a:srgbClr val="7B1FA2"/>
                </a:solidFill>
                <a:latin typeface="Calibri" panose="020F0502020204030204"/>
              </a:rPr>
              <a:t>Inference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70102" y="35935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Despliegue en la nube de HuggingFace. Escalable, con serverless endpoints. Gratis para modelos pequeños.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70102" y="4315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1B5E20"/>
                </a:solidFill>
                <a:latin typeface="Calibri" panose="020F0502020204030204"/>
              </a:rPr>
              <a:t>✓ Escalabilidad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008630" y="43159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EF6C00"/>
                </a:solidFill>
                <a:latin typeface="Calibri" panose="020F0502020204030204"/>
              </a:rPr>
              <a:t>! Latencia variable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248910" y="288036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13502" y="3044952"/>
            <a:ext cx="457200" cy="457200"/>
          </a:xfrm>
          <a:prstGeom prst="ellipse">
            <a:avLst/>
          </a:prstGeom>
          <a:solidFill>
            <a:srgbClr val="EF6C0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62142" y="299008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300" b="1" dirty="0">
                <a:solidFill>
                  <a:srgbClr val="EF6C00"/>
                </a:solidFill>
                <a:latin typeface="Calibri" panose="020F0502020204030204"/>
              </a:rPr>
              <a:t>FastAPI + Docker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13502" y="35935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Empaqueta el modelo como microservicio REST. Integrable con cualquier sistema de información hospitalaria o ERP.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13502" y="4315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b="1" dirty="0">
                <a:solidFill>
                  <a:srgbClr val="1B5E20"/>
                </a:solidFill>
                <a:latin typeface="Calibri" panose="020F0502020204030204"/>
              </a:rPr>
              <a:t>✓ Integración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52030" y="43159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EF6C00"/>
                </a:solidFill>
                <a:latin typeface="Calibri" panose="020F0502020204030204"/>
              </a:rPr>
              <a:t>! Mayor complejidad inicial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05510" y="4681728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E3F2FD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42670" y="470001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b="1" dirty="0">
                <a:solidFill>
                  <a:srgbClr val="1565C0"/>
                </a:solidFill>
                <a:latin typeface="Calibri" panose="020F0502020204030204"/>
              </a:rPr>
              <a:t>Para datos confidenciales de Pharma: siempre Ollama local o FastAPI en servidor on-premise. Nunca APIs públicas con datos de pacientes.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0550" y="-9144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563110" y="461434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6950" y="731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96950" y="2194560"/>
            <a:ext cx="3200400" cy="0"/>
          </a:xfrm>
          <a:prstGeom prst="line">
            <a:avLst/>
          </a:prstGeom>
          <a:noFill/>
          <a:ln w="25400">
            <a:solidFill>
              <a:srgbClr val="EF9A9A"/>
            </a:solidFill>
            <a:prstDash val="solid"/>
          </a:ln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996950" y="2377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695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400" i="1" dirty="0">
                <a:solidFill>
                  <a:srgbClr val="FFCDD2"/>
                </a:solidFill>
                <a:latin typeface="Calibri" panose="020F0502020204030204"/>
              </a:rPr>
              <a:t>Herramientas, frameworks y plataformas end-to-end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8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 Completo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59790" y="914400"/>
            <a:ext cx="1600200" cy="384048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9790" y="9144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Datos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59790" y="1353312"/>
            <a:ext cx="160020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1230" y="1463040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9518" y="149961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ChEMBL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51230" y="2121408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9518" y="215798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MoleculeNet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51230" y="2779776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9518" y="28163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PubChem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51230" y="3438144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9518" y="34747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Datos internos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51230" y="4096512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1565C0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9518" y="413308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RDKit (validación)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97150" y="914400"/>
            <a:ext cx="1600200" cy="384048"/>
          </a:xfrm>
          <a:prstGeom prst="roundRect">
            <a:avLst>
              <a:gd name="adj" fmla="val 16667"/>
            </a:avLst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97150" y="9144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Modelo Base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97150" y="1353312"/>
            <a:ext cx="160020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688590" y="1463040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00897B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06878" y="149961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Llama-3.1-8B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688590" y="2121408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00897B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06878" y="215798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Mistral-7B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688590" y="2779776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00897B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06878" y="28163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HuggingFace Hub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688590" y="3438144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00897B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706878" y="34747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Unsloth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688590" y="4096512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00897B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706878" y="413308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PEFT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334510" y="914400"/>
            <a:ext cx="1600200" cy="384048"/>
          </a:xfrm>
          <a:prstGeom prst="roundRect">
            <a:avLst>
              <a:gd name="adj" fmla="val 16667"/>
            </a:avLst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334510" y="9144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Fine-Tuning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34510" y="1353312"/>
            <a:ext cx="160020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425950" y="1463040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7B1FA2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444238" y="149961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QLoRA (4-bit)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425950" y="2121408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7B1FA2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444238" y="215798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Google Colab / A100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425950" y="2779776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7B1FA2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444238" y="28163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TRL (SFTTrainer)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425950" y="3438144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7B1FA2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444238" y="34747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Wandb (monitoring)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425950" y="4096512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7B1FA2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444238" y="413308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Datasets (HuggingFace)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071870" y="914400"/>
            <a:ext cx="1600200" cy="384048"/>
          </a:xfrm>
          <a:prstGeom prst="roundRect">
            <a:avLst>
              <a:gd name="adj" fmla="val 16667"/>
            </a:avLst>
          </a:prstGeom>
          <a:solidFill>
            <a:srgbClr val="EF6C0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071870" y="9144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Evaluación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071870" y="1353312"/>
            <a:ext cx="160020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163310" y="1463040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EF6C00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181598" y="149961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sklearn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163310" y="2121408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EF6C00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181598" y="215798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RDKit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163310" y="2779776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EF6C00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181598" y="28163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evaluate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163310" y="3438144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EF6C00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181598" y="34747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MLflow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163310" y="4096512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EF6C00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181598" y="413308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Custom benchmarks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809230" y="914400"/>
            <a:ext cx="1600200" cy="384048"/>
          </a:xfrm>
          <a:prstGeom prst="roundRect">
            <a:avLst>
              <a:gd name="adj" fmla="val 16667"/>
            </a:avLst>
          </a:prstGeom>
          <a:solidFill>
            <a:srgbClr val="558B2F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7809230" y="9144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1100" b="1" dirty="0">
                <a:solidFill>
                  <a:srgbClr val="FFFFFF"/>
                </a:solidFill>
                <a:latin typeface="Calibri" panose="020F0502020204030204"/>
              </a:rPr>
              <a:t>Despliegue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809230" y="1353312"/>
            <a:ext cx="160020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7900670" y="1463040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558B2F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918958" y="149961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Ollama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900670" y="2121408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558B2F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918958" y="215798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FastAPI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7900670" y="2779776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558B2F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918958" y="28163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Groq API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900670" y="3438144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558B2F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918958" y="34747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Docker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7900670" y="4096512"/>
            <a:ext cx="1417320" cy="548640"/>
          </a:xfrm>
          <a:prstGeom prst="roundRect">
            <a:avLst>
              <a:gd name="adj" fmla="val 8333"/>
            </a:avLst>
          </a:prstGeom>
          <a:solidFill>
            <a:srgbClr val="558B2F">
              <a:alpha val="1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7918958" y="413308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HF Inference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905510" y="4681728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E0F7FA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042670" y="470001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50" b="1" i="1" dirty="0">
                <a:solidFill>
                  <a:srgbClr val="00897B"/>
                </a:solidFill>
                <a:latin typeface="Calibri" panose="020F0502020204030204"/>
              </a:rPr>
              <a:t>Todo el stack es open-source y gratuito para uso académico/investigación. Costo operativo real: solo GPU en producción.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8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0550" y="-9144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563110" y="321733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6950" y="731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96950" y="2194560"/>
            <a:ext cx="3200400" cy="0"/>
          </a:xfrm>
          <a:prstGeom prst="line">
            <a:avLst/>
          </a:prstGeom>
          <a:noFill/>
          <a:ln w="25400">
            <a:solidFill>
              <a:srgbClr val="AED581"/>
            </a:solidFill>
            <a:prstDash val="solid"/>
          </a:ln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996950" y="2377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Desafíos y Futuro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695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400" i="1" dirty="0">
                <a:solidFill>
                  <a:srgbClr val="DCEDC8"/>
                </a:solidFill>
                <a:latin typeface="Calibri" panose="020F0502020204030204"/>
              </a:rPr>
              <a:t>Ética, regulación, limitaciones y hoja de ruta 2025–2027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4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Desafíos Técnicos, Éticos y Regulatorios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59790" y="9144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24382" y="1060704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14" y="1088136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3022" y="10607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C62828"/>
                </a:solidFill>
                <a:latin typeface="Calibri" panose="020F0502020204030204"/>
              </a:rPr>
              <a:t>Alucinaciones persistentes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6950" y="1609344"/>
            <a:ext cx="24231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El modelo puede generar SMILES sintetizables pero inactivos. Siempre validar con RDKit + docking.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94430" y="9144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859022" y="1060704"/>
            <a:ext cx="457200" cy="457200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454" y="108813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07662" y="10607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7B1FA2"/>
                </a:solidFill>
                <a:latin typeface="Calibri" panose="020F0502020204030204"/>
              </a:rPr>
              <a:t>Privacidad de datos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831590" y="1609344"/>
            <a:ext cx="24231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Datos de ensayos clínicos son altamente confidenciales. Usar on-premise o federated learning.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529070" y="9144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693662" y="1060704"/>
            <a:ext cx="457200" cy="457200"/>
          </a:xfrm>
          <a:prstGeom prst="ellipse">
            <a:avLst/>
          </a:prstGeom>
          <a:solidFill>
            <a:srgbClr val="EF6C0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094" y="1088136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42302" y="10607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EF6C00"/>
                </a:solidFill>
                <a:latin typeface="Calibri" panose="020F0502020204030204"/>
              </a:rPr>
              <a:t>Validación experimental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666230" y="1609344"/>
            <a:ext cx="24231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Los resultados in silico deben confirmarse en laboratorio. El modelo no reemplaza al experto.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859790" y="283464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1024382" y="2980944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814" y="3008376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73022" y="29809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1565C0"/>
                </a:solidFill>
                <a:latin typeface="Calibri" panose="020F0502020204030204"/>
              </a:rPr>
              <a:t>Regulación FDA/EMA/ICH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996950" y="3529584"/>
            <a:ext cx="24231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Los modelos de IA en drug discovery deben cumplir FDA AI/ML Framework (2025) y guías ICH.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3694430" y="283464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859022" y="2980944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454" y="3008376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407662" y="29809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00897B"/>
                </a:solidFill>
                <a:latin typeface="Calibri" panose="020F0502020204030204"/>
              </a:rPr>
              <a:t>Escasez de datos anotados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3831590" y="3529584"/>
            <a:ext cx="24231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Los datos de Pharma son costosos y privados. Técnicas como data augmentation y transfer learning son clave.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6529070" y="283464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693662" y="2980944"/>
            <a:ext cx="457200" cy="457200"/>
          </a:xfrm>
          <a:prstGeom prst="ellipse">
            <a:avLst/>
          </a:prstGeom>
          <a:solidFill>
            <a:srgbClr val="558B2F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1094" y="3008376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42302" y="29809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b="1" dirty="0">
                <a:solidFill>
                  <a:srgbClr val="558B2F"/>
                </a:solidFill>
                <a:latin typeface="Calibri" panose="020F0502020204030204"/>
              </a:rPr>
              <a:t>Drift y reentrenamiento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6666230" y="3529584"/>
            <a:ext cx="24231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950" dirty="0">
                <a:solidFill>
                  <a:srgbClr val="2E4057"/>
                </a:solidFill>
                <a:latin typeface="Calibri" panose="020F0502020204030204"/>
              </a:rPr>
              <a:t>El modelo necesita actualizarse cuando llegan nuevos datos o cambian los estándares regulatorios.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51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6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Hoja de Ruta: PharmaAI 2025–2027</a:t>
            </a:r>
            <a:endParaRPr lang="en-US" sz="2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05510" y="9144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05510" y="9144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05510" y="960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50" b="1" dirty="0">
                <a:solidFill>
                  <a:srgbClr val="FFFFFF"/>
                </a:solidFill>
                <a:latin typeface="Calibri" panose="020F0502020204030204"/>
              </a:rPr>
              <a:t>Fase 1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950" b="1" dirty="0">
                <a:solidFill>
                  <a:srgbClr val="FFFFFF"/>
                </a:solidFill>
                <a:latin typeface="Calibri" panose="020F0502020204030204"/>
              </a:rPr>
              <a:t>2025 Q3–Q4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5510" y="1353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88390" y="1993392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16990" y="193852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Fine-tune Llama-8B en datos propios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88390" y="2633472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16990" y="25786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Predicción ADMET interna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88390" y="3273552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16990" y="321868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Validación con 100 compuestos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88390" y="3913632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16990" y="38587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Equipo: 2 data scientists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740150" y="9144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740150" y="9144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40150" y="960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50" b="1" dirty="0">
                <a:solidFill>
                  <a:srgbClr val="FFFFFF"/>
                </a:solidFill>
                <a:latin typeface="Calibri" panose="020F0502020204030204"/>
              </a:rPr>
              <a:t>Fase 2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950" b="1" dirty="0">
                <a:solidFill>
                  <a:srgbClr val="FFFFFF"/>
                </a:solidFill>
                <a:latin typeface="Calibri" panose="020F0502020204030204"/>
              </a:rPr>
              <a:t>2026 Q1–Q2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40150" y="1353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Expansión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923030" y="1993392"/>
            <a:ext cx="164592" cy="164592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51630" y="193852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DTI para 3 targets prioritarios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23030" y="2633472"/>
            <a:ext cx="164592" cy="164592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51630" y="25786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Pipeline automatizado CI/CD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923030" y="3273552"/>
            <a:ext cx="164592" cy="164592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151630" y="321868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Integración con ELN/LIMS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923030" y="3913632"/>
            <a:ext cx="164592" cy="164592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51630" y="38587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Equipo: 5 personas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74790" y="91440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74790" y="9144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74790" y="960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950" b="1" dirty="0">
                <a:solidFill>
                  <a:srgbClr val="FFFFFF"/>
                </a:solidFill>
                <a:latin typeface="Calibri" panose="020F0502020204030204"/>
              </a:rPr>
              <a:t>Fase 3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400"/>
            <a:r>
              <a:rPr lang="en-US" sz="950" b="1" dirty="0">
                <a:solidFill>
                  <a:srgbClr val="FFFFFF"/>
                </a:solidFill>
                <a:latin typeface="Calibri" panose="020F0502020204030204"/>
              </a:rPr>
              <a:t>2026 Q3–2027</a:t>
            </a:r>
            <a:endParaRPr lang="en-US" sz="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74790" y="1353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757670" y="1993392"/>
            <a:ext cx="164592" cy="164592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986270" y="193852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Multimodal: 3D + espectros + texto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757670" y="2633472"/>
            <a:ext cx="164592" cy="164592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986270" y="25786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Modelo 70B para producción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757670" y="3273552"/>
            <a:ext cx="164592" cy="164592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986270" y="321868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Certificación FDA AI/ML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757670" y="3913632"/>
            <a:ext cx="164592" cy="164592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986270" y="38587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00" dirty="0">
                <a:solidFill>
                  <a:srgbClr val="0A1929"/>
                </a:solidFill>
                <a:latin typeface="Calibri" panose="020F0502020204030204"/>
              </a:rPr>
              <a:t>Plataforma SaaS interna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05510" y="466344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E8EAF6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42670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050" b="1" i="1" dirty="0">
                <a:solidFill>
                  <a:srgbClr val="1565C0"/>
                </a:solidFill>
                <a:latin typeface="Calibri" panose="020F0502020204030204"/>
              </a:rPr>
              <a:t>ROI esperado: reducir tiempo de hit-to-lead de 18 meses a 6–8 meses, con 40% menor costo en screening inicial.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8335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831850" y="2286000"/>
            <a:ext cx="3657600" cy="3657600"/>
          </a:xfrm>
          <a:prstGeom prst="ellipse">
            <a:avLst/>
          </a:prstGeom>
          <a:solidFill>
            <a:srgbClr val="00BFA5">
              <a:alpha val="10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695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Clave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96950" y="914400"/>
            <a:ext cx="411480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solid"/>
          </a:ln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1230" y="1078992"/>
            <a:ext cx="411480" cy="411480"/>
          </a:xfrm>
          <a:prstGeom prst="ellipse">
            <a:avLst/>
          </a:prstGeom>
          <a:solidFill>
            <a:srgbClr val="00BFA5">
              <a:alpha val="80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123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1100" b="1" dirty="0">
                <a:solidFill>
                  <a:srgbClr val="00BFA5"/>
                </a:solidFill>
                <a:latin typeface="Calibri" panose="020F0502020204030204"/>
              </a:rPr>
              <a:t>01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99870" y="107899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50" dirty="0">
                <a:solidFill>
                  <a:srgbClr val="FFFFFF"/>
                </a:solidFill>
                <a:latin typeface="Calibri" panose="020F0502020204030204"/>
              </a:rPr>
              <a:t>Fine-tuning con QLoRA democratizó el entrenamiento especializado — cualquier equipo con Colab puede hacerlo.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51230" y="1792224"/>
            <a:ext cx="411480" cy="411480"/>
          </a:xfrm>
          <a:prstGeom prst="ellipse">
            <a:avLst/>
          </a:prstGeom>
          <a:solidFill>
            <a:srgbClr val="26C6DA">
              <a:alpha val="80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51230" y="1792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1100" b="1" dirty="0">
                <a:solidFill>
                  <a:srgbClr val="26C6DA"/>
                </a:solidFill>
                <a:latin typeface="Calibri" panose="020F0502020204030204"/>
              </a:rPr>
              <a:t>02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99870" y="1792224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50" dirty="0">
                <a:solidFill>
                  <a:srgbClr val="FFFFFF"/>
                </a:solidFill>
                <a:latin typeface="Calibri" panose="020F0502020204030204"/>
              </a:rPr>
              <a:t>Los LLMs fine-tuneados superan a los modelos base en tareas específicas de Pharma (ADMET, DTI, generación de moléculas).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51230" y="2505456"/>
            <a:ext cx="411480" cy="411480"/>
          </a:xfrm>
          <a:prstGeom prst="ellipse">
            <a:avLst/>
          </a:prstGeom>
          <a:solidFill>
            <a:srgbClr val="81D4FA">
              <a:alpha val="80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51230" y="2505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1100" b="1" dirty="0">
                <a:solidFill>
                  <a:srgbClr val="81D4FA"/>
                </a:solidFill>
                <a:latin typeface="Calibri" panose="020F0502020204030204"/>
              </a:rPr>
              <a:t>03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99870" y="2505456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50" dirty="0">
                <a:solidFill>
                  <a:srgbClr val="FFFFFF"/>
                </a:solidFill>
                <a:latin typeface="Calibri" panose="020F0502020204030204"/>
              </a:rPr>
              <a:t>El pipeline es sistemático: datos → formato → QLoRA → evaluación → despliegue. Cada paso es crítico.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51230" y="3218688"/>
            <a:ext cx="411480" cy="411480"/>
          </a:xfrm>
          <a:prstGeom prst="ellipse">
            <a:avLst/>
          </a:prstGeom>
          <a:solidFill>
            <a:srgbClr val="A5D6A7">
              <a:alpha val="80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5123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1100" b="1" dirty="0">
                <a:solidFill>
                  <a:srgbClr val="A5D6A7"/>
                </a:solidFill>
                <a:latin typeface="Calibri" panose="020F0502020204030204"/>
              </a:rPr>
              <a:t>04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99870" y="321868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50" dirty="0">
                <a:solidFill>
                  <a:srgbClr val="FFFFFF"/>
                </a:solidFill>
                <a:latin typeface="Calibri" panose="020F0502020204030204"/>
              </a:rPr>
              <a:t>La validación experimental y el cumplimiento regulatorio (FDA AI/ML) son no negociables en Pharma.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51230" y="3931920"/>
            <a:ext cx="411480" cy="411480"/>
          </a:xfrm>
          <a:prstGeom prst="ellipse">
            <a:avLst/>
          </a:prstGeom>
          <a:solidFill>
            <a:srgbClr val="FFCC80">
              <a:alpha val="80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5123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00"/>
            <a:r>
              <a:rPr lang="en-US" sz="1100" b="1" dirty="0">
                <a:solidFill>
                  <a:srgbClr val="FFCC80"/>
                </a:solidFill>
                <a:latin typeface="Calibri" panose="020F0502020204030204"/>
              </a:rPr>
              <a:t>05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99870" y="393192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150" dirty="0">
                <a:solidFill>
                  <a:srgbClr val="FFFFFF"/>
                </a:solidFill>
                <a:latin typeface="Calibri" panose="020F0502020204030204"/>
              </a:rPr>
              <a:t>El ROI es claro: reducción del 60–70% en tiempo de screening inicial. La IA no reemplaza al científico, lo amplifica.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5510" y="457200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FA5">
              <a:alpha val="85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42670" y="459028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914400"/>
            <a:r>
              <a:rPr lang="en-US" sz="1100" i="1" dirty="0">
                <a:solidFill>
                  <a:srgbClr val="0A2540"/>
                </a:solidFill>
                <a:latin typeface="Calibri" panose="020F0502020204030204"/>
              </a:rPr>
              <a:t>"El futuro del descubrimiento de fármacos es colaboración entre expertos en química, biología e inteligencia artificial."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97750" y="-9144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374650" y="2743200"/>
            <a:ext cx="3657600" cy="3657600"/>
          </a:xfrm>
          <a:prstGeom prst="ellipse">
            <a:avLst/>
          </a:prstGeom>
          <a:solidFill>
            <a:srgbClr val="00BFA5">
              <a:alpha val="12000"/>
            </a:srgbClr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5248910" y="580645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6950" y="731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5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99695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2400" dirty="0">
                <a:solidFill>
                  <a:srgbClr val="00B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996950" y="2377440"/>
            <a:ext cx="457200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solid"/>
          </a:ln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6950" y="2606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300" b="1" dirty="0">
                <a:solidFill>
                  <a:srgbClr val="FFFFFF"/>
                </a:solidFill>
                <a:latin typeface="Calibri" panose="020F0502020204030204"/>
              </a:rPr>
              <a:t>Recursos para empezar: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96950" y="3063240"/>
            <a:ext cx="182880" cy="182880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71270" y="3017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B3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github.com/unslothai/unsloth  →  Fine-tuning eficiente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96950" y="3474720"/>
            <a:ext cx="182880" cy="182880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71270" y="3429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B3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huggingface.co/datasets       →  MoleculeNet, ChEMBL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96950" y="3886200"/>
            <a:ext cx="182880" cy="182880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71270" y="3840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B3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colab.research.google.com     →  Entrenamiento gratuito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96950" y="4297680"/>
            <a:ext cx="182880" cy="182880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pPr defTabSz="914400"/>
            <a:endParaRPr lang="es-CL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271270" y="4251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050" dirty="0">
                <a:solidFill>
                  <a:srgbClr val="B3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github.com/rdkit/rdkit        →  Validación molecular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96950" y="4617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914400"/>
            <a:r>
              <a:rPr lang="en-US" sz="1400" b="1" dirty="0">
                <a:solidFill>
                  <a:srgbClr val="00B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26" name="Picture 2" descr="Descubrimiento de fármacos: Más de 115 mil ilustraciones y ...">
            <a:extLst>
              <a:ext uri="{FF2B5EF4-FFF2-40B4-BE49-F238E27FC236}">
                <a16:creationId xmlns:a16="http://schemas.microsoft.com/office/drawing/2014/main" id="{B76FF8F6-AE65-B828-B786-9A9F74A03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285" y="2916937"/>
            <a:ext cx="3140460" cy="171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144</TotalTime>
  <Words>5258</Words>
  <Application>Microsoft Office PowerPoint</Application>
  <PresentationFormat>Personalizado</PresentationFormat>
  <Paragraphs>1008</Paragraphs>
  <Slides>58</Slides>
  <Notes>56</Notes>
  <HiddenSlides>2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58</vt:i4>
      </vt:variant>
    </vt:vector>
  </HeadingPairs>
  <TitlesOfParts>
    <vt:vector size="67" baseType="lpstr">
      <vt:lpstr>Aptos</vt:lpstr>
      <vt:lpstr>Arial</vt:lpstr>
      <vt:lpstr>Calibri</vt:lpstr>
      <vt:lpstr>Calibri Light</vt:lpstr>
      <vt:lpstr>Cambria</vt:lpstr>
      <vt:lpstr>Courier New</vt:lpstr>
      <vt:lpstr>Dosis</vt:lpstr>
      <vt:lpstr>Office 2013 - Tema de 2022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Bots 2025 - IA Conversacional</dc:title>
  <dc:subject>PptxGenJS Presentation</dc:subject>
  <dc:creator>Osvaldo Yáñez Osses</dc:creator>
  <cp:lastModifiedBy>Osvaldo Andres Yañez Osses</cp:lastModifiedBy>
  <cp:revision>29</cp:revision>
  <dcterms:created xsi:type="dcterms:W3CDTF">2026-05-16T03:58:16Z</dcterms:created>
  <dcterms:modified xsi:type="dcterms:W3CDTF">2026-08-12T13:43:50Z</dcterms:modified>
</cp:coreProperties>
</file>
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  <p:sldMasterId id="2147483652" r:id="rId2"/>
  </p:sldMasterIdLst>
  <p:notesMasterIdLst>
    <p:notesMasterId r:id="rId79"/>
  </p:notesMasterIdLst>
  <p:sldIdLst>
    <p:sldId id="436" r:id="rId3"/>
    <p:sldId id="443" r:id="rId4"/>
    <p:sldId id="307" r:id="rId5"/>
    <p:sldId id="308" r:id="rId6"/>
    <p:sldId id="309" r:id="rId7"/>
    <p:sldId id="311" r:id="rId8"/>
    <p:sldId id="312" r:id="rId9"/>
    <p:sldId id="313" r:id="rId10"/>
    <p:sldId id="315" r:id="rId11"/>
    <p:sldId id="316" r:id="rId12"/>
    <p:sldId id="317" r:id="rId13"/>
    <p:sldId id="289" r:id="rId14"/>
    <p:sldId id="320" r:id="rId15"/>
    <p:sldId id="321" r:id="rId16"/>
    <p:sldId id="318" r:id="rId17"/>
    <p:sldId id="319" r:id="rId18"/>
    <p:sldId id="291" r:id="rId19"/>
    <p:sldId id="292" r:id="rId20"/>
    <p:sldId id="293" r:id="rId21"/>
    <p:sldId id="305" r:id="rId22"/>
    <p:sldId id="322" r:id="rId23"/>
    <p:sldId id="323" r:id="rId24"/>
    <p:sldId id="295" r:id="rId25"/>
    <p:sldId id="296" r:id="rId26"/>
    <p:sldId id="298" r:id="rId27"/>
    <p:sldId id="299" r:id="rId28"/>
    <p:sldId id="326" r:id="rId29"/>
    <p:sldId id="333" r:id="rId30"/>
    <p:sldId id="369" r:id="rId31"/>
    <p:sldId id="438" r:id="rId32"/>
    <p:sldId id="334" r:id="rId33"/>
    <p:sldId id="439" r:id="rId34"/>
    <p:sldId id="338" r:id="rId35"/>
    <p:sldId id="440" r:id="rId36"/>
    <p:sldId id="441" r:id="rId37"/>
    <p:sldId id="357" r:id="rId38"/>
    <p:sldId id="358" r:id="rId39"/>
    <p:sldId id="359" r:id="rId40"/>
    <p:sldId id="442" r:id="rId41"/>
    <p:sldId id="368" r:id="rId42"/>
    <p:sldId id="375" r:id="rId43"/>
    <p:sldId id="413" r:id="rId44"/>
    <p:sldId id="414" r:id="rId45"/>
    <p:sldId id="418" r:id="rId46"/>
    <p:sldId id="419" r:id="rId47"/>
    <p:sldId id="420" r:id="rId48"/>
    <p:sldId id="379" r:id="rId49"/>
    <p:sldId id="380" r:id="rId50"/>
    <p:sldId id="382" r:id="rId51"/>
    <p:sldId id="423" r:id="rId52"/>
    <p:sldId id="425" r:id="rId53"/>
    <p:sldId id="426" r:id="rId54"/>
    <p:sldId id="427" r:id="rId55"/>
    <p:sldId id="383" r:id="rId56"/>
    <p:sldId id="384" r:id="rId57"/>
    <p:sldId id="386" r:id="rId58"/>
    <p:sldId id="433" r:id="rId59"/>
    <p:sldId id="421" r:id="rId60"/>
    <p:sldId id="429" r:id="rId61"/>
    <p:sldId id="430" r:id="rId62"/>
    <p:sldId id="387" r:id="rId63"/>
    <p:sldId id="388" r:id="rId64"/>
    <p:sldId id="390" r:id="rId65"/>
    <p:sldId id="391" r:id="rId66"/>
    <p:sldId id="435" r:id="rId67"/>
    <p:sldId id="395" r:id="rId68"/>
    <p:sldId id="396" r:id="rId69"/>
    <p:sldId id="397" r:id="rId70"/>
    <p:sldId id="398" r:id="rId71"/>
    <p:sldId id="399" r:id="rId72"/>
    <p:sldId id="400" r:id="rId73"/>
    <p:sldId id="401" r:id="rId74"/>
    <p:sldId id="402" r:id="rId75"/>
    <p:sldId id="403" r:id="rId76"/>
    <p:sldId id="416" r:id="rId77"/>
    <p:sldId id="267" r:id="rId78"/>
  </p:sldIdLst>
  <p:sldSz cx="9144000" cy="5143500" type="screen16x9"/>
  <p:notesSz cx="6858000" cy="9144000"/>
  <p:embeddedFontLst>
    <p:embeddedFont>
      <p:font typeface="Dosis" pitchFamily="2" charset="0"/>
      <p:regular r:id="rId80"/>
      <p:bold r:id="rId81"/>
    </p:embeddedFont>
    <p:embeddedFont>
      <p:font typeface="Roboto" panose="02000000000000000000" pitchFamily="2" charset="0"/>
      <p:regular r:id="rId82"/>
      <p:bold r:id="rId83"/>
      <p:italic r:id="rId84"/>
      <p:boldItalic r:id="rId8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06" roundtripDataSignature="AMtx7mh544azCFtrdFi8+SvU2d64Ilec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474" autoAdjust="0"/>
  </p:normalViewPr>
  <p:slideViewPr>
    <p:cSldViewPr snapToGrid="0">
      <p:cViewPr varScale="1">
        <p:scale>
          <a:sx n="88" d="100"/>
          <a:sy n="88" d="100"/>
        </p:scale>
        <p:origin x="46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10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76" Type="http://schemas.openxmlformats.org/officeDocument/2006/relationships/slide" Target="slides/slide74.xml"/><Relationship Id="rId84" Type="http://schemas.openxmlformats.org/officeDocument/2006/relationships/font" Target="fonts/font5.fntdata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07" Type="http://schemas.openxmlformats.org/officeDocument/2006/relationships/presProps" Target="presProps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slide" Target="slides/slide72.xml"/><Relationship Id="rId79" Type="http://schemas.openxmlformats.org/officeDocument/2006/relationships/notesMaster" Target="notesMasters/notesMaster1.xml"/><Relationship Id="rId110" Type="http://schemas.openxmlformats.org/officeDocument/2006/relationships/tableStyles" Target="tableStyle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font" Target="fonts/font3.fntdata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font" Target="fonts/font1.fntdata"/><Relationship Id="rId85" Type="http://schemas.openxmlformats.org/officeDocument/2006/relationships/font" Target="fonts/font6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108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font" Target="fonts/font4.fntdata"/><Relationship Id="rId11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6" Type="http://customschemas.google.com/relationships/presentationmetadata" Target="metadata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font" Target="fonts/font2.fntdata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a Paz Gonzalez Cornejo" userId="021b45771bbfed2b" providerId="LiveId" clId="{71B5E25F-E1E6-4A57-8895-45B6FDC8E1EA}"/>
    <pc:docChg chg="modSld">
      <pc:chgData name="Daniela Paz Gonzalez Cornejo" userId="021b45771bbfed2b" providerId="LiveId" clId="{71B5E25F-E1E6-4A57-8895-45B6FDC8E1EA}" dt="2022-10-25T12:02:32.777" v="0" actId="20577"/>
      <pc:docMkLst>
        <pc:docMk/>
      </pc:docMkLst>
      <pc:sldChg chg="modSp mod">
        <pc:chgData name="Daniela Paz Gonzalez Cornejo" userId="021b45771bbfed2b" providerId="LiveId" clId="{71B5E25F-E1E6-4A57-8895-45B6FDC8E1EA}" dt="2022-10-25T12:02:32.777" v="0" actId="20577"/>
        <pc:sldMkLst>
          <pc:docMk/>
          <pc:sldMk cId="0" sldId="256"/>
        </pc:sldMkLst>
        <pc:spChg chg="mod">
          <ac:chgData name="Daniela Paz Gonzalez Cornejo" userId="021b45771bbfed2b" providerId="LiveId" clId="{71B5E25F-E1E6-4A57-8895-45B6FDC8E1EA}" dt="2022-10-25T12:02:32.777" v="0" actId="20577"/>
          <ac:spMkLst>
            <pc:docMk/>
            <pc:sldMk cId="0" sldId="256"/>
            <ac:spMk id="41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3CD7CF6-50E3-4CFE-B598-F0E2D3E527E3}" type="doc">
      <dgm:prSet loTypeId="urn:microsoft.com/office/officeart/2005/8/layout/bProcess4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CL"/>
        </a:p>
      </dgm:t>
    </dgm:pt>
    <dgm:pt modelId="{834B8872-B56E-4B17-B899-0D7A6BDE0745}">
      <dgm:prSet phldrT="[Texto]"/>
      <dgm:spPr/>
      <dgm:t>
        <a:bodyPr/>
        <a:lstStyle/>
        <a:p>
          <a:pPr>
            <a:buNone/>
          </a:pPr>
          <a:r>
            <a:rPr lang="es-CL" b="1" i="0" dirty="0">
              <a:solidFill>
                <a:schemeClr val="tx1"/>
              </a:solidFill>
            </a:rPr>
            <a:t>Definición del Problema</a:t>
          </a:r>
        </a:p>
        <a:p>
          <a:pPr>
            <a:buNone/>
          </a:pPr>
          <a:r>
            <a:rPr lang="es-ES" b="0" i="0" dirty="0">
              <a:solidFill>
                <a:schemeClr val="tx1"/>
              </a:solidFill>
            </a:rPr>
            <a:t>Identificar objetivos y preguntas de negocio</a:t>
          </a:r>
          <a:endParaRPr lang="es-CL" dirty="0">
            <a:solidFill>
              <a:schemeClr val="tx1"/>
            </a:solidFill>
          </a:endParaRPr>
        </a:p>
      </dgm:t>
    </dgm:pt>
    <dgm:pt modelId="{F6795503-EE95-4F76-9670-80AB0AD2336F}" type="parTrans" cxnId="{C67B8A3A-AC86-475E-B32C-C528D9B81FDA}">
      <dgm:prSet/>
      <dgm:spPr/>
      <dgm:t>
        <a:bodyPr/>
        <a:lstStyle/>
        <a:p>
          <a:endParaRPr lang="es-CL">
            <a:solidFill>
              <a:schemeClr val="tx1"/>
            </a:solidFill>
          </a:endParaRPr>
        </a:p>
      </dgm:t>
    </dgm:pt>
    <dgm:pt modelId="{FEF7546F-8003-4355-9CDC-B8E4882F3B85}" type="sibTrans" cxnId="{C67B8A3A-AC86-475E-B32C-C528D9B81FDA}">
      <dgm:prSet/>
      <dgm:spPr/>
      <dgm:t>
        <a:bodyPr/>
        <a:lstStyle/>
        <a:p>
          <a:endParaRPr lang="es-CL">
            <a:solidFill>
              <a:schemeClr val="tx1"/>
            </a:solidFill>
          </a:endParaRPr>
        </a:p>
      </dgm:t>
    </dgm:pt>
    <dgm:pt modelId="{A441CC66-D622-4417-806B-B93D7F80FFE9}">
      <dgm:prSet phldrT="[Texto]"/>
      <dgm:spPr/>
      <dgm:t>
        <a:bodyPr/>
        <a:lstStyle/>
        <a:p>
          <a:pPr>
            <a:buNone/>
          </a:pPr>
          <a:r>
            <a:rPr lang="es-CL" b="1" i="0" dirty="0">
              <a:solidFill>
                <a:schemeClr val="bg1"/>
              </a:solidFill>
            </a:rPr>
            <a:t>Recolección de Datos</a:t>
          </a:r>
        </a:p>
        <a:p>
          <a:pPr>
            <a:buNone/>
          </a:pPr>
          <a:r>
            <a:rPr lang="es-ES" b="0" i="0" dirty="0">
              <a:solidFill>
                <a:schemeClr val="bg1"/>
              </a:solidFill>
            </a:rPr>
            <a:t>Obtener, integrar y almacenar datos relevantes</a:t>
          </a:r>
          <a:endParaRPr lang="es-CL" dirty="0">
            <a:solidFill>
              <a:schemeClr val="bg1"/>
            </a:solidFill>
          </a:endParaRPr>
        </a:p>
      </dgm:t>
    </dgm:pt>
    <dgm:pt modelId="{7D25EF81-677B-4107-9C89-82463CE47C25}" type="parTrans" cxnId="{079C7450-5A2C-4B3F-B4ED-707F521CDF8A}">
      <dgm:prSet/>
      <dgm:spPr/>
      <dgm:t>
        <a:bodyPr/>
        <a:lstStyle/>
        <a:p>
          <a:endParaRPr lang="es-CL">
            <a:solidFill>
              <a:schemeClr val="tx1"/>
            </a:solidFill>
          </a:endParaRPr>
        </a:p>
      </dgm:t>
    </dgm:pt>
    <dgm:pt modelId="{4BEA24C1-3F86-4F27-8FA1-D19A54FDEC77}" type="sibTrans" cxnId="{079C7450-5A2C-4B3F-B4ED-707F521CDF8A}">
      <dgm:prSet/>
      <dgm:spPr/>
      <dgm:t>
        <a:bodyPr/>
        <a:lstStyle/>
        <a:p>
          <a:endParaRPr lang="es-CL">
            <a:solidFill>
              <a:schemeClr val="tx1"/>
            </a:solidFill>
          </a:endParaRPr>
        </a:p>
      </dgm:t>
    </dgm:pt>
    <dgm:pt modelId="{6C2B2F1D-1F1C-4CDA-9697-D9167BDF7006}">
      <dgm:prSet phldrT="[Texto]"/>
      <dgm:spPr/>
      <dgm:t>
        <a:bodyPr/>
        <a:lstStyle/>
        <a:p>
          <a:pPr>
            <a:buNone/>
          </a:pPr>
          <a:r>
            <a:rPr lang="es-CL" b="1" i="0" dirty="0">
              <a:solidFill>
                <a:schemeClr val="tx1"/>
              </a:solidFill>
            </a:rPr>
            <a:t>Limpieza y Preparación</a:t>
          </a:r>
        </a:p>
        <a:p>
          <a:pPr>
            <a:buNone/>
          </a:pPr>
          <a:r>
            <a:rPr lang="es-ES" b="0" i="0" dirty="0">
              <a:solidFill>
                <a:schemeClr val="tx1"/>
              </a:solidFill>
            </a:rPr>
            <a:t>Procesar, limpiar y transformar los datos</a:t>
          </a:r>
          <a:endParaRPr lang="es-CL" dirty="0">
            <a:solidFill>
              <a:schemeClr val="tx1"/>
            </a:solidFill>
          </a:endParaRPr>
        </a:p>
      </dgm:t>
    </dgm:pt>
    <dgm:pt modelId="{743736C5-243B-4A3B-8E3A-E46823DE229A}" type="parTrans" cxnId="{9D5E7432-5D9D-48A0-9352-B897FF7E3EB0}">
      <dgm:prSet/>
      <dgm:spPr/>
      <dgm:t>
        <a:bodyPr/>
        <a:lstStyle/>
        <a:p>
          <a:endParaRPr lang="es-CL">
            <a:solidFill>
              <a:schemeClr val="tx1"/>
            </a:solidFill>
          </a:endParaRPr>
        </a:p>
      </dgm:t>
    </dgm:pt>
    <dgm:pt modelId="{AAAD3B6F-3A70-4D93-B82E-9A45AA9B49BC}" type="sibTrans" cxnId="{9D5E7432-5D9D-48A0-9352-B897FF7E3EB0}">
      <dgm:prSet/>
      <dgm:spPr/>
      <dgm:t>
        <a:bodyPr/>
        <a:lstStyle/>
        <a:p>
          <a:endParaRPr lang="es-CL">
            <a:solidFill>
              <a:schemeClr val="tx1"/>
            </a:solidFill>
          </a:endParaRPr>
        </a:p>
      </dgm:t>
    </dgm:pt>
    <dgm:pt modelId="{260D2B2F-4046-4C37-94BB-A0F3047ED14D}">
      <dgm:prSet phldrT="[Texto]"/>
      <dgm:spPr/>
      <dgm:t>
        <a:bodyPr/>
        <a:lstStyle/>
        <a:p>
          <a:pPr>
            <a:buNone/>
          </a:pPr>
          <a:r>
            <a:rPr lang="es-CL" b="1" i="0" dirty="0">
              <a:solidFill>
                <a:schemeClr val="tx1"/>
              </a:solidFill>
            </a:rPr>
            <a:t>Análisis Exploratorio</a:t>
          </a:r>
        </a:p>
        <a:p>
          <a:pPr>
            <a:buNone/>
          </a:pPr>
          <a:r>
            <a:rPr lang="es-ES" b="0" i="0" dirty="0">
              <a:solidFill>
                <a:schemeClr val="tx1"/>
              </a:solidFill>
            </a:rPr>
            <a:t>Descubrir patrones y relaciones iniciales</a:t>
          </a:r>
          <a:endParaRPr lang="es-CL" dirty="0">
            <a:solidFill>
              <a:schemeClr val="tx1"/>
            </a:solidFill>
          </a:endParaRPr>
        </a:p>
      </dgm:t>
    </dgm:pt>
    <dgm:pt modelId="{E122D3AF-DCD0-4C06-9CE3-0BED619F8A05}" type="parTrans" cxnId="{2FFDDA0A-1081-4410-9484-BED4DB9AC93C}">
      <dgm:prSet/>
      <dgm:spPr/>
      <dgm:t>
        <a:bodyPr/>
        <a:lstStyle/>
        <a:p>
          <a:endParaRPr lang="es-CL">
            <a:solidFill>
              <a:schemeClr val="tx1"/>
            </a:solidFill>
          </a:endParaRPr>
        </a:p>
      </dgm:t>
    </dgm:pt>
    <dgm:pt modelId="{11B3A632-7781-410D-91F2-82BF666BD33B}" type="sibTrans" cxnId="{2FFDDA0A-1081-4410-9484-BED4DB9AC93C}">
      <dgm:prSet/>
      <dgm:spPr/>
      <dgm:t>
        <a:bodyPr/>
        <a:lstStyle/>
        <a:p>
          <a:endParaRPr lang="es-CL">
            <a:solidFill>
              <a:schemeClr val="tx1"/>
            </a:solidFill>
          </a:endParaRPr>
        </a:p>
      </dgm:t>
    </dgm:pt>
    <dgm:pt modelId="{22AA8938-DAB5-4F22-9E8D-6DF304F6C7B2}">
      <dgm:prSet phldrT="[Texto]"/>
      <dgm:spPr/>
      <dgm:t>
        <a:bodyPr/>
        <a:lstStyle/>
        <a:p>
          <a:pPr>
            <a:buNone/>
          </a:pPr>
          <a:r>
            <a:rPr lang="es-CL" b="1" i="0" dirty="0">
              <a:solidFill>
                <a:schemeClr val="tx1"/>
              </a:solidFill>
            </a:rPr>
            <a:t>Modelado</a:t>
          </a:r>
        </a:p>
        <a:p>
          <a:pPr>
            <a:buNone/>
          </a:pPr>
          <a:r>
            <a:rPr lang="es-ES" b="0" i="0" dirty="0">
              <a:solidFill>
                <a:schemeClr val="tx1"/>
              </a:solidFill>
            </a:rPr>
            <a:t>Construir y validar modelos predictivos</a:t>
          </a:r>
          <a:endParaRPr lang="es-CL" dirty="0">
            <a:solidFill>
              <a:schemeClr val="tx1"/>
            </a:solidFill>
          </a:endParaRPr>
        </a:p>
      </dgm:t>
    </dgm:pt>
    <dgm:pt modelId="{CA19600E-7195-4879-8D9B-87FE5EE5A3A4}" type="parTrans" cxnId="{F84043C7-779C-4660-B025-AD2616982995}">
      <dgm:prSet/>
      <dgm:spPr/>
      <dgm:t>
        <a:bodyPr/>
        <a:lstStyle/>
        <a:p>
          <a:endParaRPr lang="es-CL">
            <a:solidFill>
              <a:schemeClr val="tx1"/>
            </a:solidFill>
          </a:endParaRPr>
        </a:p>
      </dgm:t>
    </dgm:pt>
    <dgm:pt modelId="{4751BD8C-0D52-4556-A34A-92BE90DD6BB9}" type="sibTrans" cxnId="{F84043C7-779C-4660-B025-AD2616982995}">
      <dgm:prSet/>
      <dgm:spPr/>
      <dgm:t>
        <a:bodyPr/>
        <a:lstStyle/>
        <a:p>
          <a:endParaRPr lang="es-CL">
            <a:solidFill>
              <a:schemeClr val="tx1"/>
            </a:solidFill>
          </a:endParaRPr>
        </a:p>
      </dgm:t>
    </dgm:pt>
    <dgm:pt modelId="{603A8EBB-7EF1-4D2F-A558-3CACA3B65039}">
      <dgm:prSet phldrT="[Texto]"/>
      <dgm:spPr/>
      <dgm:t>
        <a:bodyPr/>
        <a:lstStyle/>
        <a:p>
          <a:pPr>
            <a:buNone/>
          </a:pPr>
          <a:r>
            <a:rPr lang="es-CL" b="1" i="0" dirty="0">
              <a:solidFill>
                <a:schemeClr val="tx1"/>
              </a:solidFill>
            </a:rPr>
            <a:t>Implementación</a:t>
          </a:r>
        </a:p>
        <a:p>
          <a:pPr>
            <a:buNone/>
          </a:pPr>
          <a:r>
            <a:rPr lang="es-ES" b="0" i="0" dirty="0">
              <a:solidFill>
                <a:schemeClr val="tx1"/>
              </a:solidFill>
            </a:rPr>
            <a:t>Desplegar y monitorear en producción</a:t>
          </a:r>
          <a:endParaRPr lang="es-CL" dirty="0">
            <a:solidFill>
              <a:schemeClr val="tx1"/>
            </a:solidFill>
          </a:endParaRPr>
        </a:p>
      </dgm:t>
    </dgm:pt>
    <dgm:pt modelId="{0CE06766-7573-4586-86D3-5CEA2ACBB0FA}" type="parTrans" cxnId="{30A51ADB-63ED-483A-9013-AC4FC531AF21}">
      <dgm:prSet/>
      <dgm:spPr/>
      <dgm:t>
        <a:bodyPr/>
        <a:lstStyle/>
        <a:p>
          <a:endParaRPr lang="es-CL">
            <a:solidFill>
              <a:schemeClr val="tx1"/>
            </a:solidFill>
          </a:endParaRPr>
        </a:p>
      </dgm:t>
    </dgm:pt>
    <dgm:pt modelId="{AA7AFACB-869F-4DA7-8430-E54B42699801}" type="sibTrans" cxnId="{30A51ADB-63ED-483A-9013-AC4FC531AF21}">
      <dgm:prSet/>
      <dgm:spPr/>
      <dgm:t>
        <a:bodyPr/>
        <a:lstStyle/>
        <a:p>
          <a:endParaRPr lang="es-CL">
            <a:solidFill>
              <a:schemeClr val="tx1"/>
            </a:solidFill>
          </a:endParaRPr>
        </a:p>
      </dgm:t>
    </dgm:pt>
    <dgm:pt modelId="{BD78F2F0-2CCE-42A1-BB3B-F102152AA0C9}" type="pres">
      <dgm:prSet presAssocID="{03CD7CF6-50E3-4CFE-B598-F0E2D3E527E3}" presName="Name0" presStyleCnt="0">
        <dgm:presLayoutVars>
          <dgm:dir/>
          <dgm:resizeHandles/>
        </dgm:presLayoutVars>
      </dgm:prSet>
      <dgm:spPr/>
    </dgm:pt>
    <dgm:pt modelId="{973C3143-9B63-47F2-ACB8-617B83B614DA}" type="pres">
      <dgm:prSet presAssocID="{834B8872-B56E-4B17-B899-0D7A6BDE0745}" presName="compNode" presStyleCnt="0"/>
      <dgm:spPr/>
    </dgm:pt>
    <dgm:pt modelId="{B28301C8-4774-4A28-85A9-E651227D283C}" type="pres">
      <dgm:prSet presAssocID="{834B8872-B56E-4B17-B899-0D7A6BDE0745}" presName="dummyConnPt" presStyleCnt="0"/>
      <dgm:spPr/>
    </dgm:pt>
    <dgm:pt modelId="{93E51721-35FC-4CA9-92C8-E63F2D1412F6}" type="pres">
      <dgm:prSet presAssocID="{834B8872-B56E-4B17-B899-0D7A6BDE0745}" presName="node" presStyleLbl="node1" presStyleIdx="0" presStyleCnt="6">
        <dgm:presLayoutVars>
          <dgm:bulletEnabled val="1"/>
        </dgm:presLayoutVars>
      </dgm:prSet>
      <dgm:spPr/>
    </dgm:pt>
    <dgm:pt modelId="{A493CD26-3738-4354-A23B-6632E5CB4947}" type="pres">
      <dgm:prSet presAssocID="{FEF7546F-8003-4355-9CDC-B8E4882F3B85}" presName="sibTrans" presStyleLbl="bgSibTrans2D1" presStyleIdx="0" presStyleCnt="5"/>
      <dgm:spPr/>
    </dgm:pt>
    <dgm:pt modelId="{9306428A-491D-4B4B-A966-4014433AE867}" type="pres">
      <dgm:prSet presAssocID="{A441CC66-D622-4417-806B-B93D7F80FFE9}" presName="compNode" presStyleCnt="0"/>
      <dgm:spPr/>
    </dgm:pt>
    <dgm:pt modelId="{058260D1-CFC1-48C3-B6C8-3ED1E4E54B1F}" type="pres">
      <dgm:prSet presAssocID="{A441CC66-D622-4417-806B-B93D7F80FFE9}" presName="dummyConnPt" presStyleCnt="0"/>
      <dgm:spPr/>
    </dgm:pt>
    <dgm:pt modelId="{CD1FD70A-46AC-4F30-AF01-AEC6ACD9B40C}" type="pres">
      <dgm:prSet presAssocID="{A441CC66-D622-4417-806B-B93D7F80FFE9}" presName="node" presStyleLbl="node1" presStyleIdx="1" presStyleCnt="6">
        <dgm:presLayoutVars>
          <dgm:bulletEnabled val="1"/>
        </dgm:presLayoutVars>
      </dgm:prSet>
      <dgm:spPr/>
    </dgm:pt>
    <dgm:pt modelId="{8512A3C2-EE12-4948-B776-4BA0BD5CF03B}" type="pres">
      <dgm:prSet presAssocID="{4BEA24C1-3F86-4F27-8FA1-D19A54FDEC77}" presName="sibTrans" presStyleLbl="bgSibTrans2D1" presStyleIdx="1" presStyleCnt="5"/>
      <dgm:spPr/>
    </dgm:pt>
    <dgm:pt modelId="{88F9C677-20B0-4A23-9EC0-36A14C261EE2}" type="pres">
      <dgm:prSet presAssocID="{6C2B2F1D-1F1C-4CDA-9697-D9167BDF7006}" presName="compNode" presStyleCnt="0"/>
      <dgm:spPr/>
    </dgm:pt>
    <dgm:pt modelId="{CDFB06B9-C1C7-483D-8C39-044DD63C4767}" type="pres">
      <dgm:prSet presAssocID="{6C2B2F1D-1F1C-4CDA-9697-D9167BDF7006}" presName="dummyConnPt" presStyleCnt="0"/>
      <dgm:spPr/>
    </dgm:pt>
    <dgm:pt modelId="{9F67D4A9-23E8-40AE-BEB2-7DAB814BF4FC}" type="pres">
      <dgm:prSet presAssocID="{6C2B2F1D-1F1C-4CDA-9697-D9167BDF7006}" presName="node" presStyleLbl="node1" presStyleIdx="2" presStyleCnt="6">
        <dgm:presLayoutVars>
          <dgm:bulletEnabled val="1"/>
        </dgm:presLayoutVars>
      </dgm:prSet>
      <dgm:spPr/>
    </dgm:pt>
    <dgm:pt modelId="{08C1A245-9DD8-4FDB-A58F-071C269FB956}" type="pres">
      <dgm:prSet presAssocID="{AAAD3B6F-3A70-4D93-B82E-9A45AA9B49BC}" presName="sibTrans" presStyleLbl="bgSibTrans2D1" presStyleIdx="2" presStyleCnt="5"/>
      <dgm:spPr/>
    </dgm:pt>
    <dgm:pt modelId="{BE616CD1-6961-4F3C-98D5-E606A80D1579}" type="pres">
      <dgm:prSet presAssocID="{260D2B2F-4046-4C37-94BB-A0F3047ED14D}" presName="compNode" presStyleCnt="0"/>
      <dgm:spPr/>
    </dgm:pt>
    <dgm:pt modelId="{EA9B219D-7982-4C77-9140-94472F8A7133}" type="pres">
      <dgm:prSet presAssocID="{260D2B2F-4046-4C37-94BB-A0F3047ED14D}" presName="dummyConnPt" presStyleCnt="0"/>
      <dgm:spPr/>
    </dgm:pt>
    <dgm:pt modelId="{3F4010A8-F172-49D3-A519-47EFFF020DA6}" type="pres">
      <dgm:prSet presAssocID="{260D2B2F-4046-4C37-94BB-A0F3047ED14D}" presName="node" presStyleLbl="node1" presStyleIdx="3" presStyleCnt="6">
        <dgm:presLayoutVars>
          <dgm:bulletEnabled val="1"/>
        </dgm:presLayoutVars>
      </dgm:prSet>
      <dgm:spPr/>
    </dgm:pt>
    <dgm:pt modelId="{F255A72F-5EB1-47E0-8E44-6F380B1CB939}" type="pres">
      <dgm:prSet presAssocID="{11B3A632-7781-410D-91F2-82BF666BD33B}" presName="sibTrans" presStyleLbl="bgSibTrans2D1" presStyleIdx="3" presStyleCnt="5"/>
      <dgm:spPr/>
    </dgm:pt>
    <dgm:pt modelId="{34FF869D-927E-41E7-A269-D39CB72DEC0F}" type="pres">
      <dgm:prSet presAssocID="{22AA8938-DAB5-4F22-9E8D-6DF304F6C7B2}" presName="compNode" presStyleCnt="0"/>
      <dgm:spPr/>
    </dgm:pt>
    <dgm:pt modelId="{9F90B2B8-0219-45C0-815B-5D4D14782E38}" type="pres">
      <dgm:prSet presAssocID="{22AA8938-DAB5-4F22-9E8D-6DF304F6C7B2}" presName="dummyConnPt" presStyleCnt="0"/>
      <dgm:spPr/>
    </dgm:pt>
    <dgm:pt modelId="{1AB93BFD-EF17-4F96-B9C6-AD70CA372DCF}" type="pres">
      <dgm:prSet presAssocID="{22AA8938-DAB5-4F22-9E8D-6DF304F6C7B2}" presName="node" presStyleLbl="node1" presStyleIdx="4" presStyleCnt="6">
        <dgm:presLayoutVars>
          <dgm:bulletEnabled val="1"/>
        </dgm:presLayoutVars>
      </dgm:prSet>
      <dgm:spPr/>
    </dgm:pt>
    <dgm:pt modelId="{EBBB2BB9-8D7D-4F0A-9514-FAD0FB5B0614}" type="pres">
      <dgm:prSet presAssocID="{4751BD8C-0D52-4556-A34A-92BE90DD6BB9}" presName="sibTrans" presStyleLbl="bgSibTrans2D1" presStyleIdx="4" presStyleCnt="5"/>
      <dgm:spPr/>
    </dgm:pt>
    <dgm:pt modelId="{6737A813-D402-4ACC-9C03-BC7FD57BE54B}" type="pres">
      <dgm:prSet presAssocID="{603A8EBB-7EF1-4D2F-A558-3CACA3B65039}" presName="compNode" presStyleCnt="0"/>
      <dgm:spPr/>
    </dgm:pt>
    <dgm:pt modelId="{D227D9E3-2F17-42B8-9AD3-EF76CEFED8A5}" type="pres">
      <dgm:prSet presAssocID="{603A8EBB-7EF1-4D2F-A558-3CACA3B65039}" presName="dummyConnPt" presStyleCnt="0"/>
      <dgm:spPr/>
    </dgm:pt>
    <dgm:pt modelId="{3CFDD24F-AC56-49BF-B18C-22D4061FB267}" type="pres">
      <dgm:prSet presAssocID="{603A8EBB-7EF1-4D2F-A558-3CACA3B65039}" presName="node" presStyleLbl="node1" presStyleIdx="5" presStyleCnt="6">
        <dgm:presLayoutVars>
          <dgm:bulletEnabled val="1"/>
        </dgm:presLayoutVars>
      </dgm:prSet>
      <dgm:spPr/>
    </dgm:pt>
  </dgm:ptLst>
  <dgm:cxnLst>
    <dgm:cxn modelId="{2FFDDA0A-1081-4410-9484-BED4DB9AC93C}" srcId="{03CD7CF6-50E3-4CFE-B598-F0E2D3E527E3}" destId="{260D2B2F-4046-4C37-94BB-A0F3047ED14D}" srcOrd="3" destOrd="0" parTransId="{E122D3AF-DCD0-4C06-9CE3-0BED619F8A05}" sibTransId="{11B3A632-7781-410D-91F2-82BF666BD33B}"/>
    <dgm:cxn modelId="{9D5E7432-5D9D-48A0-9352-B897FF7E3EB0}" srcId="{03CD7CF6-50E3-4CFE-B598-F0E2D3E527E3}" destId="{6C2B2F1D-1F1C-4CDA-9697-D9167BDF7006}" srcOrd="2" destOrd="0" parTransId="{743736C5-243B-4A3B-8E3A-E46823DE229A}" sibTransId="{AAAD3B6F-3A70-4D93-B82E-9A45AA9B49BC}"/>
    <dgm:cxn modelId="{C67B8A3A-AC86-475E-B32C-C528D9B81FDA}" srcId="{03CD7CF6-50E3-4CFE-B598-F0E2D3E527E3}" destId="{834B8872-B56E-4B17-B899-0D7A6BDE0745}" srcOrd="0" destOrd="0" parTransId="{F6795503-EE95-4F76-9670-80AB0AD2336F}" sibTransId="{FEF7546F-8003-4355-9CDC-B8E4882F3B85}"/>
    <dgm:cxn modelId="{AC3EC85E-0D8B-41A2-AF54-F1A3BD89DB98}" type="presOf" srcId="{22AA8938-DAB5-4F22-9E8D-6DF304F6C7B2}" destId="{1AB93BFD-EF17-4F96-B9C6-AD70CA372DCF}" srcOrd="0" destOrd="0" presId="urn:microsoft.com/office/officeart/2005/8/layout/bProcess4"/>
    <dgm:cxn modelId="{079C7450-5A2C-4B3F-B4ED-707F521CDF8A}" srcId="{03CD7CF6-50E3-4CFE-B598-F0E2D3E527E3}" destId="{A441CC66-D622-4417-806B-B93D7F80FFE9}" srcOrd="1" destOrd="0" parTransId="{7D25EF81-677B-4107-9C89-82463CE47C25}" sibTransId="{4BEA24C1-3F86-4F27-8FA1-D19A54FDEC77}"/>
    <dgm:cxn modelId="{159DF57D-E00B-425E-9424-7A9FDE06F6F3}" type="presOf" srcId="{03CD7CF6-50E3-4CFE-B598-F0E2D3E527E3}" destId="{BD78F2F0-2CCE-42A1-BB3B-F102152AA0C9}" srcOrd="0" destOrd="0" presId="urn:microsoft.com/office/officeart/2005/8/layout/bProcess4"/>
    <dgm:cxn modelId="{17FF2184-4090-43A3-B26C-1CFA7C9BC967}" type="presOf" srcId="{834B8872-B56E-4B17-B899-0D7A6BDE0745}" destId="{93E51721-35FC-4CA9-92C8-E63F2D1412F6}" srcOrd="0" destOrd="0" presId="urn:microsoft.com/office/officeart/2005/8/layout/bProcess4"/>
    <dgm:cxn modelId="{F5677B9B-F2AE-4105-93A1-C11F228631CA}" type="presOf" srcId="{4BEA24C1-3F86-4F27-8FA1-D19A54FDEC77}" destId="{8512A3C2-EE12-4948-B776-4BA0BD5CF03B}" srcOrd="0" destOrd="0" presId="urn:microsoft.com/office/officeart/2005/8/layout/bProcess4"/>
    <dgm:cxn modelId="{0FDDCA9B-40D1-478D-8211-D31BCEB38601}" type="presOf" srcId="{603A8EBB-7EF1-4D2F-A558-3CACA3B65039}" destId="{3CFDD24F-AC56-49BF-B18C-22D4061FB267}" srcOrd="0" destOrd="0" presId="urn:microsoft.com/office/officeart/2005/8/layout/bProcess4"/>
    <dgm:cxn modelId="{56D05E9C-2847-464A-B2C6-899060EEA96B}" type="presOf" srcId="{260D2B2F-4046-4C37-94BB-A0F3047ED14D}" destId="{3F4010A8-F172-49D3-A519-47EFFF020DA6}" srcOrd="0" destOrd="0" presId="urn:microsoft.com/office/officeart/2005/8/layout/bProcess4"/>
    <dgm:cxn modelId="{011AF1A8-778D-4A66-B711-52B467061C4F}" type="presOf" srcId="{4751BD8C-0D52-4556-A34A-92BE90DD6BB9}" destId="{EBBB2BB9-8D7D-4F0A-9514-FAD0FB5B0614}" srcOrd="0" destOrd="0" presId="urn:microsoft.com/office/officeart/2005/8/layout/bProcess4"/>
    <dgm:cxn modelId="{9D103BB1-BFAD-4CEC-AB26-F06B68B5F3F3}" type="presOf" srcId="{6C2B2F1D-1F1C-4CDA-9697-D9167BDF7006}" destId="{9F67D4A9-23E8-40AE-BEB2-7DAB814BF4FC}" srcOrd="0" destOrd="0" presId="urn:microsoft.com/office/officeart/2005/8/layout/bProcess4"/>
    <dgm:cxn modelId="{AAF709C3-FE07-42A6-BC0A-5E0B310475C8}" type="presOf" srcId="{AAAD3B6F-3A70-4D93-B82E-9A45AA9B49BC}" destId="{08C1A245-9DD8-4FDB-A58F-071C269FB956}" srcOrd="0" destOrd="0" presId="urn:microsoft.com/office/officeart/2005/8/layout/bProcess4"/>
    <dgm:cxn modelId="{F84043C7-779C-4660-B025-AD2616982995}" srcId="{03CD7CF6-50E3-4CFE-B598-F0E2D3E527E3}" destId="{22AA8938-DAB5-4F22-9E8D-6DF304F6C7B2}" srcOrd="4" destOrd="0" parTransId="{CA19600E-7195-4879-8D9B-87FE5EE5A3A4}" sibTransId="{4751BD8C-0D52-4556-A34A-92BE90DD6BB9}"/>
    <dgm:cxn modelId="{CF4599D2-E99B-4943-9347-152CAEE6F82C}" type="presOf" srcId="{FEF7546F-8003-4355-9CDC-B8E4882F3B85}" destId="{A493CD26-3738-4354-A23B-6632E5CB4947}" srcOrd="0" destOrd="0" presId="urn:microsoft.com/office/officeart/2005/8/layout/bProcess4"/>
    <dgm:cxn modelId="{30A51ADB-63ED-483A-9013-AC4FC531AF21}" srcId="{03CD7CF6-50E3-4CFE-B598-F0E2D3E527E3}" destId="{603A8EBB-7EF1-4D2F-A558-3CACA3B65039}" srcOrd="5" destOrd="0" parTransId="{0CE06766-7573-4586-86D3-5CEA2ACBB0FA}" sibTransId="{AA7AFACB-869F-4DA7-8430-E54B42699801}"/>
    <dgm:cxn modelId="{B9148DEC-9B03-4356-90B0-B4D7ED8F34FB}" type="presOf" srcId="{11B3A632-7781-410D-91F2-82BF666BD33B}" destId="{F255A72F-5EB1-47E0-8E44-6F380B1CB939}" srcOrd="0" destOrd="0" presId="urn:microsoft.com/office/officeart/2005/8/layout/bProcess4"/>
    <dgm:cxn modelId="{14A813F2-A618-4293-BE9B-D60ECDE3186D}" type="presOf" srcId="{A441CC66-D622-4417-806B-B93D7F80FFE9}" destId="{CD1FD70A-46AC-4F30-AF01-AEC6ACD9B40C}" srcOrd="0" destOrd="0" presId="urn:microsoft.com/office/officeart/2005/8/layout/bProcess4"/>
    <dgm:cxn modelId="{C15CCEA3-7BF8-4FE1-9FA9-351904918823}" type="presParOf" srcId="{BD78F2F0-2CCE-42A1-BB3B-F102152AA0C9}" destId="{973C3143-9B63-47F2-ACB8-617B83B614DA}" srcOrd="0" destOrd="0" presId="urn:microsoft.com/office/officeart/2005/8/layout/bProcess4"/>
    <dgm:cxn modelId="{6F4237F2-31B9-4B0C-87E9-61B4B3BBA4B6}" type="presParOf" srcId="{973C3143-9B63-47F2-ACB8-617B83B614DA}" destId="{B28301C8-4774-4A28-85A9-E651227D283C}" srcOrd="0" destOrd="0" presId="urn:microsoft.com/office/officeart/2005/8/layout/bProcess4"/>
    <dgm:cxn modelId="{2083A922-8DC9-474B-A67D-C069809A5368}" type="presParOf" srcId="{973C3143-9B63-47F2-ACB8-617B83B614DA}" destId="{93E51721-35FC-4CA9-92C8-E63F2D1412F6}" srcOrd="1" destOrd="0" presId="urn:microsoft.com/office/officeart/2005/8/layout/bProcess4"/>
    <dgm:cxn modelId="{658D84FB-F1AF-49B1-8B99-39A85F4E32C0}" type="presParOf" srcId="{BD78F2F0-2CCE-42A1-BB3B-F102152AA0C9}" destId="{A493CD26-3738-4354-A23B-6632E5CB4947}" srcOrd="1" destOrd="0" presId="urn:microsoft.com/office/officeart/2005/8/layout/bProcess4"/>
    <dgm:cxn modelId="{4ADB2CC6-2C38-4054-9114-D606FEA8E39B}" type="presParOf" srcId="{BD78F2F0-2CCE-42A1-BB3B-F102152AA0C9}" destId="{9306428A-491D-4B4B-A966-4014433AE867}" srcOrd="2" destOrd="0" presId="urn:microsoft.com/office/officeart/2005/8/layout/bProcess4"/>
    <dgm:cxn modelId="{2549AAEB-7E57-4791-9BD5-1A0C1F67A5D8}" type="presParOf" srcId="{9306428A-491D-4B4B-A966-4014433AE867}" destId="{058260D1-CFC1-48C3-B6C8-3ED1E4E54B1F}" srcOrd="0" destOrd="0" presId="urn:microsoft.com/office/officeart/2005/8/layout/bProcess4"/>
    <dgm:cxn modelId="{1B088251-4E1E-4E61-84B7-842491C41661}" type="presParOf" srcId="{9306428A-491D-4B4B-A966-4014433AE867}" destId="{CD1FD70A-46AC-4F30-AF01-AEC6ACD9B40C}" srcOrd="1" destOrd="0" presId="urn:microsoft.com/office/officeart/2005/8/layout/bProcess4"/>
    <dgm:cxn modelId="{22CDFFA1-529A-4B48-BB46-50DDA71D2750}" type="presParOf" srcId="{BD78F2F0-2CCE-42A1-BB3B-F102152AA0C9}" destId="{8512A3C2-EE12-4948-B776-4BA0BD5CF03B}" srcOrd="3" destOrd="0" presId="urn:microsoft.com/office/officeart/2005/8/layout/bProcess4"/>
    <dgm:cxn modelId="{B1899148-4CDC-494F-B61B-795E50D85718}" type="presParOf" srcId="{BD78F2F0-2CCE-42A1-BB3B-F102152AA0C9}" destId="{88F9C677-20B0-4A23-9EC0-36A14C261EE2}" srcOrd="4" destOrd="0" presId="urn:microsoft.com/office/officeart/2005/8/layout/bProcess4"/>
    <dgm:cxn modelId="{39464599-4122-47B3-ABF2-56E38BC06BCE}" type="presParOf" srcId="{88F9C677-20B0-4A23-9EC0-36A14C261EE2}" destId="{CDFB06B9-C1C7-483D-8C39-044DD63C4767}" srcOrd="0" destOrd="0" presId="urn:microsoft.com/office/officeart/2005/8/layout/bProcess4"/>
    <dgm:cxn modelId="{DE20CBC2-F571-40CA-90A0-39E7EFD66BBD}" type="presParOf" srcId="{88F9C677-20B0-4A23-9EC0-36A14C261EE2}" destId="{9F67D4A9-23E8-40AE-BEB2-7DAB814BF4FC}" srcOrd="1" destOrd="0" presId="urn:microsoft.com/office/officeart/2005/8/layout/bProcess4"/>
    <dgm:cxn modelId="{CE0B28F4-6E53-4DBF-B24F-EA4F3DF4DED7}" type="presParOf" srcId="{BD78F2F0-2CCE-42A1-BB3B-F102152AA0C9}" destId="{08C1A245-9DD8-4FDB-A58F-071C269FB956}" srcOrd="5" destOrd="0" presId="urn:microsoft.com/office/officeart/2005/8/layout/bProcess4"/>
    <dgm:cxn modelId="{95F41E5C-C28C-4FE0-B6D9-BF61EF8F94B1}" type="presParOf" srcId="{BD78F2F0-2CCE-42A1-BB3B-F102152AA0C9}" destId="{BE616CD1-6961-4F3C-98D5-E606A80D1579}" srcOrd="6" destOrd="0" presId="urn:microsoft.com/office/officeart/2005/8/layout/bProcess4"/>
    <dgm:cxn modelId="{4BD2918B-423D-4BAA-9879-CE3E78BFCCA6}" type="presParOf" srcId="{BE616CD1-6961-4F3C-98D5-E606A80D1579}" destId="{EA9B219D-7982-4C77-9140-94472F8A7133}" srcOrd="0" destOrd="0" presId="urn:microsoft.com/office/officeart/2005/8/layout/bProcess4"/>
    <dgm:cxn modelId="{83D6993A-97F1-4C2F-B110-0BFCAC422B0B}" type="presParOf" srcId="{BE616CD1-6961-4F3C-98D5-E606A80D1579}" destId="{3F4010A8-F172-49D3-A519-47EFFF020DA6}" srcOrd="1" destOrd="0" presId="urn:microsoft.com/office/officeart/2005/8/layout/bProcess4"/>
    <dgm:cxn modelId="{C6548771-CF5E-4C50-9B87-99142B204F32}" type="presParOf" srcId="{BD78F2F0-2CCE-42A1-BB3B-F102152AA0C9}" destId="{F255A72F-5EB1-47E0-8E44-6F380B1CB939}" srcOrd="7" destOrd="0" presId="urn:microsoft.com/office/officeart/2005/8/layout/bProcess4"/>
    <dgm:cxn modelId="{2E52E8A9-06C4-4060-813A-5E83F657C20A}" type="presParOf" srcId="{BD78F2F0-2CCE-42A1-BB3B-F102152AA0C9}" destId="{34FF869D-927E-41E7-A269-D39CB72DEC0F}" srcOrd="8" destOrd="0" presId="urn:microsoft.com/office/officeart/2005/8/layout/bProcess4"/>
    <dgm:cxn modelId="{EE7B7E9A-1FF1-4E40-99FA-1640101862F7}" type="presParOf" srcId="{34FF869D-927E-41E7-A269-D39CB72DEC0F}" destId="{9F90B2B8-0219-45C0-815B-5D4D14782E38}" srcOrd="0" destOrd="0" presId="urn:microsoft.com/office/officeart/2005/8/layout/bProcess4"/>
    <dgm:cxn modelId="{FB2D6D5A-0298-4547-9130-C310D688B1D7}" type="presParOf" srcId="{34FF869D-927E-41E7-A269-D39CB72DEC0F}" destId="{1AB93BFD-EF17-4F96-B9C6-AD70CA372DCF}" srcOrd="1" destOrd="0" presId="urn:microsoft.com/office/officeart/2005/8/layout/bProcess4"/>
    <dgm:cxn modelId="{5DD8A288-1BFB-4065-A548-05C69C016BB3}" type="presParOf" srcId="{BD78F2F0-2CCE-42A1-BB3B-F102152AA0C9}" destId="{EBBB2BB9-8D7D-4F0A-9514-FAD0FB5B0614}" srcOrd="9" destOrd="0" presId="urn:microsoft.com/office/officeart/2005/8/layout/bProcess4"/>
    <dgm:cxn modelId="{5C900C8C-014A-4BEF-AF07-0CC0120BDA6D}" type="presParOf" srcId="{BD78F2F0-2CCE-42A1-BB3B-F102152AA0C9}" destId="{6737A813-D402-4ACC-9C03-BC7FD57BE54B}" srcOrd="10" destOrd="0" presId="urn:microsoft.com/office/officeart/2005/8/layout/bProcess4"/>
    <dgm:cxn modelId="{BC1C0A07-3B6B-4B49-8DC1-6B35471C53B0}" type="presParOf" srcId="{6737A813-D402-4ACC-9C03-BC7FD57BE54B}" destId="{D227D9E3-2F17-42B8-9AD3-EF76CEFED8A5}" srcOrd="0" destOrd="0" presId="urn:microsoft.com/office/officeart/2005/8/layout/bProcess4"/>
    <dgm:cxn modelId="{D56C64F6-0DA7-4CD8-9FDD-46396518E5A5}" type="presParOf" srcId="{6737A813-D402-4ACC-9C03-BC7FD57BE54B}" destId="{3CFDD24F-AC56-49BF-B18C-22D4061FB267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93CD26-3738-4354-A23B-6632E5CB4947}">
      <dsp:nvSpPr>
        <dsp:cNvPr id="0" name=""/>
        <dsp:cNvSpPr/>
      </dsp:nvSpPr>
      <dsp:spPr>
        <a:xfrm rot="5400000">
          <a:off x="1016531" y="861271"/>
          <a:ext cx="1339709" cy="16190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E51721-35FC-4CA9-92C8-E63F2D1412F6}">
      <dsp:nvSpPr>
        <dsp:cNvPr id="0" name=""/>
        <dsp:cNvSpPr/>
      </dsp:nvSpPr>
      <dsp:spPr>
        <a:xfrm>
          <a:off x="1321866" y="2050"/>
          <a:ext cx="1798912" cy="107934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200" b="1" i="0" kern="1200" dirty="0">
              <a:solidFill>
                <a:schemeClr val="tx1"/>
              </a:solidFill>
            </a:rPr>
            <a:t>Definición del Problema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b="0" i="0" kern="1200" dirty="0">
              <a:solidFill>
                <a:schemeClr val="tx1"/>
              </a:solidFill>
            </a:rPr>
            <a:t>Identificar objetivos y preguntas de negocio</a:t>
          </a:r>
          <a:endParaRPr lang="es-CL" sz="1200" kern="1200" dirty="0">
            <a:solidFill>
              <a:schemeClr val="tx1"/>
            </a:solidFill>
          </a:endParaRPr>
        </a:p>
      </dsp:txBody>
      <dsp:txXfrm>
        <a:off x="1353479" y="33663"/>
        <a:ext cx="1735686" cy="1016121"/>
      </dsp:txXfrm>
    </dsp:sp>
    <dsp:sp modelId="{8512A3C2-EE12-4948-B776-4BA0BD5CF03B}">
      <dsp:nvSpPr>
        <dsp:cNvPr id="0" name=""/>
        <dsp:cNvSpPr/>
      </dsp:nvSpPr>
      <dsp:spPr>
        <a:xfrm rot="5400000">
          <a:off x="1016531" y="2210455"/>
          <a:ext cx="1339709" cy="16190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1FD70A-46AC-4F30-AF01-AEC6ACD9B40C}">
      <dsp:nvSpPr>
        <dsp:cNvPr id="0" name=""/>
        <dsp:cNvSpPr/>
      </dsp:nvSpPr>
      <dsp:spPr>
        <a:xfrm>
          <a:off x="1321866" y="1351234"/>
          <a:ext cx="1798912" cy="107934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200" b="1" i="0" kern="1200" dirty="0">
              <a:solidFill>
                <a:schemeClr val="bg1"/>
              </a:solidFill>
            </a:rPr>
            <a:t>Recolección de Datos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b="0" i="0" kern="1200" dirty="0">
              <a:solidFill>
                <a:schemeClr val="bg1"/>
              </a:solidFill>
            </a:rPr>
            <a:t>Obtener, integrar y almacenar datos relevantes</a:t>
          </a:r>
          <a:endParaRPr lang="es-CL" sz="1200" kern="1200" dirty="0">
            <a:solidFill>
              <a:schemeClr val="bg1"/>
            </a:solidFill>
          </a:endParaRPr>
        </a:p>
      </dsp:txBody>
      <dsp:txXfrm>
        <a:off x="1353479" y="1382847"/>
        <a:ext cx="1735686" cy="1016121"/>
      </dsp:txXfrm>
    </dsp:sp>
    <dsp:sp modelId="{08C1A245-9DD8-4FDB-A58F-071C269FB956}">
      <dsp:nvSpPr>
        <dsp:cNvPr id="0" name=""/>
        <dsp:cNvSpPr/>
      </dsp:nvSpPr>
      <dsp:spPr>
        <a:xfrm>
          <a:off x="1691124" y="2885047"/>
          <a:ext cx="2383079" cy="16190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67D4A9-23E8-40AE-BEB2-7DAB814BF4FC}">
      <dsp:nvSpPr>
        <dsp:cNvPr id="0" name=""/>
        <dsp:cNvSpPr/>
      </dsp:nvSpPr>
      <dsp:spPr>
        <a:xfrm>
          <a:off x="1321866" y="2700419"/>
          <a:ext cx="1798912" cy="107934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200" b="1" i="0" kern="1200" dirty="0">
              <a:solidFill>
                <a:schemeClr val="tx1"/>
              </a:solidFill>
            </a:rPr>
            <a:t>Limpieza y Preparación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b="0" i="0" kern="1200" dirty="0">
              <a:solidFill>
                <a:schemeClr val="tx1"/>
              </a:solidFill>
            </a:rPr>
            <a:t>Procesar, limpiar y transformar los datos</a:t>
          </a:r>
          <a:endParaRPr lang="es-CL" sz="1200" kern="1200" dirty="0">
            <a:solidFill>
              <a:schemeClr val="tx1"/>
            </a:solidFill>
          </a:endParaRPr>
        </a:p>
      </dsp:txBody>
      <dsp:txXfrm>
        <a:off x="1353479" y="2732032"/>
        <a:ext cx="1735686" cy="1016121"/>
      </dsp:txXfrm>
    </dsp:sp>
    <dsp:sp modelId="{F255A72F-5EB1-47E0-8E44-6F380B1CB939}">
      <dsp:nvSpPr>
        <dsp:cNvPr id="0" name=""/>
        <dsp:cNvSpPr/>
      </dsp:nvSpPr>
      <dsp:spPr>
        <a:xfrm rot="16200000">
          <a:off x="3409085" y="2210455"/>
          <a:ext cx="1339709" cy="16190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4010A8-F172-49D3-A519-47EFFF020DA6}">
      <dsp:nvSpPr>
        <dsp:cNvPr id="0" name=""/>
        <dsp:cNvSpPr/>
      </dsp:nvSpPr>
      <dsp:spPr>
        <a:xfrm>
          <a:off x="3714420" y="2700419"/>
          <a:ext cx="1798912" cy="107934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200" b="1" i="0" kern="1200" dirty="0">
              <a:solidFill>
                <a:schemeClr val="tx1"/>
              </a:solidFill>
            </a:rPr>
            <a:t>Análisis Exploratorio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b="0" i="0" kern="1200" dirty="0">
              <a:solidFill>
                <a:schemeClr val="tx1"/>
              </a:solidFill>
            </a:rPr>
            <a:t>Descubrir patrones y relaciones iniciales</a:t>
          </a:r>
          <a:endParaRPr lang="es-CL" sz="1200" kern="1200" dirty="0">
            <a:solidFill>
              <a:schemeClr val="tx1"/>
            </a:solidFill>
          </a:endParaRPr>
        </a:p>
      </dsp:txBody>
      <dsp:txXfrm>
        <a:off x="3746033" y="2732032"/>
        <a:ext cx="1735686" cy="1016121"/>
      </dsp:txXfrm>
    </dsp:sp>
    <dsp:sp modelId="{EBBB2BB9-8D7D-4F0A-9514-FAD0FB5B0614}">
      <dsp:nvSpPr>
        <dsp:cNvPr id="0" name=""/>
        <dsp:cNvSpPr/>
      </dsp:nvSpPr>
      <dsp:spPr>
        <a:xfrm rot="16200000">
          <a:off x="3409085" y="861271"/>
          <a:ext cx="1339709" cy="161902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B93BFD-EF17-4F96-B9C6-AD70CA372DCF}">
      <dsp:nvSpPr>
        <dsp:cNvPr id="0" name=""/>
        <dsp:cNvSpPr/>
      </dsp:nvSpPr>
      <dsp:spPr>
        <a:xfrm>
          <a:off x="3714420" y="1351234"/>
          <a:ext cx="1798912" cy="1079347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200" b="1" i="0" kern="1200" dirty="0">
              <a:solidFill>
                <a:schemeClr val="tx1"/>
              </a:solidFill>
            </a:rPr>
            <a:t>Modelado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b="0" i="0" kern="1200" dirty="0">
              <a:solidFill>
                <a:schemeClr val="tx1"/>
              </a:solidFill>
            </a:rPr>
            <a:t>Construir y validar modelos predictivos</a:t>
          </a:r>
          <a:endParaRPr lang="es-CL" sz="1200" kern="1200" dirty="0">
            <a:solidFill>
              <a:schemeClr val="tx1"/>
            </a:solidFill>
          </a:endParaRPr>
        </a:p>
      </dsp:txBody>
      <dsp:txXfrm>
        <a:off x="3746033" y="1382847"/>
        <a:ext cx="1735686" cy="1016121"/>
      </dsp:txXfrm>
    </dsp:sp>
    <dsp:sp modelId="{3CFDD24F-AC56-49BF-B18C-22D4061FB267}">
      <dsp:nvSpPr>
        <dsp:cNvPr id="0" name=""/>
        <dsp:cNvSpPr/>
      </dsp:nvSpPr>
      <dsp:spPr>
        <a:xfrm>
          <a:off x="3714420" y="2050"/>
          <a:ext cx="1798912" cy="107934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200" b="1" i="0" kern="1200" dirty="0">
              <a:solidFill>
                <a:schemeClr val="tx1"/>
              </a:solidFill>
            </a:rPr>
            <a:t>Implementación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b="0" i="0" kern="1200" dirty="0">
              <a:solidFill>
                <a:schemeClr val="tx1"/>
              </a:solidFill>
            </a:rPr>
            <a:t>Desplegar y monitorear en producción</a:t>
          </a:r>
          <a:endParaRPr lang="es-CL" sz="1200" kern="1200" dirty="0">
            <a:solidFill>
              <a:schemeClr val="tx1"/>
            </a:solidFill>
          </a:endParaRPr>
        </a:p>
      </dsp:txBody>
      <dsp:txXfrm>
        <a:off x="3746033" y="33663"/>
        <a:ext cx="1735686" cy="10161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" name="Google Shape;3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Limpieza, preprocesamiento y análisis exploratorio de datos</a:t>
            </a: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rgbClr val="22222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/>
          <p:nvPr/>
        </p:nvSpPr>
        <p:spPr>
          <a:xfrm>
            <a:off x="-11025" y="-11025"/>
            <a:ext cx="9144000" cy="5143500"/>
          </a:xfrm>
          <a:prstGeom prst="rect">
            <a:avLst/>
          </a:prstGeom>
          <a:solidFill>
            <a:srgbClr val="222222">
              <a:alpha val="6352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8"/>
          <p:cNvSpPr/>
          <p:nvPr/>
        </p:nvSpPr>
        <p:spPr>
          <a:xfrm>
            <a:off x="5086350" y="-38100"/>
            <a:ext cx="4114800" cy="5219700"/>
          </a:xfrm>
          <a:custGeom>
            <a:avLst/>
            <a:gdLst/>
            <a:ahLst/>
            <a:cxnLst/>
            <a:rect l="l" t="t" r="r" b="b"/>
            <a:pathLst>
              <a:path w="164592" h="208788" extrusionOk="0">
                <a:moveTo>
                  <a:pt x="0" y="1524"/>
                </a:moveTo>
                <a:lnTo>
                  <a:pt x="107442" y="208788"/>
                </a:lnTo>
                <a:lnTo>
                  <a:pt x="164592" y="208788"/>
                </a:lnTo>
                <a:lnTo>
                  <a:pt x="16459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2" name="Google Shape;12;p8"/>
          <p:cNvSpPr/>
          <p:nvPr/>
        </p:nvSpPr>
        <p:spPr>
          <a:xfrm flipH="1">
            <a:off x="-418950" y="4394400"/>
            <a:ext cx="8172300" cy="749100"/>
          </a:xfrm>
          <a:prstGeom prst="parallelogram">
            <a:avLst>
              <a:gd name="adj" fmla="val 51542"/>
            </a:avLst>
          </a:prstGeom>
          <a:solidFill>
            <a:srgbClr val="FFFFFF">
              <a:alpha val="1686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8"/>
          <p:cNvSpPr/>
          <p:nvPr/>
        </p:nvSpPr>
        <p:spPr>
          <a:xfrm flipH="1">
            <a:off x="1028475" y="4166400"/>
            <a:ext cx="8369700" cy="228000"/>
          </a:xfrm>
          <a:prstGeom prst="parallelogram">
            <a:avLst>
              <a:gd name="adj" fmla="val 51542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8"/>
          <p:cNvSpPr txBox="1">
            <a:spLocks noGrp="1"/>
          </p:cNvSpPr>
          <p:nvPr>
            <p:ph type="ctrTitle"/>
          </p:nvPr>
        </p:nvSpPr>
        <p:spPr>
          <a:xfrm>
            <a:off x="1028475" y="0"/>
            <a:ext cx="5238600" cy="40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9"/>
          <p:cNvGrpSpPr/>
          <p:nvPr/>
        </p:nvGrpSpPr>
        <p:grpSpPr>
          <a:xfrm>
            <a:off x="-903537" y="-38100"/>
            <a:ext cx="10524355" cy="5214650"/>
            <a:chOff x="-903537" y="-38100"/>
            <a:chExt cx="10524355" cy="5214650"/>
          </a:xfrm>
        </p:grpSpPr>
        <p:sp>
          <p:nvSpPr>
            <p:cNvPr id="17" name="Google Shape;17;p9"/>
            <p:cNvSpPr/>
            <p:nvPr/>
          </p:nvSpPr>
          <p:spPr>
            <a:xfrm>
              <a:off x="-55075" y="-38100"/>
              <a:ext cx="3312625" cy="5214650"/>
            </a:xfrm>
            <a:custGeom>
              <a:avLst/>
              <a:gdLst/>
              <a:ahLst/>
              <a:cxnLst/>
              <a:rect l="l" t="t" r="r" b="b"/>
              <a:pathLst>
                <a:path w="132505" h="208586" extrusionOk="0">
                  <a:moveTo>
                    <a:pt x="132505" y="207264"/>
                  </a:moveTo>
                  <a:lnTo>
                    <a:pt x="25063" y="0"/>
                  </a:lnTo>
                  <a:lnTo>
                    <a:pt x="0" y="202"/>
                  </a:lnTo>
                  <a:lnTo>
                    <a:pt x="1322" y="20858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18" name="Google Shape;18;p9"/>
            <p:cNvSpPr/>
            <p:nvPr/>
          </p:nvSpPr>
          <p:spPr>
            <a:xfrm flipH="1">
              <a:off x="-903537" y="-17561"/>
              <a:ext cx="1759200" cy="749100"/>
            </a:xfrm>
            <a:prstGeom prst="parallelogram">
              <a:avLst>
                <a:gd name="adj" fmla="val 51542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9"/>
            <p:cNvSpPr/>
            <p:nvPr/>
          </p:nvSpPr>
          <p:spPr>
            <a:xfrm flipH="1">
              <a:off x="472134" y="-9525"/>
              <a:ext cx="518400" cy="749100"/>
            </a:xfrm>
            <a:prstGeom prst="parallelogram">
              <a:avLst>
                <a:gd name="adj" fmla="val 75009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9"/>
            <p:cNvSpPr/>
            <p:nvPr/>
          </p:nvSpPr>
          <p:spPr>
            <a:xfrm flipH="1">
              <a:off x="742953" y="272850"/>
              <a:ext cx="7505700" cy="749100"/>
            </a:xfrm>
            <a:prstGeom prst="parallelogram">
              <a:avLst>
                <a:gd name="adj" fmla="val 51542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9"/>
            <p:cNvSpPr/>
            <p:nvPr/>
          </p:nvSpPr>
          <p:spPr>
            <a:xfrm flipH="1">
              <a:off x="7861618" y="272850"/>
              <a:ext cx="1759200" cy="749100"/>
            </a:xfrm>
            <a:prstGeom prst="parallelogram">
              <a:avLst>
                <a:gd name="adj" fmla="val 5154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9"/>
            <p:cNvSpPr/>
            <p:nvPr/>
          </p:nvSpPr>
          <p:spPr>
            <a:xfrm flipH="1">
              <a:off x="990375" y="4925850"/>
              <a:ext cx="8369700" cy="228000"/>
            </a:xfrm>
            <a:prstGeom prst="parallelogram">
              <a:avLst>
                <a:gd name="adj" fmla="val 5154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" name="Google Shape;23;p9"/>
          <p:cNvSpPr txBox="1">
            <a:spLocks noGrp="1"/>
          </p:cNvSpPr>
          <p:nvPr>
            <p:ph type="title"/>
          </p:nvPr>
        </p:nvSpPr>
        <p:spPr>
          <a:xfrm>
            <a:off x="1101386" y="272850"/>
            <a:ext cx="7574400" cy="7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0"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body" idx="1"/>
          </p:nvPr>
        </p:nvSpPr>
        <p:spPr>
          <a:xfrm>
            <a:off x="1101375" y="1311550"/>
            <a:ext cx="3681900" cy="35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937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00"/>
              <a:buChar char="▸"/>
              <a:defRPr sz="2600"/>
            </a:lvl1pPr>
            <a:lvl2pPr marL="914400" lvl="1" indent="-393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2pPr>
            <a:lvl3pPr marL="1371600" lvl="2" indent="-393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3pPr>
            <a:lvl4pPr marL="1828800" lvl="3" indent="-393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4pPr>
            <a:lvl5pPr marL="2286000" lvl="4" indent="-393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5pPr>
            <a:lvl6pPr marL="2743200" lvl="5" indent="-393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6pPr>
            <a:lvl7pPr marL="3200400" lvl="6" indent="-393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7pPr>
            <a:lvl8pPr marL="3657600" lvl="7" indent="-393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8pPr>
            <a:lvl9pPr marL="4114800" lvl="8" indent="-393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9pPr>
          </a:lstStyle>
          <a:p>
            <a:endParaRPr/>
          </a:p>
        </p:txBody>
      </p:sp>
      <p:sp>
        <p:nvSpPr>
          <p:cNvPr id="25" name="Google Shape;25;p9"/>
          <p:cNvSpPr txBox="1">
            <a:spLocks noGrp="1"/>
          </p:cNvSpPr>
          <p:nvPr>
            <p:ph type="body" idx="2"/>
          </p:nvPr>
        </p:nvSpPr>
        <p:spPr>
          <a:xfrm>
            <a:off x="5004949" y="1311550"/>
            <a:ext cx="3681900" cy="35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937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00"/>
              <a:buChar char="▸"/>
              <a:defRPr sz="2600"/>
            </a:lvl1pPr>
            <a:lvl2pPr marL="914400" lvl="1" indent="-393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2pPr>
            <a:lvl3pPr marL="1371600" lvl="2" indent="-393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3pPr>
            <a:lvl4pPr marL="1828800" lvl="3" indent="-393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4pPr>
            <a:lvl5pPr marL="2286000" lvl="4" indent="-393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5pPr>
            <a:lvl6pPr marL="2743200" lvl="5" indent="-393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6pPr>
            <a:lvl7pPr marL="3200400" lvl="6" indent="-393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7pPr>
            <a:lvl8pPr marL="3657600" lvl="7" indent="-393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8pPr>
            <a:lvl9pPr marL="4114800" lvl="8" indent="-393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9pPr>
          </a:lstStyle>
          <a:p>
            <a:endParaRPr/>
          </a:p>
        </p:txBody>
      </p:sp>
      <p:sp>
        <p:nvSpPr>
          <p:cNvPr id="26" name="Google Shape;26;p9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59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inverted">
  <p:cSld name="BLANK_1">
    <p:bg>
      <p:bgPr>
        <a:solidFill>
          <a:schemeClr val="dk1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/>
          <p:nvPr/>
        </p:nvSpPr>
        <p:spPr>
          <a:xfrm>
            <a:off x="-55075" y="-38100"/>
            <a:ext cx="3312625" cy="5214650"/>
          </a:xfrm>
          <a:custGeom>
            <a:avLst/>
            <a:gdLst/>
            <a:ahLst/>
            <a:cxnLst/>
            <a:rect l="l" t="t" r="r" b="b"/>
            <a:pathLst>
              <a:path w="132505" h="208586" extrusionOk="0">
                <a:moveTo>
                  <a:pt x="132505" y="207264"/>
                </a:moveTo>
                <a:lnTo>
                  <a:pt x="25063" y="0"/>
                </a:lnTo>
                <a:lnTo>
                  <a:pt x="0" y="202"/>
                </a:lnTo>
                <a:lnTo>
                  <a:pt x="1322" y="20858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29" name="Google Shape;29;p10"/>
          <p:cNvSpPr/>
          <p:nvPr/>
        </p:nvSpPr>
        <p:spPr>
          <a:xfrm flipH="1">
            <a:off x="-903537" y="-17561"/>
            <a:ext cx="1759200" cy="749100"/>
          </a:xfrm>
          <a:prstGeom prst="parallelogram">
            <a:avLst>
              <a:gd name="adj" fmla="val 51542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0"/>
          <p:cNvSpPr/>
          <p:nvPr/>
        </p:nvSpPr>
        <p:spPr>
          <a:xfrm flipH="1">
            <a:off x="472134" y="-9525"/>
            <a:ext cx="518400" cy="749100"/>
          </a:xfrm>
          <a:prstGeom prst="parallelogram">
            <a:avLst>
              <a:gd name="adj" fmla="val 7500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0"/>
          <p:cNvSpPr/>
          <p:nvPr/>
        </p:nvSpPr>
        <p:spPr>
          <a:xfrm flipH="1">
            <a:off x="990375" y="4925850"/>
            <a:ext cx="8369700" cy="228000"/>
          </a:xfrm>
          <a:prstGeom prst="parallelogram">
            <a:avLst>
              <a:gd name="adj" fmla="val 51542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0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59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Título y objetos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>
            <a:spLocks noGrp="1"/>
          </p:cNvSpPr>
          <p:nvPr>
            <p:ph type="title"/>
          </p:nvPr>
        </p:nvSpPr>
        <p:spPr>
          <a:xfrm>
            <a:off x="6787" y="3389"/>
            <a:ext cx="6645375" cy="475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7"/>
          <p:cNvSpPr txBox="1">
            <a:spLocks noGrp="1"/>
          </p:cNvSpPr>
          <p:nvPr>
            <p:ph type="body" idx="1"/>
          </p:nvPr>
        </p:nvSpPr>
        <p:spPr>
          <a:xfrm>
            <a:off x="251520" y="735546"/>
            <a:ext cx="8229600" cy="3394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900" lvl="0" indent="-257175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028700" lvl="2" indent="-257175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1714500" lvl="4" indent="-257175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057400" lvl="5" indent="-257175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5" name="Google Shape;115;p17"/>
          <p:cNvSpPr txBox="1">
            <a:spLocks noGrp="1"/>
          </p:cNvSpPr>
          <p:nvPr>
            <p:ph type="sldNum" idx="12"/>
          </p:nvPr>
        </p:nvSpPr>
        <p:spPr>
          <a:xfrm>
            <a:off x="8773616" y="4962934"/>
            <a:ext cx="370575" cy="147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 rtl="0">
              <a:spcBef>
                <a:spcPts val="0"/>
              </a:spcBef>
              <a:buNone/>
              <a:defRPr/>
            </a:lvl1pPr>
            <a:lvl2pPr marL="0" lvl="1" indent="0" algn="l" rtl="0">
              <a:spcBef>
                <a:spcPts val="0"/>
              </a:spcBef>
              <a:buNone/>
              <a:defRPr/>
            </a:lvl2pPr>
            <a:lvl3pPr marL="0" lvl="2" indent="0" algn="l" rtl="0">
              <a:spcBef>
                <a:spcPts val="0"/>
              </a:spcBef>
              <a:buNone/>
              <a:defRPr/>
            </a:lvl3pPr>
            <a:lvl4pPr marL="0" lvl="3" indent="0" algn="l" rtl="0">
              <a:spcBef>
                <a:spcPts val="0"/>
              </a:spcBef>
              <a:buNone/>
              <a:defRPr/>
            </a:lvl4pPr>
            <a:lvl5pPr marL="0" lvl="4" indent="0" algn="l" rtl="0">
              <a:spcBef>
                <a:spcPts val="0"/>
              </a:spcBef>
              <a:buNone/>
              <a:defRPr/>
            </a:lvl5pPr>
            <a:lvl6pPr marL="0" lvl="5" indent="0" algn="l" rtl="0">
              <a:spcBef>
                <a:spcPts val="0"/>
              </a:spcBef>
              <a:buNone/>
              <a:defRPr/>
            </a:lvl6pPr>
            <a:lvl7pPr marL="0" lvl="6" indent="0" algn="l" rtl="0">
              <a:spcBef>
                <a:spcPts val="0"/>
              </a:spcBef>
              <a:buNone/>
              <a:defRPr/>
            </a:lvl7pPr>
            <a:lvl8pPr marL="0" lvl="7" indent="0" algn="l" rtl="0">
              <a:spcBef>
                <a:spcPts val="0"/>
              </a:spcBef>
              <a:buNone/>
              <a:defRPr/>
            </a:lvl8pPr>
            <a:lvl9pPr marL="0" lvl="8" indent="0" algn="l" rtl="0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217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">
  <p:cSld name="Diseño personalizado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>
            <a:spLocks noGrp="1"/>
          </p:cNvSpPr>
          <p:nvPr>
            <p:ph type="title"/>
          </p:nvPr>
        </p:nvSpPr>
        <p:spPr>
          <a:xfrm>
            <a:off x="6787" y="3389"/>
            <a:ext cx="6645375" cy="475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19"/>
          <p:cNvSpPr txBox="1">
            <a:spLocks noGrp="1"/>
          </p:cNvSpPr>
          <p:nvPr>
            <p:ph type="dt" idx="10"/>
          </p:nvPr>
        </p:nvSpPr>
        <p:spPr>
          <a:xfrm>
            <a:off x="35496" y="5002020"/>
            <a:ext cx="2133675" cy="111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5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19"/>
          <p:cNvSpPr txBox="1">
            <a:spLocks noGrp="1"/>
          </p:cNvSpPr>
          <p:nvPr>
            <p:ph type="ftr" idx="11"/>
          </p:nvPr>
        </p:nvSpPr>
        <p:spPr>
          <a:xfrm>
            <a:off x="3124200" y="5002020"/>
            <a:ext cx="2895525" cy="111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75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9"/>
          <p:cNvSpPr txBox="1">
            <a:spLocks noGrp="1"/>
          </p:cNvSpPr>
          <p:nvPr>
            <p:ph type="sldNum" idx="12"/>
          </p:nvPr>
        </p:nvSpPr>
        <p:spPr>
          <a:xfrm>
            <a:off x="6948264" y="5002020"/>
            <a:ext cx="2133675" cy="111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sz="7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 rtl="0">
              <a:spcBef>
                <a:spcPts val="0"/>
              </a:spcBef>
              <a:buNone/>
              <a:defRPr sz="7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 rtl="0">
              <a:spcBef>
                <a:spcPts val="0"/>
              </a:spcBef>
              <a:buNone/>
              <a:defRPr sz="7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 rtl="0">
              <a:spcBef>
                <a:spcPts val="0"/>
              </a:spcBef>
              <a:buNone/>
              <a:defRPr sz="7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 rtl="0">
              <a:spcBef>
                <a:spcPts val="0"/>
              </a:spcBef>
              <a:buNone/>
              <a:defRPr sz="7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 rtl="0">
              <a:spcBef>
                <a:spcPts val="0"/>
              </a:spcBef>
              <a:buNone/>
              <a:defRPr sz="7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 rtl="0">
              <a:spcBef>
                <a:spcPts val="0"/>
              </a:spcBef>
              <a:buNone/>
              <a:defRPr sz="7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 rtl="0">
              <a:spcBef>
                <a:spcPts val="0"/>
              </a:spcBef>
              <a:buNone/>
              <a:defRPr sz="7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 rtl="0">
              <a:spcBef>
                <a:spcPts val="0"/>
              </a:spcBef>
              <a:buNone/>
              <a:defRPr sz="7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28" name="Google Shape;128;p19"/>
          <p:cNvSpPr txBox="1">
            <a:spLocks noGrp="1"/>
          </p:cNvSpPr>
          <p:nvPr>
            <p:ph type="body" idx="1"/>
          </p:nvPr>
        </p:nvSpPr>
        <p:spPr>
          <a:xfrm>
            <a:off x="251520" y="735546"/>
            <a:ext cx="8229600" cy="102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900" lvl="0" indent="-257175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028700" lvl="2" indent="-257175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1714500" lvl="4" indent="-257175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057400" lvl="5" indent="-257175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08647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jp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>
            <a:spLocks noGrp="1"/>
          </p:cNvSpPr>
          <p:nvPr>
            <p:ph type="title"/>
          </p:nvPr>
        </p:nvSpPr>
        <p:spPr>
          <a:xfrm>
            <a:off x="1104900" y="276075"/>
            <a:ext cx="6724500" cy="7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osis"/>
              <a:buNone/>
              <a:defRPr sz="2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osis"/>
              <a:buNone/>
              <a:defRPr sz="2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osis"/>
              <a:buNone/>
              <a:defRPr sz="2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osis"/>
              <a:buNone/>
              <a:defRPr sz="2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osis"/>
              <a:buNone/>
              <a:defRPr sz="2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osis"/>
              <a:buNone/>
              <a:defRPr sz="2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osis"/>
              <a:buNone/>
              <a:defRPr sz="2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osis"/>
              <a:buNone/>
              <a:defRPr sz="2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osis"/>
              <a:buNone/>
              <a:defRPr sz="2400" b="0" i="0" u="none" strike="noStrike" cap="none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9pPr>
          </a:lstStyle>
          <a:p>
            <a:endParaRPr/>
          </a:p>
        </p:txBody>
      </p:sp>
      <p:sp>
        <p:nvSpPr>
          <p:cNvPr id="7" name="Google Shape;7;p7"/>
          <p:cNvSpPr txBox="1">
            <a:spLocks noGrp="1"/>
          </p:cNvSpPr>
          <p:nvPr>
            <p:ph type="body" idx="1"/>
          </p:nvPr>
        </p:nvSpPr>
        <p:spPr>
          <a:xfrm>
            <a:off x="1104900" y="1200150"/>
            <a:ext cx="7581900" cy="37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"/>
              <a:buChar char="▸"/>
              <a:defRPr sz="3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Roboto"/>
              <a:buChar char="▹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"/>
              <a:buChar char="▹"/>
              <a:defRPr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Roboto"/>
              <a:buChar char="▹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Roboto"/>
              <a:buChar char="▹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Roboto"/>
              <a:buChar char="▹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Roboto"/>
              <a:buChar char="▹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Roboto"/>
              <a:buChar char="▹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Roboto"/>
              <a:buChar char="▹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7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59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4953000"/>
            <a:ext cx="6857997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20272" y="50498"/>
            <a:ext cx="1468803" cy="4150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0"/>
            <a:ext cx="5259238" cy="487452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6"/>
          <p:cNvSpPr txBox="1">
            <a:spLocks noGrp="1"/>
          </p:cNvSpPr>
          <p:nvPr>
            <p:ph type="title"/>
          </p:nvPr>
        </p:nvSpPr>
        <p:spPr>
          <a:xfrm>
            <a:off x="6787" y="3389"/>
            <a:ext cx="6645375" cy="475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8" name="Google Shape;108;p16"/>
          <p:cNvSpPr txBox="1">
            <a:spLocks noGrp="1"/>
          </p:cNvSpPr>
          <p:nvPr>
            <p:ph type="body" idx="1"/>
          </p:nvPr>
        </p:nvSpPr>
        <p:spPr>
          <a:xfrm>
            <a:off x="251520" y="735546"/>
            <a:ext cx="8229600" cy="3394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»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9" name="Google Shape;109;p16"/>
          <p:cNvSpPr txBox="1">
            <a:spLocks noGrp="1"/>
          </p:cNvSpPr>
          <p:nvPr>
            <p:ph type="dt" idx="10"/>
          </p:nvPr>
        </p:nvSpPr>
        <p:spPr>
          <a:xfrm>
            <a:off x="35496" y="5002020"/>
            <a:ext cx="2133675" cy="111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88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0" name="Google Shape;110;p16"/>
          <p:cNvSpPr txBox="1">
            <a:spLocks noGrp="1"/>
          </p:cNvSpPr>
          <p:nvPr>
            <p:ph type="ftr" idx="11"/>
          </p:nvPr>
        </p:nvSpPr>
        <p:spPr>
          <a:xfrm>
            <a:off x="3124200" y="5002020"/>
            <a:ext cx="2895525" cy="111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788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1" name="Google Shape;111;p16"/>
          <p:cNvSpPr txBox="1">
            <a:spLocks noGrp="1"/>
          </p:cNvSpPr>
          <p:nvPr>
            <p:ph type="sldNum" idx="12"/>
          </p:nvPr>
        </p:nvSpPr>
        <p:spPr>
          <a:xfrm>
            <a:off x="6948264" y="5002020"/>
            <a:ext cx="2133675" cy="111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88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788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788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788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788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788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788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788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788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17849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  <p:sldLayoutId id="2147483654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.us.es/~fsancho/Blog/posts/Clustering/" TargetMode="External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7126" y="69050"/>
            <a:ext cx="2514149" cy="10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11"/>
          <p:cNvSpPr txBox="1"/>
          <p:nvPr/>
        </p:nvSpPr>
        <p:spPr>
          <a:xfrm>
            <a:off x="244548" y="499010"/>
            <a:ext cx="4986600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ES" sz="2800" dirty="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INTELIGENCIA ARTIFICIAL APLICADA A LA QUIMICA  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1"/>
          <p:cNvSpPr txBox="1"/>
          <p:nvPr/>
        </p:nvSpPr>
        <p:spPr>
          <a:xfrm>
            <a:off x="244546" y="2665718"/>
            <a:ext cx="4593300" cy="892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CL" sz="1300" b="0" i="0" u="none" strike="noStrike" cap="none" dirty="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DOCENTE: P</a:t>
            </a:r>
            <a:r>
              <a:rPr lang="es-CL" sz="1300" dirty="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hD. </a:t>
            </a:r>
            <a:r>
              <a:rPr lang="es-CL" sz="1300" b="0" i="0" u="none" strike="noStrike" cap="none" dirty="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Osvaldo Yáñez Osses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CL" sz="1300" dirty="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Profesor Asistente</a:t>
            </a:r>
          </a:p>
          <a:p>
            <a:pPr lvl="0">
              <a:buSzPts val="1300"/>
            </a:pPr>
            <a:r>
              <a:rPr lang="es-ES" sz="1300" dirty="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Centro de Modelación Ambiental y Dinámica de Sistemas (CEMADIS)</a:t>
            </a:r>
            <a:endParaRPr lang="es-ES" dirty="0">
              <a:solidFill>
                <a:schemeClr val="lt1"/>
              </a:solidFill>
              <a:ea typeface="Dosis"/>
            </a:endParaRPr>
          </a:p>
          <a:p>
            <a:pPr lvl="0">
              <a:buSzPts val="1300"/>
            </a:pPr>
            <a:r>
              <a:rPr lang="es-ES" sz="1300" dirty="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Facultad de Ingeniería y Negocios</a:t>
            </a:r>
            <a:endParaRPr lang="es-CL" sz="1300" dirty="0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41" name="Google Shape;41;p11"/>
          <p:cNvSpPr txBox="1"/>
          <p:nvPr/>
        </p:nvSpPr>
        <p:spPr>
          <a:xfrm>
            <a:off x="244545" y="1492762"/>
            <a:ext cx="6262581" cy="1661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s-ES" sz="1800" dirty="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Desde los SMILES hasta modelos de Machine-</a:t>
            </a:r>
            <a:r>
              <a:rPr lang="es-ES" sz="1800" dirty="0" err="1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Learning</a:t>
            </a:r>
            <a:endParaRPr lang="es-CL" sz="1800" b="0" i="0" u="none" strike="noStrike" cap="none" dirty="0">
              <a:solidFill>
                <a:srgbClr val="FFFFFF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sz="1400" b="0" i="0" u="none" strike="noStrike" cap="none" dirty="0">
              <a:solidFill>
                <a:srgbClr val="FFFFFF"/>
              </a:solidFill>
              <a:latin typeface="Dosis"/>
              <a:ea typeface="Dosis"/>
              <a:cs typeface="Dosis"/>
              <a:sym typeface="Dosis"/>
            </a:endParaRPr>
          </a:p>
          <a:p>
            <a:pPr lvl="0"/>
            <a:endParaRPr lang="es-ES" dirty="0">
              <a:solidFill>
                <a:srgbClr val="FFFFFF"/>
              </a:solidFill>
              <a:latin typeface="Dosis"/>
              <a:ea typeface="Dosis"/>
              <a:cs typeface="Dosis"/>
              <a:sym typeface="Dosis"/>
            </a:endParaRPr>
          </a:p>
          <a:p>
            <a:pPr lvl="0"/>
            <a:endParaRPr lang="es-ES" dirty="0">
              <a:solidFill>
                <a:srgbClr val="FFFFFF"/>
              </a:solidFill>
              <a:latin typeface="Dosis"/>
              <a:ea typeface="Dosis"/>
              <a:cs typeface="Dosis"/>
              <a:sym typeface="Dosis"/>
            </a:endParaRPr>
          </a:p>
          <a:p>
            <a:pPr lvl="0"/>
            <a:endParaRPr lang="es-CL" dirty="0">
              <a:ea typeface="Dosi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dirty="0">
              <a:solidFill>
                <a:srgbClr val="FFFFFF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L" dirty="0">
              <a:solidFill>
                <a:srgbClr val="FFFFFF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EBD93FD-AC7D-55D9-3198-6B1F78BEC5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8087" y="3452477"/>
            <a:ext cx="3449585" cy="7356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F3911DE-1125-6E8B-D468-F557DD5045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6951" y="1122249"/>
            <a:ext cx="2002501" cy="113754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9BFFBE-F598-CEAD-B40D-B4098D555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7B7711-A05E-5C74-084B-180FDFA38D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0A57765-A2CC-D3AD-FABB-F41454EA40DA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90B2C38-3541-274F-8185-B636FD380DF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2</a:t>
            </a:fld>
            <a:endParaRPr lang="es-CL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EFCA417-4575-0D42-7322-D09F7B41CA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813" y="1067573"/>
            <a:ext cx="6571437" cy="3965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900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4CBEF0-A459-0879-2FD1-8C49F360B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b="1" dirty="0"/>
              <a:t>Molecular </a:t>
            </a:r>
            <a:r>
              <a:rPr lang="es-CL" b="1" dirty="0" err="1"/>
              <a:t>representation</a:t>
            </a:r>
            <a:endParaRPr lang="es-CL" b="1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B6D49C2-AD29-BA98-636A-89AFD5C5C7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" y="510883"/>
            <a:ext cx="7486650" cy="4804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297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8FE54B-7C6F-7164-AAC9-EE60E3B7B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b="1" dirty="0"/>
              <a:t>Molecular </a:t>
            </a:r>
            <a:r>
              <a:rPr lang="es-CL" b="1" dirty="0" err="1"/>
              <a:t>representation</a:t>
            </a:r>
            <a:endParaRPr lang="es-CL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769C3F5-8D94-4E96-D9C6-6875CE8C4B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EF46231-17E1-B3F2-C05B-896255C63E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1" y="514350"/>
            <a:ext cx="6508313" cy="4372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45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8FE54B-7C6F-7164-AAC9-EE60E3B7B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b="1" dirty="0"/>
              <a:t>Chemical file </a:t>
            </a:r>
            <a:r>
              <a:rPr lang="es-CL" b="1" dirty="0" err="1"/>
              <a:t>formats</a:t>
            </a:r>
            <a:endParaRPr lang="es-CL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839DC03-249E-85E6-FE36-5782CCA1B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" y="514350"/>
            <a:ext cx="6686550" cy="4469842"/>
          </a:xfrm>
          <a:prstGeom prst="rect">
            <a:avLst/>
          </a:prstGeom>
        </p:spPr>
      </p:pic>
      <p:sp>
        <p:nvSpPr>
          <p:cNvPr id="6" name="Oval 4">
            <a:extLst>
              <a:ext uri="{FF2B5EF4-FFF2-40B4-BE49-F238E27FC236}">
                <a16:creationId xmlns:a16="http://schemas.microsoft.com/office/drawing/2014/main" id="{D1B2E30B-1252-C939-F20B-C699A86A9D47}"/>
              </a:ext>
            </a:extLst>
          </p:cNvPr>
          <p:cNvSpPr/>
          <p:nvPr/>
        </p:nvSpPr>
        <p:spPr>
          <a:xfrm>
            <a:off x="3314700" y="2365749"/>
            <a:ext cx="1543050" cy="20600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85800"/>
            <a:endParaRPr lang="en-IE" sz="105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63578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EC91BB-E635-D682-CF6C-8A3EDB97B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b="1" dirty="0"/>
              <a:t>SMILES </a:t>
            </a:r>
            <a:r>
              <a:rPr lang="es-CL" b="1" dirty="0" err="1"/>
              <a:t>format</a:t>
            </a:r>
            <a:endParaRPr lang="es-CL" b="1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6ED860B-D23F-7C64-E742-31B834260D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" y="457200"/>
            <a:ext cx="7030476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853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9AAA76-DB3F-DF43-9B43-6050BECE3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b="1" dirty="0"/>
              <a:t>SMILES </a:t>
            </a:r>
            <a:r>
              <a:rPr lang="es-CL" b="1" dirty="0" err="1"/>
              <a:t>format</a:t>
            </a:r>
            <a:r>
              <a:rPr lang="es-CL" b="1" dirty="0"/>
              <a:t> II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33D9170-6EB1-0370-E5D6-95699291DD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457243"/>
            <a:ext cx="6686550" cy="4514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30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C90CD3-D0DF-575F-17F4-D3785C67A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b="1" dirty="0"/>
              <a:t>Canonical SMILES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2572A33-F1E0-4A57-22B4-7D5EC2F3A2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75" y="457016"/>
            <a:ext cx="6645375" cy="467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6701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6ED4D9-6114-1E01-D4B6-FC5ED7A47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b="1" dirty="0"/>
              <a:t>Molecular </a:t>
            </a:r>
            <a:r>
              <a:rPr lang="es-CL" b="1" dirty="0" err="1"/>
              <a:t>representation</a:t>
            </a:r>
            <a:endParaRPr lang="es-CL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2AE922B-0ABF-C015-7CD3-635FFC51F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1" y="532432"/>
            <a:ext cx="5867123" cy="4382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2009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4AD06A-27A6-1AFB-50D3-B2D4408E8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b="1" dirty="0"/>
              <a:t>Molecular </a:t>
            </a:r>
            <a:r>
              <a:rPr lang="es-CL" b="1" dirty="0" err="1"/>
              <a:t>similarity</a:t>
            </a:r>
            <a:endParaRPr lang="es-CL" b="1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A69D630-99FE-D990-1183-2A5BCF21DF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" y="479039"/>
            <a:ext cx="6515100" cy="4549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3337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4FD9A3-22BD-BAA6-8166-9E7062B10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b="1" dirty="0"/>
              <a:t>Molecular </a:t>
            </a:r>
            <a:r>
              <a:rPr lang="es-CL" b="1" dirty="0" err="1"/>
              <a:t>fingerprints</a:t>
            </a:r>
            <a:endParaRPr lang="es-CL" b="1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097D82B-CA60-D0FC-5B9A-B26ABE624D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" y="502741"/>
            <a:ext cx="6686550" cy="4676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3308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32538D-9494-A503-9B4E-E57C92773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b="1" dirty="0"/>
              <a:t>Molecular </a:t>
            </a:r>
            <a:r>
              <a:rPr lang="es-CL" b="1" dirty="0" err="1"/>
              <a:t>fingerprints</a:t>
            </a:r>
            <a:endParaRPr lang="es-CL" b="1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A3C622E8-E225-83D6-6222-CA27534017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" y="1494785"/>
            <a:ext cx="9086850" cy="2043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97296054-0A0B-CEF7-2F5A-EC99DF2FC0B9}"/>
              </a:ext>
            </a:extLst>
          </p:cNvPr>
          <p:cNvSpPr txBox="1"/>
          <p:nvPr/>
        </p:nvSpPr>
        <p:spPr>
          <a:xfrm>
            <a:off x="628650" y="857251"/>
            <a:ext cx="80581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defTabSz="685800"/>
            <a:r>
              <a:rPr lang="en-US" sz="1800" b="1" dirty="0">
                <a:solidFill>
                  <a:srgbClr val="2929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Molecular fingerprints are used in drug discovery for many reasons. Today we will focus on their use in the prediction of drug binding affinities.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56C3B16-5C0E-548B-46B4-3F8062963012}"/>
              </a:ext>
            </a:extLst>
          </p:cNvPr>
          <p:cNvSpPr txBox="1"/>
          <p:nvPr/>
        </p:nvSpPr>
        <p:spPr>
          <a:xfrm>
            <a:off x="1200150" y="3423598"/>
            <a:ext cx="7086600" cy="715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defTabSz="685800"/>
            <a:r>
              <a:rPr lang="en-US" sz="1350" dirty="0"/>
              <a:t>Molecular fingerprints are a way of encoding the structure of a molecule. The most common type of fingerprint is a series of binary digits (bits) that represent the presence or absence of particular substructures in the molecule. </a:t>
            </a:r>
            <a:endParaRPr lang="es-CL" sz="1350" dirty="0"/>
          </a:p>
        </p:txBody>
      </p:sp>
    </p:spTree>
    <p:extLst>
      <p:ext uri="{BB962C8B-B14F-4D97-AF65-F5344CB8AC3E}">
        <p14:creationId xmlns:p14="http://schemas.microsoft.com/office/powerpoint/2010/main" val="33256473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017B78-98F7-29A9-2D71-95C97F43C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b="1" dirty="0"/>
              <a:t>Molecular </a:t>
            </a:r>
            <a:r>
              <a:rPr lang="es-CL" b="1" dirty="0" err="1"/>
              <a:t>fingerprints</a:t>
            </a:r>
            <a:endParaRPr lang="es-CL" dirty="0"/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4E702D86-035D-C233-C130-614096BEB8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1520" y="735546"/>
            <a:ext cx="8229600" cy="1024875"/>
          </a:xfrm>
        </p:spPr>
        <p:txBody>
          <a:bodyPr/>
          <a:lstStyle/>
          <a:p>
            <a:pPr algn="just"/>
            <a:r>
              <a:rPr lang="es-ES" dirty="0"/>
              <a:t>Son representaciones digitales de las moléculas que se utilizan en el descubrimiento de medicamentos para identificar compuestos con propiedades terapéuticas deseadas.</a:t>
            </a:r>
          </a:p>
          <a:p>
            <a:pPr algn="just"/>
            <a:r>
              <a:rPr lang="es-ES" dirty="0"/>
              <a:t>Estas huellas se generan a partir de la estructura molecular de los compuestos y se utilizan para comparar y buscar similitudes entre moléculas en grandes bases de datos. </a:t>
            </a:r>
          </a:p>
          <a:p>
            <a:pPr algn="just"/>
            <a:r>
              <a:rPr lang="es-ES" dirty="0"/>
              <a:t>El objetivo es identificar compuestos que sean similares a otros que ya se sabe que tienen actividad biológica útil. </a:t>
            </a:r>
          </a:p>
          <a:p>
            <a:pPr algn="just"/>
            <a:r>
              <a:rPr lang="es-ES" dirty="0"/>
              <a:t>Las huellas moleculares se utilizan ampliamente en la química computacional y en el diseño de fármacos racional, y han demostrado ser una herramienta valiosa para el descubrimiento de medicamentos.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899401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06AE00-21BC-9569-490B-5842254C9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b="1" dirty="0"/>
              <a:t>Molecular </a:t>
            </a:r>
            <a:r>
              <a:rPr lang="es-CL" b="1" dirty="0" err="1"/>
              <a:t>fingerprints</a:t>
            </a:r>
            <a:endParaRPr lang="es-CL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2B66AF5-2F03-7D2B-7A04-0B99B40E34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9370DE4D-F9C7-E2A4-D4B5-E51BC53844F6}"/>
              </a:ext>
            </a:extLst>
          </p:cNvPr>
          <p:cNvSpPr txBox="1">
            <a:spLocks/>
          </p:cNvSpPr>
          <p:nvPr/>
        </p:nvSpPr>
        <p:spPr>
          <a:xfrm>
            <a:off x="251520" y="735546"/>
            <a:ext cx="8229600" cy="102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42900" indent="-257175" algn="just" defTabSz="685800">
              <a:spcBef>
                <a:spcPts val="270"/>
              </a:spcBef>
              <a:buClr>
                <a:srgbClr val="000000"/>
              </a:buClr>
            </a:pPr>
            <a:r>
              <a:rPr lang="en-US">
                <a:solidFill>
                  <a:srgbClr val="000000"/>
                </a:solidFill>
              </a:rPr>
              <a:t>Molecular fingerprints are a way to represent molecules as mathematical objects. By doing this, we can perform statistical analyses and/or machine learning techniques on the set of molecules to gain new insights that we could not gain as humans. </a:t>
            </a:r>
            <a:endParaRPr lang="es-CL" dirty="0">
              <a:solidFill>
                <a:srgbClr val="000000"/>
              </a:solidFill>
            </a:endParaRPr>
          </a:p>
        </p:txBody>
      </p:sp>
      <p:pic>
        <p:nvPicPr>
          <p:cNvPr id="5" name="Picture 2" descr="In substructure key-based fingerprints, bits are set according to the... |  Download Scientific Diagram">
            <a:extLst>
              <a:ext uri="{FF2B5EF4-FFF2-40B4-BE49-F238E27FC236}">
                <a16:creationId xmlns:a16="http://schemas.microsoft.com/office/drawing/2014/main" id="{DEBC80D2-C0C3-5F91-9D77-0F840EA01B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2057400"/>
            <a:ext cx="3504009" cy="2510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59982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19493E-AA2D-F20D-A9C0-84033DA7E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b="1" dirty="0"/>
              <a:t>Similarity of molecular fingerprints</a:t>
            </a:r>
            <a:endParaRPr lang="es-CL" b="1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8A38126-D63F-D1AC-3C9A-918A8C5A8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19" y="479040"/>
            <a:ext cx="6211331" cy="455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1467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34E8A5-2468-5983-0304-AC172F07F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b="1" dirty="0" err="1"/>
              <a:t>Similarity</a:t>
            </a:r>
            <a:r>
              <a:rPr lang="es-CL" b="1" dirty="0"/>
              <a:t> </a:t>
            </a:r>
            <a:r>
              <a:rPr lang="es-CL" b="1" dirty="0" err="1"/>
              <a:t>of</a:t>
            </a:r>
            <a:r>
              <a:rPr lang="es-CL" b="1" dirty="0"/>
              <a:t> </a:t>
            </a:r>
            <a:r>
              <a:rPr lang="es-CL" b="1" dirty="0" err="1"/>
              <a:t>atom</a:t>
            </a:r>
            <a:r>
              <a:rPr lang="es-CL" b="1" dirty="0"/>
              <a:t> </a:t>
            </a:r>
            <a:r>
              <a:rPr lang="es-CL" b="1" dirty="0" err="1"/>
              <a:t>environments</a:t>
            </a:r>
            <a:endParaRPr lang="es-CL" b="1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C987AA8-2A9C-BDA1-3B30-8EB9DDC16B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B26615C-B9D5-C3AB-B609-ABF317D77E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" y="433501"/>
            <a:ext cx="7372350" cy="4569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5606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CF38D-524F-6FD5-BA44-AE74BE725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b="1" dirty="0"/>
              <a:t>Molecular </a:t>
            </a:r>
            <a:r>
              <a:rPr lang="es-CL" b="1" dirty="0" err="1"/>
              <a:t>fingerprints</a:t>
            </a:r>
            <a:endParaRPr lang="es-CL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97B3297-D2EC-6FC6-DACA-26DA35285D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8651"/>
            <a:ext cx="8001000" cy="4144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0433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CF38D-524F-6FD5-BA44-AE74BE725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b="1" dirty="0"/>
              <a:t>Molecular </a:t>
            </a:r>
            <a:r>
              <a:rPr lang="es-CL" b="1" dirty="0" err="1"/>
              <a:t>fingerprints</a:t>
            </a:r>
            <a:endParaRPr lang="es-CL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8368692-F91D-9652-9BA5-65AA43B2E9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33238AF-D8D9-B71C-D172-8F45A2E3D5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1500"/>
            <a:ext cx="9144000" cy="4388471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782C5EAC-8954-CAF0-4B28-40649791C29A}"/>
              </a:ext>
            </a:extLst>
          </p:cNvPr>
          <p:cNvSpPr/>
          <p:nvPr/>
        </p:nvSpPr>
        <p:spPr>
          <a:xfrm>
            <a:off x="8343900" y="571500"/>
            <a:ext cx="1085850" cy="14859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85800"/>
            <a:endParaRPr lang="es-CL" sz="105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BE61008-4895-5D75-47A2-A62784709106}"/>
              </a:ext>
            </a:extLst>
          </p:cNvPr>
          <p:cNvSpPr/>
          <p:nvPr/>
        </p:nvSpPr>
        <p:spPr>
          <a:xfrm>
            <a:off x="7851860" y="1028700"/>
            <a:ext cx="1085850" cy="28575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85800"/>
            <a:endParaRPr lang="es-CL" sz="105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455394E-70E3-437B-3B0A-0EA9425B94F0}"/>
              </a:ext>
            </a:extLst>
          </p:cNvPr>
          <p:cNvSpPr/>
          <p:nvPr/>
        </p:nvSpPr>
        <p:spPr>
          <a:xfrm>
            <a:off x="7829550" y="1543387"/>
            <a:ext cx="1085850" cy="28575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85800"/>
            <a:endParaRPr lang="es-CL" sz="105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313228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CF38D-524F-6FD5-BA44-AE74BE725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b="1" dirty="0"/>
              <a:t>Molecular </a:t>
            </a:r>
            <a:r>
              <a:rPr lang="es-CL" b="1" dirty="0" err="1"/>
              <a:t>fingerprints</a:t>
            </a:r>
            <a:endParaRPr lang="es-CL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8368692-F91D-9652-9BA5-65AA43B2E9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957AF9A-1BA0-0586-27A2-3EA4F614A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2337"/>
            <a:ext cx="9144000" cy="3858827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E55EEB6B-5F99-8782-179B-DE05219E2C46}"/>
              </a:ext>
            </a:extLst>
          </p:cNvPr>
          <p:cNvSpPr/>
          <p:nvPr/>
        </p:nvSpPr>
        <p:spPr>
          <a:xfrm>
            <a:off x="-57150" y="4407954"/>
            <a:ext cx="685800" cy="3354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85800"/>
            <a:endParaRPr lang="es-CL" sz="105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ADF4754-CF15-CA7A-CC3D-B1B8772D5AEA}"/>
              </a:ext>
            </a:extLst>
          </p:cNvPr>
          <p:cNvSpPr/>
          <p:nvPr/>
        </p:nvSpPr>
        <p:spPr>
          <a:xfrm>
            <a:off x="8172450" y="546707"/>
            <a:ext cx="1085850" cy="128209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85800"/>
            <a:endParaRPr lang="es-CL" sz="105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232523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09723B-3B10-3B4A-61E0-5CCB5169F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b="1" dirty="0"/>
              <a:t>Molecular </a:t>
            </a:r>
            <a:r>
              <a:rPr lang="es-CL" b="1" dirty="0" err="1"/>
              <a:t>fingerprints</a:t>
            </a:r>
            <a:endParaRPr lang="es-CL" dirty="0"/>
          </a:p>
        </p:txBody>
      </p:sp>
      <p:pic>
        <p:nvPicPr>
          <p:cNvPr id="1026" name="Picture 2" descr="Chemical similarity search using 2D chemical fingerprints ...">
            <a:extLst>
              <a:ext uri="{FF2B5EF4-FFF2-40B4-BE49-F238E27FC236}">
                <a16:creationId xmlns:a16="http://schemas.microsoft.com/office/drawing/2014/main" id="{5272557F-0605-D1A3-C1A5-4E2EC80397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046" y="571500"/>
            <a:ext cx="8469055" cy="4294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88943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7083A0-2361-45F0-103A-CD5F52C4C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b="1" dirty="0" err="1"/>
              <a:t>Fingerprinting</a:t>
            </a:r>
            <a:r>
              <a:rPr lang="es-CL" b="1" dirty="0"/>
              <a:t> </a:t>
            </a:r>
            <a:r>
              <a:rPr lang="es-CL" b="1" dirty="0" err="1"/>
              <a:t>methods</a:t>
            </a:r>
            <a:endParaRPr lang="es-CL" dirty="0"/>
          </a:p>
        </p:txBody>
      </p:sp>
      <p:sp>
        <p:nvSpPr>
          <p:cNvPr id="6" name="Marcador de texto 2">
            <a:extLst>
              <a:ext uri="{FF2B5EF4-FFF2-40B4-BE49-F238E27FC236}">
                <a16:creationId xmlns:a16="http://schemas.microsoft.com/office/drawing/2014/main" id="{DEFA3C5A-C6B3-D439-F6DB-81A3AC40AC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1520" y="735546"/>
            <a:ext cx="8229600" cy="1024875"/>
          </a:xfrm>
        </p:spPr>
        <p:txBody>
          <a:bodyPr/>
          <a:lstStyle/>
          <a:p>
            <a:pPr algn="just"/>
            <a:r>
              <a:rPr lang="es-ES" sz="1500" b="1" dirty="0" err="1"/>
              <a:t>Fingerprint</a:t>
            </a:r>
            <a:r>
              <a:rPr lang="es-ES" sz="1500" b="1" dirty="0"/>
              <a:t> basado en la estructura:</a:t>
            </a:r>
            <a:r>
              <a:rPr lang="es-ES" sz="1500" dirty="0"/>
              <a:t> Este método se basa en la identificación de características estructurales específicas de la molécula, como enlaces químicos, átomos y grupos funcionales. Se utiliza para crear una huella digital única de la molécula.</a:t>
            </a:r>
          </a:p>
          <a:p>
            <a:pPr algn="just"/>
            <a:r>
              <a:rPr lang="es-ES" sz="1500" b="1" dirty="0" err="1"/>
              <a:t>Fingerprint</a:t>
            </a:r>
            <a:r>
              <a:rPr lang="es-ES" sz="1500" b="1" dirty="0"/>
              <a:t> basado en la subestructura:</a:t>
            </a:r>
            <a:r>
              <a:rPr lang="es-ES" sz="1500" dirty="0"/>
              <a:t> Este método se basa en la identificación de subestructuras moleculares específicas, como anillos aromáticos o grupos hidroxilo, y las utiliza para crear una huella digital única de la molécula.</a:t>
            </a:r>
          </a:p>
          <a:p>
            <a:pPr algn="just"/>
            <a:r>
              <a:rPr lang="es-ES" sz="1500" b="1" dirty="0" err="1"/>
              <a:t>Fingerprint</a:t>
            </a:r>
            <a:r>
              <a:rPr lang="es-ES" sz="1500" b="1" dirty="0"/>
              <a:t> basado en el fragmento:</a:t>
            </a:r>
            <a:r>
              <a:rPr lang="es-ES" sz="1500" dirty="0"/>
              <a:t> Este método divide la molécula en fragmentos más pequeños y utiliza la presencia o ausencia de cada fragmento para crear una huella digital única de la molécula.</a:t>
            </a:r>
          </a:p>
          <a:p>
            <a:pPr algn="just"/>
            <a:r>
              <a:rPr lang="es-ES" sz="1500" b="1" dirty="0" err="1"/>
              <a:t>Fingerprint</a:t>
            </a:r>
            <a:r>
              <a:rPr lang="es-ES" sz="1500" b="1" dirty="0"/>
              <a:t> basado en la propiedad:</a:t>
            </a:r>
            <a:r>
              <a:rPr lang="es-ES" sz="1500" dirty="0"/>
              <a:t> Este método utiliza propiedades físicas y químicas de la molécula, como el peso molecular o la polaridad, para crear una huella digital única de la molécula.</a:t>
            </a:r>
            <a:endParaRPr lang="es-CL" sz="1500" dirty="0"/>
          </a:p>
        </p:txBody>
      </p:sp>
    </p:spTree>
    <p:extLst>
      <p:ext uri="{BB962C8B-B14F-4D97-AF65-F5344CB8AC3E}">
        <p14:creationId xmlns:p14="http://schemas.microsoft.com/office/powerpoint/2010/main" val="636473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7E2633-8C69-B5FF-6D44-DB24AC1A9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b="1" dirty="0"/>
              <a:t>Molecular </a:t>
            </a:r>
            <a:r>
              <a:rPr lang="es-CL" b="1" dirty="0" err="1"/>
              <a:t>fingerprints</a:t>
            </a:r>
            <a:endParaRPr lang="es-CL" dirty="0"/>
          </a:p>
        </p:txBody>
      </p:sp>
      <p:pic>
        <p:nvPicPr>
          <p:cNvPr id="4" name="Picture 2" descr="Figure 1: &#10;Traditional representations of compounds for machine learning tasks.&#10;">
            <a:extLst>
              <a:ext uri="{FF2B5EF4-FFF2-40B4-BE49-F238E27FC236}">
                <a16:creationId xmlns:a16="http://schemas.microsoft.com/office/drawing/2014/main" id="{DCE621AC-BCAC-5EA4-05E7-4D32E5A821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00" t="6877"/>
          <a:stretch/>
        </p:blipFill>
        <p:spPr bwMode="auto">
          <a:xfrm>
            <a:off x="457200" y="812992"/>
            <a:ext cx="8172450" cy="3816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12126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CF38D-524F-6FD5-BA44-AE74BE725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b="1" dirty="0"/>
              <a:t>Molecular </a:t>
            </a:r>
            <a:r>
              <a:rPr lang="es-CL" b="1" dirty="0" err="1"/>
              <a:t>fingerprints</a:t>
            </a:r>
            <a:endParaRPr lang="es-CL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2B13CEF-EF1E-EA86-8335-EA74000AC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500273"/>
            <a:ext cx="5590354" cy="1257300"/>
          </a:xfrm>
          <a:prstGeom prst="rect">
            <a:avLst/>
          </a:prstGeom>
        </p:spPr>
      </p:pic>
      <p:pic>
        <p:nvPicPr>
          <p:cNvPr id="1026" name="Picture 2" descr="Description unavailable">
            <a:extLst>
              <a:ext uri="{FF2B5EF4-FFF2-40B4-BE49-F238E27FC236}">
                <a16:creationId xmlns:a16="http://schemas.microsoft.com/office/drawing/2014/main" id="{FD885165-7745-82CA-CFB0-05AF925E4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771651"/>
            <a:ext cx="4400550" cy="2928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1A4185AA-068E-DA11-D2E1-9338EAE5B9DD}"/>
              </a:ext>
            </a:extLst>
          </p:cNvPr>
          <p:cNvSpPr txBox="1"/>
          <p:nvPr/>
        </p:nvSpPr>
        <p:spPr>
          <a:xfrm>
            <a:off x="2654878" y="4741217"/>
            <a:ext cx="460317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/>
            <a:r>
              <a:rPr lang="es-CL" sz="1050" dirty="0"/>
              <a:t>https://onlinelibrary.wiley.com/doi/full/10.1002/minf.202200116</a:t>
            </a:r>
          </a:p>
        </p:txBody>
      </p:sp>
    </p:spTree>
    <p:extLst>
      <p:ext uri="{BB962C8B-B14F-4D97-AF65-F5344CB8AC3E}">
        <p14:creationId xmlns:p14="http://schemas.microsoft.com/office/powerpoint/2010/main" val="2830000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CF38D-524F-6FD5-BA44-AE74BE725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b="1" dirty="0"/>
              <a:t>Molecular </a:t>
            </a:r>
            <a:r>
              <a:rPr lang="es-CL" b="1" dirty="0" err="1"/>
              <a:t>fingerprints</a:t>
            </a:r>
            <a:endParaRPr lang="es-CL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2D9E536-690A-5D87-A1E8-C6DBC295AB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0" y="473724"/>
            <a:ext cx="5886450" cy="1583677"/>
          </a:xfrm>
          <a:prstGeom prst="rect">
            <a:avLst/>
          </a:prstGeom>
        </p:spPr>
      </p:pic>
      <p:pic>
        <p:nvPicPr>
          <p:cNvPr id="2050" name="Picture 2" descr="Description unavailable">
            <a:extLst>
              <a:ext uri="{FF2B5EF4-FFF2-40B4-BE49-F238E27FC236}">
                <a16:creationId xmlns:a16="http://schemas.microsoft.com/office/drawing/2014/main" id="{7E9ADFD6-3D23-8217-8B88-1DB50F5A5A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6063" y="2057400"/>
            <a:ext cx="3571875" cy="1778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95142A2D-35F6-9E35-D46C-B0B7897DAA04}"/>
              </a:ext>
            </a:extLst>
          </p:cNvPr>
          <p:cNvSpPr txBox="1"/>
          <p:nvPr/>
        </p:nvSpPr>
        <p:spPr>
          <a:xfrm>
            <a:off x="2296392" y="3886200"/>
            <a:ext cx="564745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/>
            <a:r>
              <a:rPr lang="es-CL" sz="1050" dirty="0"/>
              <a:t>https://chemistry-europe.onlinelibrary.wiley.com/doi/full/10.1002/cmtd.202200005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197519D-3D4F-6E18-8841-B2D2AA8DD5D3}"/>
              </a:ext>
            </a:extLst>
          </p:cNvPr>
          <p:cNvSpPr txBox="1"/>
          <p:nvPr/>
        </p:nvSpPr>
        <p:spPr>
          <a:xfrm>
            <a:off x="2286000" y="4055417"/>
            <a:ext cx="460317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/>
            <a:r>
              <a:rPr lang="es-CL" sz="1050" dirty="0"/>
              <a:t>https://chemplot.readthedocs.io/en/latest/index.html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17A25BA-5A7A-7A2C-0520-72A3A05B28B0}"/>
              </a:ext>
            </a:extLst>
          </p:cNvPr>
          <p:cNvSpPr txBox="1"/>
          <p:nvPr/>
        </p:nvSpPr>
        <p:spPr>
          <a:xfrm>
            <a:off x="2286000" y="4229100"/>
            <a:ext cx="460317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/>
            <a:r>
              <a:rPr lang="es-CL" sz="1050" dirty="0"/>
              <a:t>https://github.com/mcsorkun/ChemPlot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802A919-B853-A182-2705-B2EAF41BB0BF}"/>
              </a:ext>
            </a:extLst>
          </p:cNvPr>
          <p:cNvSpPr txBox="1"/>
          <p:nvPr/>
        </p:nvSpPr>
        <p:spPr>
          <a:xfrm>
            <a:off x="2286000" y="4398317"/>
            <a:ext cx="460317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/>
            <a:r>
              <a:rPr lang="es-CL" sz="1050" dirty="0"/>
              <a:t>https://chemplot.streamlit.app/</a:t>
            </a:r>
          </a:p>
        </p:txBody>
      </p:sp>
    </p:spTree>
    <p:extLst>
      <p:ext uri="{BB962C8B-B14F-4D97-AF65-F5344CB8AC3E}">
        <p14:creationId xmlns:p14="http://schemas.microsoft.com/office/powerpoint/2010/main" val="30286339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E6BBD6-03E3-A3F0-CF9B-6024584ED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b="1" dirty="0"/>
              <a:t>Molecular </a:t>
            </a:r>
            <a:r>
              <a:rPr lang="es-CL" b="1" dirty="0" err="1"/>
              <a:t>fingerprints</a:t>
            </a:r>
            <a:endParaRPr lang="es-CL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146C270-A0BA-8FB7-C8B4-3560BCCDA1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3C80E19-9FCC-9262-A389-AF5B89C706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050" y="602874"/>
            <a:ext cx="5936085" cy="4254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6408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E6BBD6-03E3-A3F0-CF9B-6024584ED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b="1" dirty="0"/>
              <a:t>Molecular </a:t>
            </a:r>
            <a:r>
              <a:rPr lang="es-CL" b="1" dirty="0" err="1"/>
              <a:t>fingerprints</a:t>
            </a:r>
            <a:endParaRPr lang="es-CL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146C270-A0BA-8FB7-C8B4-3560BCCDA1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32D90B0-0DE6-4A95-A26B-F88547D240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86" y="571500"/>
            <a:ext cx="7568514" cy="4286250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37F02325-40CB-6FF9-8F19-B64EB0337243}"/>
              </a:ext>
            </a:extLst>
          </p:cNvPr>
          <p:cNvSpPr/>
          <p:nvPr/>
        </p:nvSpPr>
        <p:spPr>
          <a:xfrm>
            <a:off x="3486150" y="3964332"/>
            <a:ext cx="1085850" cy="95056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85800"/>
            <a:endParaRPr lang="es-CL" sz="105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41221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8FF07E-3A30-377F-9796-EE432C6AE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1800" b="1" dirty="0"/>
              <a:t>Herramientas</a:t>
            </a:r>
            <a:endParaRPr lang="es-CL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C1FA90E-017C-FB94-3CDF-E2464C5719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" y="685800"/>
            <a:ext cx="9272755" cy="3943350"/>
          </a:xfrm>
          <a:prstGeom prst="rect">
            <a:avLst/>
          </a:prstGeom>
        </p:spPr>
      </p:pic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4A07DDE-8C97-DD86-4973-9D9A138C61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85725" indent="0">
              <a:buNone/>
            </a:pP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6084062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500EC4-BD96-127D-30E9-6BDA69355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¿Qué es la Ciencia de Datos?</a:t>
            </a:r>
            <a:endParaRPr lang="es-CL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50787D9-2383-0396-79D6-B95B3B0834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1649" y="1023874"/>
            <a:ext cx="7734400" cy="3537900"/>
          </a:xfrm>
        </p:spPr>
        <p:txBody>
          <a:bodyPr/>
          <a:lstStyle/>
          <a:p>
            <a:pPr marL="63500" indent="0" algn="just">
              <a:buNone/>
            </a:pPr>
            <a:r>
              <a:rPr lang="es-ES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Características Clave:</a:t>
            </a:r>
            <a:endParaRPr lang="es-CL" sz="1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6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🔍 Extracción de información significativa</a:t>
            </a:r>
          </a:p>
          <a:p>
            <a:pPr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6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🔢 Análisis de grandes volúmenes de datos</a:t>
            </a:r>
          </a:p>
          <a:p>
            <a:pPr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6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🧠 Enfoque científico y sistemático</a:t>
            </a:r>
          </a:p>
          <a:p>
            <a:pPr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6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📈 Generación de valor empresarial</a:t>
            </a:r>
          </a:p>
          <a:p>
            <a:pPr lvl="0" algn="just"/>
            <a:endParaRPr lang="es-CL" sz="1600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7F4B253-CC27-48D9-2906-232A7782633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28</a:t>
            </a:fld>
            <a:endParaRPr lang="es-CL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F4FB82E-124A-E70C-F7C8-A8EFC39502B0}"/>
              </a:ext>
            </a:extLst>
          </p:cNvPr>
          <p:cNvSpPr txBox="1"/>
          <p:nvPr/>
        </p:nvSpPr>
        <p:spPr>
          <a:xfrm>
            <a:off x="1876053" y="3185841"/>
            <a:ext cx="6474889" cy="15696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s-ES" sz="16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La ciencia de datos es el estudio de datos con el fin de extraer información significativa, por ejemplo, a partir de datos moleculares, espectroscópicos o de bioactividad. Es un enfoque multidisciplinario que combina principios y prácticas del campo de las matemáticas, la estadística, la inteligencia artificial y la ingeniería de computación para analizar grandes cantidades de datos.</a:t>
            </a:r>
            <a:endParaRPr lang="es-CL" sz="16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05672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5B3E2D-75D4-A300-9E14-26B5C800A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Vocabulario Data </a:t>
            </a:r>
            <a:r>
              <a:rPr lang="es-ES" dirty="0" err="1"/>
              <a:t>Science</a:t>
            </a:r>
            <a:endParaRPr lang="es-CL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18C908D-87FB-C8CB-0CDB-8175E33AFF8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29</a:t>
            </a:fld>
            <a:endParaRPr lang="es-CL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DCE8962-E066-D76C-21A5-40967183317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84961" y="960049"/>
            <a:ext cx="6256963" cy="3910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5380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223D9-FE65-0CAA-786F-C2324594E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17E17D-1581-5DFB-7B7F-B8BA22250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Data </a:t>
            </a:r>
            <a:r>
              <a:rPr lang="es-ES" dirty="0" err="1"/>
              <a:t>Science</a:t>
            </a:r>
            <a:r>
              <a:rPr lang="es-ES" dirty="0"/>
              <a:t> e Inteligencia Artificial</a:t>
            </a:r>
            <a:endParaRPr lang="es-CL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1218368-7D1D-6E61-3F87-FF5B547F8AF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30</a:t>
            </a:fld>
            <a:endParaRPr lang="es-CL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CA08DD0-4F9C-BF74-99FD-CA696B7CE14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DAD7D3"/>
              </a:clrFrom>
              <a:clrTo>
                <a:srgbClr val="DAD7D3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180043" y="1063853"/>
            <a:ext cx="5417085" cy="3015794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769C6273-837F-7E2C-1B6C-175182A8A1BB}"/>
              </a:ext>
            </a:extLst>
          </p:cNvPr>
          <p:cNvSpPr txBox="1"/>
          <p:nvPr/>
        </p:nvSpPr>
        <p:spPr>
          <a:xfrm>
            <a:off x="2316212" y="4162646"/>
            <a:ext cx="52603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sz="1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La ciencia de datos genera conocimientos. El aprendizaje automático genera predicciones.</a:t>
            </a:r>
          </a:p>
        </p:txBody>
      </p:sp>
    </p:spTree>
    <p:extLst>
      <p:ext uri="{BB962C8B-B14F-4D97-AF65-F5344CB8AC3E}">
        <p14:creationId xmlns:p14="http://schemas.microsoft.com/office/powerpoint/2010/main" val="30565677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C25C54-81B5-3BBF-7961-7B88D7AD8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Disciplina Multidisciplinaria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BF9D378-0785-C23D-7D73-C27B81702F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31</a:t>
            </a:fld>
            <a:endParaRPr lang="es-CL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6498DA2F-0446-DB5B-10BF-252C8D2EE3DB}"/>
              </a:ext>
            </a:extLst>
          </p:cNvPr>
          <p:cNvSpPr/>
          <p:nvPr/>
        </p:nvSpPr>
        <p:spPr>
          <a:xfrm>
            <a:off x="895906" y="1304818"/>
            <a:ext cx="2539090" cy="1541124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200"/>
              </a:spcAft>
              <a:buNone/>
            </a:pPr>
            <a:r>
              <a:rPr lang="es-CL" sz="1800" b="0" i="0" dirty="0">
                <a:solidFill>
                  <a:schemeClr val="tx1"/>
                </a:solidFill>
                <a:effectLst/>
                <a:latin typeface="FKGroteskNeue"/>
              </a:rPr>
              <a:t>📊</a:t>
            </a:r>
          </a:p>
          <a:p>
            <a:pPr algn="ctr">
              <a:spcAft>
                <a:spcPts val="900"/>
              </a:spcAft>
              <a:buNone/>
            </a:pPr>
            <a:r>
              <a:rPr lang="es-CL" sz="1800" b="1" i="0" dirty="0">
                <a:solidFill>
                  <a:schemeClr val="tx1"/>
                </a:solidFill>
                <a:effectLst/>
                <a:latin typeface="FKGroteskNeue"/>
              </a:rPr>
              <a:t>Matemática</a:t>
            </a:r>
          </a:p>
          <a:p>
            <a:pPr algn="ctr">
              <a:spcAft>
                <a:spcPts val="1200"/>
              </a:spcAft>
              <a:buNone/>
            </a:pPr>
            <a:r>
              <a:rPr lang="es-CL" sz="1600" b="0" i="0" dirty="0">
                <a:solidFill>
                  <a:schemeClr val="tx1"/>
                </a:solidFill>
                <a:effectLst/>
                <a:latin typeface="FKGroteskNeue"/>
              </a:rPr>
              <a:t>Álgebra lineal, cálculo, optimización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2A24048F-8815-6D61-22C4-B4076E8A9038}"/>
              </a:ext>
            </a:extLst>
          </p:cNvPr>
          <p:cNvSpPr/>
          <p:nvPr/>
        </p:nvSpPr>
        <p:spPr>
          <a:xfrm>
            <a:off x="3575747" y="1304818"/>
            <a:ext cx="2539090" cy="1541124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200"/>
              </a:spcAft>
              <a:buNone/>
            </a:pPr>
            <a:r>
              <a:rPr lang="es-CL" sz="1800" b="0" i="0" dirty="0">
                <a:solidFill>
                  <a:schemeClr val="tx1"/>
                </a:solidFill>
                <a:effectLst/>
                <a:latin typeface="FKGroteskNeue"/>
              </a:rPr>
              <a:t>📈</a:t>
            </a:r>
          </a:p>
          <a:p>
            <a:pPr algn="ctr">
              <a:spcAft>
                <a:spcPts val="900"/>
              </a:spcAft>
              <a:buNone/>
            </a:pPr>
            <a:r>
              <a:rPr lang="es-CL" sz="1800" b="1" i="0" dirty="0">
                <a:solidFill>
                  <a:schemeClr val="tx1"/>
                </a:solidFill>
                <a:effectLst/>
                <a:latin typeface="FKGroteskNeue"/>
              </a:rPr>
              <a:t>Estadística</a:t>
            </a:r>
          </a:p>
          <a:p>
            <a:pPr algn="ctr">
              <a:spcAft>
                <a:spcPts val="1200"/>
              </a:spcAft>
              <a:buNone/>
            </a:pPr>
            <a:r>
              <a:rPr lang="es-CL" sz="1600" b="0" i="0" dirty="0">
                <a:solidFill>
                  <a:schemeClr val="tx1"/>
                </a:solidFill>
                <a:effectLst/>
                <a:latin typeface="FKGroteskNeue"/>
              </a:rPr>
              <a:t>Análisis descriptivo, inferencial, probabilidad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C60E54A-2E3D-77C4-87EC-655FE88B387E}"/>
              </a:ext>
            </a:extLst>
          </p:cNvPr>
          <p:cNvSpPr/>
          <p:nvPr/>
        </p:nvSpPr>
        <p:spPr>
          <a:xfrm>
            <a:off x="6255589" y="1304818"/>
            <a:ext cx="2539090" cy="1541124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200"/>
              </a:spcAft>
              <a:buNone/>
            </a:pPr>
            <a:r>
              <a:rPr lang="es-ES" sz="1800" b="0" i="0" dirty="0">
                <a:solidFill>
                  <a:schemeClr val="tx1"/>
                </a:solidFill>
                <a:effectLst/>
                <a:latin typeface="FKGroteskNeue"/>
              </a:rPr>
              <a:t>💻</a:t>
            </a:r>
          </a:p>
          <a:p>
            <a:pPr algn="ctr">
              <a:spcAft>
                <a:spcPts val="900"/>
              </a:spcAft>
              <a:buNone/>
            </a:pPr>
            <a:r>
              <a:rPr lang="es-ES" sz="1800" b="1" i="0" dirty="0">
                <a:solidFill>
                  <a:schemeClr val="tx1"/>
                </a:solidFill>
                <a:effectLst/>
                <a:latin typeface="FKGroteskNeue"/>
              </a:rPr>
              <a:t>Programación</a:t>
            </a:r>
          </a:p>
          <a:p>
            <a:pPr algn="ctr">
              <a:spcAft>
                <a:spcPts val="1200"/>
              </a:spcAft>
              <a:buNone/>
            </a:pPr>
            <a:r>
              <a:rPr lang="es-ES" sz="1600" b="0" i="0" dirty="0">
                <a:solidFill>
                  <a:schemeClr val="tx1"/>
                </a:solidFill>
                <a:effectLst/>
                <a:latin typeface="FKGroteskNeue"/>
              </a:rPr>
              <a:t>Python, R, SQL, herramientas de análisis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7BCAB715-6F52-EE51-FB1B-91BFCFA57BA2}"/>
              </a:ext>
            </a:extLst>
          </p:cNvPr>
          <p:cNvSpPr/>
          <p:nvPr/>
        </p:nvSpPr>
        <p:spPr>
          <a:xfrm>
            <a:off x="895906" y="3049712"/>
            <a:ext cx="2539090" cy="1541124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200"/>
              </a:spcAft>
              <a:buNone/>
            </a:pPr>
            <a:r>
              <a:rPr lang="es-CL" sz="1800" i="0" dirty="0">
                <a:solidFill>
                  <a:schemeClr val="tx1"/>
                </a:solidFill>
                <a:effectLst/>
                <a:latin typeface="FKGroteskNeue"/>
              </a:rPr>
              <a:t>🧠</a:t>
            </a:r>
          </a:p>
          <a:p>
            <a:pPr algn="ctr">
              <a:spcAft>
                <a:spcPts val="900"/>
              </a:spcAft>
              <a:buNone/>
            </a:pPr>
            <a:r>
              <a:rPr lang="es-CL" sz="1800" b="1" i="0" dirty="0">
                <a:solidFill>
                  <a:schemeClr val="tx1"/>
                </a:solidFill>
                <a:effectLst/>
                <a:latin typeface="FKGroteskNeue"/>
              </a:rPr>
              <a:t>Inteligencia Artificial</a:t>
            </a:r>
          </a:p>
          <a:p>
            <a:pPr algn="ctr">
              <a:spcAft>
                <a:spcPts val="1200"/>
              </a:spcAft>
              <a:buNone/>
            </a:pPr>
            <a:r>
              <a:rPr lang="es-CL" sz="1600" i="0" dirty="0">
                <a:solidFill>
                  <a:schemeClr val="tx1"/>
                </a:solidFill>
                <a:effectLst/>
                <a:latin typeface="FKGroteskNeue"/>
              </a:rPr>
              <a:t>Machine </a:t>
            </a:r>
            <a:r>
              <a:rPr lang="es-CL" sz="1600" i="0" dirty="0" err="1">
                <a:solidFill>
                  <a:schemeClr val="tx1"/>
                </a:solidFill>
                <a:effectLst/>
                <a:latin typeface="FKGroteskNeue"/>
              </a:rPr>
              <a:t>Learning</a:t>
            </a:r>
            <a:r>
              <a:rPr lang="es-CL" sz="1600" i="0" dirty="0">
                <a:solidFill>
                  <a:schemeClr val="tx1"/>
                </a:solidFill>
                <a:effectLst/>
                <a:latin typeface="FKGroteskNeue"/>
              </a:rPr>
              <a:t>, redes neuronales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B2A47A3C-0992-AB0E-BA87-BE621C19591D}"/>
              </a:ext>
            </a:extLst>
          </p:cNvPr>
          <p:cNvSpPr/>
          <p:nvPr/>
        </p:nvSpPr>
        <p:spPr>
          <a:xfrm>
            <a:off x="3575747" y="3049712"/>
            <a:ext cx="2539090" cy="1541124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200"/>
              </a:spcAft>
              <a:buNone/>
            </a:pPr>
            <a:r>
              <a:rPr lang="es-ES" sz="1800" b="0" i="0" dirty="0">
                <a:solidFill>
                  <a:schemeClr val="tx1"/>
                </a:solidFill>
                <a:effectLst/>
                <a:latin typeface="FKGroteskNeue"/>
              </a:rPr>
              <a:t>🏢</a:t>
            </a:r>
          </a:p>
          <a:p>
            <a:pPr algn="ctr">
              <a:spcAft>
                <a:spcPts val="900"/>
              </a:spcAft>
              <a:buNone/>
            </a:pPr>
            <a:r>
              <a:rPr lang="es-ES" sz="1800" b="1" i="0" dirty="0">
                <a:solidFill>
                  <a:schemeClr val="tx1"/>
                </a:solidFill>
                <a:effectLst/>
                <a:latin typeface="FKGroteskNeue"/>
              </a:rPr>
              <a:t>Dominio Específico</a:t>
            </a:r>
          </a:p>
          <a:p>
            <a:pPr algn="ctr">
              <a:spcAft>
                <a:spcPts val="1200"/>
              </a:spcAft>
              <a:buNone/>
            </a:pPr>
            <a:r>
              <a:rPr lang="es-ES" sz="1600" b="0" i="0" dirty="0">
                <a:solidFill>
                  <a:schemeClr val="tx1"/>
                </a:solidFill>
                <a:effectLst/>
                <a:latin typeface="FKGroteskNeue"/>
              </a:rPr>
              <a:t>Química computacional y cheminformática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7E9B02F2-A890-348F-DB9A-B1853B41939A}"/>
              </a:ext>
            </a:extLst>
          </p:cNvPr>
          <p:cNvSpPr/>
          <p:nvPr/>
        </p:nvSpPr>
        <p:spPr>
          <a:xfrm>
            <a:off x="6255589" y="3049712"/>
            <a:ext cx="2539090" cy="1541124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200"/>
              </a:spcAft>
              <a:buNone/>
            </a:pPr>
            <a:r>
              <a:rPr lang="es-ES" sz="1800" b="0" i="0" dirty="0">
                <a:solidFill>
                  <a:schemeClr val="tx1"/>
                </a:solidFill>
                <a:effectLst/>
                <a:latin typeface="FKGroteskNeue"/>
              </a:rPr>
              <a:t>📝</a:t>
            </a:r>
          </a:p>
          <a:p>
            <a:pPr algn="ctr">
              <a:spcAft>
                <a:spcPts val="900"/>
              </a:spcAft>
              <a:buNone/>
            </a:pPr>
            <a:r>
              <a:rPr lang="es-ES" sz="1800" b="1" i="0" dirty="0">
                <a:solidFill>
                  <a:schemeClr val="tx1"/>
                </a:solidFill>
                <a:effectLst/>
                <a:latin typeface="FKGroteskNeue"/>
              </a:rPr>
              <a:t>Comunicación</a:t>
            </a:r>
          </a:p>
          <a:p>
            <a:pPr algn="ctr">
              <a:spcAft>
                <a:spcPts val="1200"/>
              </a:spcAft>
              <a:buNone/>
            </a:pPr>
            <a:r>
              <a:rPr lang="es-ES" sz="1600" b="0" i="0" dirty="0">
                <a:solidFill>
                  <a:schemeClr val="tx1"/>
                </a:solidFill>
                <a:effectLst/>
                <a:latin typeface="FKGroteskNeue"/>
              </a:rPr>
              <a:t>Visualización, </a:t>
            </a:r>
            <a:r>
              <a:rPr lang="es-ES" sz="1600" b="0" i="0" dirty="0" err="1">
                <a:solidFill>
                  <a:schemeClr val="tx1"/>
                </a:solidFill>
                <a:effectLst/>
                <a:latin typeface="FKGroteskNeue"/>
              </a:rPr>
              <a:t>storytelling</a:t>
            </a:r>
            <a:r>
              <a:rPr lang="es-ES" sz="1600" b="0" i="0" dirty="0">
                <a:solidFill>
                  <a:schemeClr val="tx1"/>
                </a:solidFill>
                <a:effectLst/>
                <a:latin typeface="FKGroteskNeue"/>
              </a:rPr>
              <a:t>, reportes</a:t>
            </a:r>
          </a:p>
        </p:txBody>
      </p:sp>
    </p:spTree>
    <p:extLst>
      <p:ext uri="{BB962C8B-B14F-4D97-AF65-F5344CB8AC3E}">
        <p14:creationId xmlns:p14="http://schemas.microsoft.com/office/powerpoint/2010/main" val="42775482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506504-E628-22AD-13E3-22B4C3652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Ciclo de Vida de un Proyecto</a:t>
            </a:r>
            <a:endParaRPr lang="es-CL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DA6FDAC-5242-5ECC-5F45-45766032E96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32</a:t>
            </a:fld>
            <a:endParaRPr lang="es-CL"/>
          </a:p>
        </p:txBody>
      </p:sp>
      <p:graphicFrame>
        <p:nvGraphicFramePr>
          <p:cNvPr id="8" name="Diagrama 7">
            <a:extLst>
              <a:ext uri="{FF2B5EF4-FFF2-40B4-BE49-F238E27FC236}">
                <a16:creationId xmlns:a16="http://schemas.microsoft.com/office/drawing/2014/main" id="{2E704B36-7BA7-8CDE-F335-32E0DEF53906}"/>
              </a:ext>
            </a:extLst>
          </p:cNvPr>
          <p:cNvGraphicFramePr/>
          <p:nvPr/>
        </p:nvGraphicFramePr>
        <p:xfrm>
          <a:off x="1665926" y="1088833"/>
          <a:ext cx="6835200" cy="37818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Elipse 8">
            <a:extLst>
              <a:ext uri="{FF2B5EF4-FFF2-40B4-BE49-F238E27FC236}">
                <a16:creationId xmlns:a16="http://schemas.microsoft.com/office/drawing/2014/main" id="{2170F64C-D581-701C-B223-EF0270869518}"/>
              </a:ext>
            </a:extLst>
          </p:cNvPr>
          <p:cNvSpPr/>
          <p:nvPr/>
        </p:nvSpPr>
        <p:spPr>
          <a:xfrm>
            <a:off x="2650732" y="1453697"/>
            <a:ext cx="462337" cy="410966"/>
          </a:xfrm>
          <a:prstGeom prst="ellipse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1</a:t>
            </a:r>
            <a:endParaRPr lang="es-CL" dirty="0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A502B7FC-CE55-CC8F-CC13-32179A9FAB73}"/>
              </a:ext>
            </a:extLst>
          </p:cNvPr>
          <p:cNvSpPr/>
          <p:nvPr/>
        </p:nvSpPr>
        <p:spPr>
          <a:xfrm>
            <a:off x="2650732" y="2774258"/>
            <a:ext cx="462337" cy="410966"/>
          </a:xfrm>
          <a:prstGeom prst="ellipse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2</a:t>
            </a:r>
            <a:endParaRPr lang="es-CL" dirty="0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02095CA6-4EA8-6DA5-C318-395EFF79A9AE}"/>
              </a:ext>
            </a:extLst>
          </p:cNvPr>
          <p:cNvSpPr/>
          <p:nvPr/>
        </p:nvSpPr>
        <p:spPr>
          <a:xfrm>
            <a:off x="2650731" y="4094819"/>
            <a:ext cx="462337" cy="410966"/>
          </a:xfrm>
          <a:prstGeom prst="ellipse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3</a:t>
            </a:r>
            <a:endParaRPr lang="es-CL" dirty="0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2230C41F-6EEC-8F79-7547-3E6CBC71FF34}"/>
              </a:ext>
            </a:extLst>
          </p:cNvPr>
          <p:cNvSpPr/>
          <p:nvPr/>
        </p:nvSpPr>
        <p:spPr>
          <a:xfrm>
            <a:off x="7128552" y="1453697"/>
            <a:ext cx="462337" cy="410966"/>
          </a:xfrm>
          <a:prstGeom prst="ellipse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6</a:t>
            </a:r>
            <a:endParaRPr lang="es-CL" dirty="0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4932BC18-4147-42C3-6F8E-CA1FF897E566}"/>
              </a:ext>
            </a:extLst>
          </p:cNvPr>
          <p:cNvSpPr/>
          <p:nvPr/>
        </p:nvSpPr>
        <p:spPr>
          <a:xfrm>
            <a:off x="7128551" y="2774258"/>
            <a:ext cx="462337" cy="410966"/>
          </a:xfrm>
          <a:prstGeom prst="ellipse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5</a:t>
            </a:r>
            <a:endParaRPr lang="es-CL" dirty="0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E7BABEE1-41DB-580F-BA34-3BA5837E4F68}"/>
              </a:ext>
            </a:extLst>
          </p:cNvPr>
          <p:cNvSpPr/>
          <p:nvPr/>
        </p:nvSpPr>
        <p:spPr>
          <a:xfrm>
            <a:off x="7128551" y="4094819"/>
            <a:ext cx="462337" cy="410966"/>
          </a:xfrm>
          <a:prstGeom prst="ellipse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4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2997222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5B3BDC-F550-7077-E53E-47E053834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Importancia en la Era Digital</a:t>
            </a:r>
            <a:endParaRPr lang="es-CL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9BAA4E0-40DA-77F2-7951-3B01EEFFB8A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33</a:t>
            </a:fld>
            <a:endParaRPr lang="es-CL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50A0DAA2-BA7D-9D45-3A43-A4FA617129D9}"/>
              </a:ext>
            </a:extLst>
          </p:cNvPr>
          <p:cNvSpPr/>
          <p:nvPr/>
        </p:nvSpPr>
        <p:spPr>
          <a:xfrm>
            <a:off x="606884" y="1043206"/>
            <a:ext cx="8156972" cy="7491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>
              <a:spcAft>
                <a:spcPts val="900"/>
              </a:spcAft>
              <a:buNone/>
            </a:pPr>
            <a:r>
              <a:rPr lang="es-ES" sz="16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🌐 </a:t>
            </a:r>
            <a:r>
              <a:rPr lang="es-ES" sz="1600" b="1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Volumen de Datos</a:t>
            </a:r>
            <a:r>
              <a:rPr lang="es-ES" sz="16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Generamos 2.5 quintillones de bytes de datos diariamente. La ciencia de datos es esencial para extraer valor de esta información.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65E0E04C-4210-C21A-EB0A-F76517C0DDCE}"/>
              </a:ext>
            </a:extLst>
          </p:cNvPr>
          <p:cNvSpPr/>
          <p:nvPr/>
        </p:nvSpPr>
        <p:spPr>
          <a:xfrm>
            <a:off x="594900" y="1856612"/>
            <a:ext cx="8156972" cy="7491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>
              <a:spcAft>
                <a:spcPts val="900"/>
              </a:spcAft>
              <a:buNone/>
            </a:pPr>
            <a:r>
              <a:rPr lang="es-ES" sz="16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⚡ </a:t>
            </a:r>
            <a:r>
              <a:rPr lang="es-ES" sz="1600" b="1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Velocidad de Decisión</a:t>
            </a:r>
            <a:r>
              <a:rPr lang="es-ES" sz="16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Las empresas necesitan tomar decisiones más rápidas y precisas basadas en datos en tiempo real.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5A9966F6-0E7E-A3E4-E080-6C4D64EF43CC}"/>
              </a:ext>
            </a:extLst>
          </p:cNvPr>
          <p:cNvSpPr/>
          <p:nvPr/>
        </p:nvSpPr>
        <p:spPr>
          <a:xfrm>
            <a:off x="605174" y="2682367"/>
            <a:ext cx="8156972" cy="7491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>
              <a:spcAft>
                <a:spcPts val="900"/>
              </a:spcAft>
              <a:buNone/>
            </a:pPr>
            <a:r>
              <a:rPr lang="es-ES" sz="16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🎯 </a:t>
            </a:r>
            <a:r>
              <a:rPr lang="es-ES" sz="1600" b="1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Personalización</a:t>
            </a:r>
            <a:r>
              <a:rPr lang="es-ES" sz="16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Los consumidores esperan experiencias personalizadas, posibles gracias al análisis de datos.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AAEA05B3-C65A-BEF2-1C5B-8EC961DD31C4}"/>
              </a:ext>
            </a:extLst>
          </p:cNvPr>
          <p:cNvSpPr/>
          <p:nvPr/>
        </p:nvSpPr>
        <p:spPr>
          <a:xfrm>
            <a:off x="593190" y="3527309"/>
            <a:ext cx="8156972" cy="7491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>
              <a:spcAft>
                <a:spcPts val="900"/>
              </a:spcAft>
              <a:buNone/>
            </a:pPr>
            <a:r>
              <a:rPr lang="es-ES" sz="16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🔄 </a:t>
            </a:r>
            <a:r>
              <a:rPr lang="es-ES" sz="1600" b="1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Automatización</a:t>
            </a:r>
            <a:r>
              <a:rPr lang="es-ES" sz="16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Los procesos automatizados basados en datos mejoran la eficiencia y reducen errores humanos.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F6449839-4EA6-1B5E-C74A-00072BED406A}"/>
              </a:ext>
            </a:extLst>
          </p:cNvPr>
          <p:cNvSpPr/>
          <p:nvPr/>
        </p:nvSpPr>
        <p:spPr>
          <a:xfrm>
            <a:off x="591480" y="4357799"/>
            <a:ext cx="8156972" cy="7491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>
              <a:spcAft>
                <a:spcPts val="900"/>
              </a:spcAft>
              <a:buNone/>
            </a:pPr>
            <a:r>
              <a:rPr lang="es-ES" sz="16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🏆 </a:t>
            </a:r>
            <a:r>
              <a:rPr lang="es-ES" sz="1600" b="1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Ventaja Competitiva</a:t>
            </a:r>
            <a:r>
              <a:rPr lang="es-ES" sz="16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Las organizaciones data-</a:t>
            </a:r>
            <a:r>
              <a:rPr lang="es-ES" sz="1600" b="0" i="0" dirty="0" err="1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driven</a:t>
            </a:r>
            <a:r>
              <a:rPr lang="es-ES" sz="16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superan a sus competidores en métricas clave de rendimiento.</a:t>
            </a:r>
          </a:p>
        </p:txBody>
      </p:sp>
    </p:spTree>
    <p:extLst>
      <p:ext uri="{BB962C8B-B14F-4D97-AF65-F5344CB8AC3E}">
        <p14:creationId xmlns:p14="http://schemas.microsoft.com/office/powerpoint/2010/main" val="36138370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FD311B-B6D7-4449-5297-842871E95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Matemáticas en Ciencia de Datos</a:t>
            </a:r>
            <a:endParaRPr lang="es-CL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B218EB6-E9C4-D440-ACF7-A2EA9E78D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213" y="1021950"/>
            <a:ext cx="8548195" cy="1803790"/>
          </a:xfrm>
        </p:spPr>
        <p:txBody>
          <a:bodyPr/>
          <a:lstStyle/>
          <a:p>
            <a:pPr algn="ctr">
              <a:spcAft>
                <a:spcPts val="1200"/>
              </a:spcAft>
              <a:buNone/>
            </a:pPr>
            <a:r>
              <a:rPr lang="es-ES" sz="1800" b="1" i="0" dirty="0">
                <a:solidFill>
                  <a:schemeClr val="tx1"/>
                </a:solidFill>
                <a:effectLst/>
                <a:latin typeface="FKGroteskNeue"/>
              </a:rPr>
              <a:t>¿Por qué son importantes?</a:t>
            </a:r>
          </a:p>
          <a:p>
            <a:pPr algn="ctr">
              <a:spcAft>
                <a:spcPts val="1200"/>
              </a:spcAft>
              <a:buNone/>
            </a:pPr>
            <a:r>
              <a:rPr lang="es-ES" sz="1600" b="0" i="0" dirty="0">
                <a:solidFill>
                  <a:schemeClr val="tx1"/>
                </a:solidFill>
                <a:effectLst/>
                <a:latin typeface="FKGroteskNeue"/>
              </a:rPr>
              <a:t>Las matemáticas proporcionan el fundamento teórico para comprender cómo funcionan los algoritmos, optimizar modelos y tomar decisiones informadas sobre qué técnicas aplicar.</a:t>
            </a:r>
            <a:endParaRPr lang="es-CL" sz="2000" dirty="0">
              <a:solidFill>
                <a:schemeClr val="tx1"/>
              </a:solidFill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6D67A67-7148-A0CC-0FF9-D39AC22B48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34</a:t>
            </a:fld>
            <a:endParaRPr lang="es-CL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EA62CF51-6ADC-6583-9F0F-D26A10E55B92}"/>
              </a:ext>
            </a:extLst>
          </p:cNvPr>
          <p:cNvSpPr/>
          <p:nvPr/>
        </p:nvSpPr>
        <p:spPr>
          <a:xfrm>
            <a:off x="499738" y="2825740"/>
            <a:ext cx="2051204" cy="180379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900"/>
              </a:spcAft>
              <a:buNone/>
            </a:pPr>
            <a:r>
              <a:rPr lang="es-CL" sz="18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📐</a:t>
            </a:r>
          </a:p>
          <a:p>
            <a:pPr algn="ctr">
              <a:spcAft>
                <a:spcPts val="600"/>
              </a:spcAft>
              <a:buNone/>
            </a:pPr>
            <a:r>
              <a:rPr lang="es-CL" sz="1800" b="1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Álgebra Lineal</a:t>
            </a:r>
          </a:p>
          <a:p>
            <a:pPr algn="ctr">
              <a:spcAft>
                <a:spcPts val="1200"/>
              </a:spcAft>
              <a:buNone/>
            </a:pPr>
            <a:r>
              <a:rPr lang="es-CL" sz="18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Vectores, matrices, </a:t>
            </a:r>
            <a:r>
              <a:rPr lang="es-CL" sz="1800" b="0" i="0" dirty="0" err="1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transformacione</a:t>
            </a:r>
            <a:endParaRPr lang="es-CL" sz="1800" b="0" i="0" dirty="0">
              <a:solidFill>
                <a:schemeClr val="tx1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EC59025B-2FA3-2916-34F1-AAF6EB311DB7}"/>
              </a:ext>
            </a:extLst>
          </p:cNvPr>
          <p:cNvSpPr/>
          <p:nvPr/>
        </p:nvSpPr>
        <p:spPr>
          <a:xfrm>
            <a:off x="2647698" y="2825740"/>
            <a:ext cx="2051204" cy="180379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900"/>
              </a:spcAft>
              <a:buNone/>
            </a:pPr>
            <a:r>
              <a:rPr lang="es-ES" sz="18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📈</a:t>
            </a:r>
          </a:p>
          <a:p>
            <a:pPr algn="ctr">
              <a:spcAft>
                <a:spcPts val="600"/>
              </a:spcAft>
              <a:buNone/>
            </a:pPr>
            <a:r>
              <a:rPr lang="es-ES" sz="1800" b="1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Cálculo</a:t>
            </a:r>
          </a:p>
          <a:p>
            <a:pPr algn="ctr">
              <a:spcAft>
                <a:spcPts val="1200"/>
              </a:spcAft>
              <a:buNone/>
            </a:pPr>
            <a:r>
              <a:rPr lang="es-ES" sz="18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Derivadas, optimización, gradientes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D1B4B7C4-A5AA-D4F8-0199-39B2DEDEEB22}"/>
              </a:ext>
            </a:extLst>
          </p:cNvPr>
          <p:cNvSpPr/>
          <p:nvPr/>
        </p:nvSpPr>
        <p:spPr>
          <a:xfrm>
            <a:off x="4790505" y="2825740"/>
            <a:ext cx="2051204" cy="180379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900"/>
              </a:spcAft>
              <a:buNone/>
            </a:pPr>
            <a:r>
              <a:rPr lang="es-ES" sz="18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📊</a:t>
            </a:r>
          </a:p>
          <a:p>
            <a:pPr algn="ctr">
              <a:spcAft>
                <a:spcPts val="600"/>
              </a:spcAft>
              <a:buNone/>
            </a:pPr>
            <a:r>
              <a:rPr lang="es-ES" sz="1800" b="1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Estadística</a:t>
            </a:r>
          </a:p>
          <a:p>
            <a:pPr algn="ctr">
              <a:spcAft>
                <a:spcPts val="1200"/>
              </a:spcAft>
              <a:buNone/>
            </a:pPr>
            <a:r>
              <a:rPr lang="es-ES" sz="18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Distribuciones, inferencia, pruebas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1F950EB6-1816-18E3-F7F1-1530EF66C6DE}"/>
              </a:ext>
            </a:extLst>
          </p:cNvPr>
          <p:cNvSpPr/>
          <p:nvPr/>
        </p:nvSpPr>
        <p:spPr>
          <a:xfrm>
            <a:off x="6933319" y="2825740"/>
            <a:ext cx="2051204" cy="180379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900"/>
              </a:spcAft>
              <a:buNone/>
            </a:pPr>
            <a:r>
              <a:rPr lang="es-ES" sz="18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🎲</a:t>
            </a:r>
          </a:p>
          <a:p>
            <a:pPr algn="ctr">
              <a:spcAft>
                <a:spcPts val="600"/>
              </a:spcAft>
              <a:buNone/>
            </a:pPr>
            <a:r>
              <a:rPr lang="es-ES" sz="1800" b="1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Probabilidad</a:t>
            </a:r>
          </a:p>
          <a:p>
            <a:pPr algn="ctr">
              <a:spcAft>
                <a:spcPts val="1200"/>
              </a:spcAft>
              <a:buNone/>
            </a:pPr>
            <a:r>
              <a:rPr lang="es-ES" sz="18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Incertidumbre, Bayes, distribuciones</a:t>
            </a:r>
          </a:p>
        </p:txBody>
      </p:sp>
    </p:spTree>
    <p:extLst>
      <p:ext uri="{BB962C8B-B14F-4D97-AF65-F5344CB8AC3E}">
        <p14:creationId xmlns:p14="http://schemas.microsoft.com/office/powerpoint/2010/main" val="17775267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6BB09-C3F4-6D1D-CA74-CA189B03C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FBE439-73AA-DBE9-069C-E9C7FC2A8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Álgebra Lineal</a:t>
            </a:r>
            <a:endParaRPr lang="es-CL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7023B51-9A3C-EE94-9C0B-827A532B9A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35</a:t>
            </a:fld>
            <a:endParaRPr lang="es-CL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3416AF7-ED54-695C-7CAD-EC84DB74BBB4}"/>
              </a:ext>
            </a:extLst>
          </p:cNvPr>
          <p:cNvSpPr txBox="1"/>
          <p:nvPr/>
        </p:nvSpPr>
        <p:spPr>
          <a:xfrm>
            <a:off x="1101386" y="1094540"/>
            <a:ext cx="757440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  <a:buNone/>
            </a:pPr>
            <a:r>
              <a:rPr lang="es-ES" sz="1600" b="1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Concepto</a:t>
            </a:r>
          </a:p>
          <a:p>
            <a:pPr algn="just">
              <a:spcAft>
                <a:spcPts val="1200"/>
              </a:spcAft>
              <a:buNone/>
            </a:pPr>
            <a:r>
              <a:rPr lang="es-ES" sz="160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Base de muchos modelos de ML, especialmente en aprendizaje profundo. Los datos se representan como vectores y matrices para operaciones eficientes.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30B115E-4F18-23BB-157E-418691459541}"/>
              </a:ext>
            </a:extLst>
          </p:cNvPr>
          <p:cNvSpPr txBox="1"/>
          <p:nvPr/>
        </p:nvSpPr>
        <p:spPr>
          <a:xfrm>
            <a:off x="1101386" y="2072740"/>
            <a:ext cx="7574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  <a:buNone/>
            </a:pPr>
            <a:r>
              <a:rPr lang="es-ES" sz="1600" b="1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Elementos Fundamentales:</a:t>
            </a: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12E90DB7-9C68-9F22-25AA-77B5FA2F0BE8}"/>
              </a:ext>
            </a:extLst>
          </p:cNvPr>
          <p:cNvSpPr/>
          <p:nvPr/>
        </p:nvSpPr>
        <p:spPr>
          <a:xfrm>
            <a:off x="92471" y="2488267"/>
            <a:ext cx="4388777" cy="106089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>
              <a:spcAft>
                <a:spcPts val="900"/>
              </a:spcAft>
              <a:buNone/>
            </a:pPr>
            <a:r>
              <a:rPr lang="es-ES" sz="18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📊 </a:t>
            </a:r>
            <a:r>
              <a:rPr lang="es-ES" sz="1800" b="1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Matrices y Vectores</a:t>
            </a:r>
          </a:p>
          <a:p>
            <a:pPr algn="just">
              <a:spcAft>
                <a:spcPts val="1200"/>
              </a:spcAft>
              <a:buNone/>
            </a:pPr>
            <a:r>
              <a:rPr lang="es-ES" sz="16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Representación de datos multidimensionales y operaciones vectoriales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72CB7C8E-7A4F-73A8-BDFC-BDD849B7E4A2}"/>
              </a:ext>
            </a:extLst>
          </p:cNvPr>
          <p:cNvSpPr/>
          <p:nvPr/>
        </p:nvSpPr>
        <p:spPr>
          <a:xfrm>
            <a:off x="4631928" y="2488267"/>
            <a:ext cx="4388777" cy="106089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>
              <a:spcAft>
                <a:spcPts val="900"/>
              </a:spcAft>
              <a:buNone/>
            </a:pPr>
            <a:r>
              <a:rPr lang="es-CL" sz="18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🔄 </a:t>
            </a:r>
            <a:r>
              <a:rPr lang="es-CL" sz="1800" b="1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Determinantes e Inversas</a:t>
            </a:r>
          </a:p>
          <a:p>
            <a:pPr algn="just">
              <a:spcAft>
                <a:spcPts val="1200"/>
              </a:spcAft>
              <a:buNone/>
            </a:pPr>
            <a:r>
              <a:rPr lang="es-CL" sz="16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Propiedades de matrices para resolver sistemas de ecuaciones</a:t>
            </a: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F579372A-9CA3-81D9-E3CF-4617BB7D9667}"/>
              </a:ext>
            </a:extLst>
          </p:cNvPr>
          <p:cNvSpPr/>
          <p:nvPr/>
        </p:nvSpPr>
        <p:spPr>
          <a:xfrm>
            <a:off x="92471" y="3668556"/>
            <a:ext cx="4388777" cy="106089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>
              <a:spcAft>
                <a:spcPts val="900"/>
              </a:spcAft>
              <a:buNone/>
            </a:pPr>
            <a:r>
              <a:rPr lang="es-ES" sz="18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⚡ </a:t>
            </a:r>
            <a:r>
              <a:rPr lang="es-ES" sz="1800" b="1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Valores y Vectores Propios</a:t>
            </a:r>
          </a:p>
          <a:p>
            <a:pPr algn="just">
              <a:spcAft>
                <a:spcPts val="1200"/>
              </a:spcAft>
              <a:buNone/>
            </a:pPr>
            <a:r>
              <a:rPr lang="es-ES" sz="16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Análisis de transformaciones lineales y reducción dimensional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270FBE65-7170-D97A-6BFB-0893B1A24157}"/>
              </a:ext>
            </a:extLst>
          </p:cNvPr>
          <p:cNvSpPr/>
          <p:nvPr/>
        </p:nvSpPr>
        <p:spPr>
          <a:xfrm>
            <a:off x="4631928" y="3668557"/>
            <a:ext cx="4388777" cy="106089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>
              <a:spcAft>
                <a:spcPts val="900"/>
              </a:spcAft>
              <a:buNone/>
            </a:pPr>
            <a:r>
              <a:rPr lang="es-ES" sz="1800" b="1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🎯 Descomposición SVD</a:t>
            </a:r>
          </a:p>
          <a:p>
            <a:pPr algn="just">
              <a:spcAft>
                <a:spcPts val="1200"/>
              </a:spcAft>
              <a:buNone/>
            </a:pPr>
            <a:r>
              <a:rPr lang="es-ES" sz="16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Singular </a:t>
            </a:r>
            <a:r>
              <a:rPr lang="es-ES" sz="1600" b="0" i="0" dirty="0" err="1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Value</a:t>
            </a:r>
            <a:r>
              <a:rPr lang="es-ES" sz="16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" sz="1600" b="0" i="0" dirty="0" err="1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Decomposition</a:t>
            </a:r>
            <a:r>
              <a:rPr lang="es-ES" sz="16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para factorización de matrices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9C5F0B1A-E4B7-6152-A3DA-CBAEEDE876D0}"/>
              </a:ext>
            </a:extLst>
          </p:cNvPr>
          <p:cNvSpPr/>
          <p:nvPr/>
        </p:nvSpPr>
        <p:spPr>
          <a:xfrm>
            <a:off x="2377611" y="3138109"/>
            <a:ext cx="4388777" cy="106089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>
              <a:spcAft>
                <a:spcPts val="900"/>
              </a:spcAft>
              <a:buNone/>
            </a:pPr>
            <a:r>
              <a:rPr lang="es-ES" sz="18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📉</a:t>
            </a:r>
            <a:r>
              <a:rPr lang="es-ES" sz="1800" b="1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PCA</a:t>
            </a:r>
          </a:p>
          <a:p>
            <a:pPr algn="just">
              <a:spcAft>
                <a:spcPts val="1200"/>
              </a:spcAft>
              <a:buNone/>
            </a:pPr>
            <a:r>
              <a:rPr lang="es-ES" sz="16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Principal </a:t>
            </a:r>
            <a:r>
              <a:rPr lang="es-ES" sz="1600" b="0" i="0" dirty="0" err="1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Component</a:t>
            </a:r>
            <a:r>
              <a:rPr lang="es-ES" sz="16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" sz="1600" b="0" i="0" dirty="0" err="1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Analysis</a:t>
            </a:r>
            <a:r>
              <a:rPr lang="es-ES" sz="16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para reducción de dimensionalidad</a:t>
            </a:r>
          </a:p>
        </p:txBody>
      </p:sp>
    </p:spTree>
    <p:extLst>
      <p:ext uri="{BB962C8B-B14F-4D97-AF65-F5344CB8AC3E}">
        <p14:creationId xmlns:p14="http://schemas.microsoft.com/office/powerpoint/2010/main" val="1439806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85F3E-445B-B095-7E24-A2EDA5A2A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283A2F-0917-2E05-891C-193B17075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Cálculo y Optimización</a:t>
            </a:r>
            <a:endParaRPr lang="es-CL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F3AA69F-C90D-1D3B-7FC1-911D4D34B59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36</a:t>
            </a:fld>
            <a:endParaRPr lang="es-CL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64A66E1-3DDC-AC4C-C07D-378A5DBA8D8A}"/>
              </a:ext>
            </a:extLst>
          </p:cNvPr>
          <p:cNvSpPr txBox="1"/>
          <p:nvPr/>
        </p:nvSpPr>
        <p:spPr>
          <a:xfrm>
            <a:off x="1101386" y="1094540"/>
            <a:ext cx="757440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  <a:buNone/>
            </a:pPr>
            <a:r>
              <a:rPr lang="es-ES" sz="1600" b="1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Concepto</a:t>
            </a:r>
          </a:p>
          <a:p>
            <a:pPr algn="just">
              <a:spcAft>
                <a:spcPts val="1200"/>
              </a:spcAft>
              <a:buNone/>
            </a:pPr>
            <a:r>
              <a:rPr lang="es-ES" sz="160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Esencial para comprender cómo los modelos aprenden de los datos a través de procesos de optimización y minimización de funciones de costo.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CD47288-7F36-D997-6D30-2E88DA881C51}"/>
              </a:ext>
            </a:extLst>
          </p:cNvPr>
          <p:cNvSpPr txBox="1"/>
          <p:nvPr/>
        </p:nvSpPr>
        <p:spPr>
          <a:xfrm>
            <a:off x="1101386" y="2072740"/>
            <a:ext cx="7574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  <a:buNone/>
            </a:pPr>
            <a:r>
              <a:rPr lang="es-ES" sz="1600" b="1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Elementos Fundamentales:</a:t>
            </a: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B8F1E654-CA64-CBEB-0897-D87B7F4E64C5}"/>
              </a:ext>
            </a:extLst>
          </p:cNvPr>
          <p:cNvSpPr/>
          <p:nvPr/>
        </p:nvSpPr>
        <p:spPr>
          <a:xfrm>
            <a:off x="92471" y="2488267"/>
            <a:ext cx="4388777" cy="106089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l">
              <a:spcAft>
                <a:spcPts val="900"/>
              </a:spcAft>
              <a:buNone/>
            </a:pPr>
            <a:r>
              <a:rPr lang="es-ES" sz="18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📐 </a:t>
            </a:r>
            <a:r>
              <a:rPr lang="es-ES" sz="1800" b="1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Derivadas y Gradientes</a:t>
            </a:r>
          </a:p>
          <a:p>
            <a:pPr algn="l">
              <a:spcAft>
                <a:spcPts val="1200"/>
              </a:spcAft>
              <a:buNone/>
            </a:pPr>
            <a:r>
              <a:rPr lang="es-ES" sz="18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Cálculo de tasas de cambio para encontrar direcciones de optimización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4F6BE145-CFB4-1D86-218C-276B27EDCAD5}"/>
              </a:ext>
            </a:extLst>
          </p:cNvPr>
          <p:cNvSpPr/>
          <p:nvPr/>
        </p:nvSpPr>
        <p:spPr>
          <a:xfrm>
            <a:off x="4631928" y="2488267"/>
            <a:ext cx="4388777" cy="106089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l">
              <a:spcAft>
                <a:spcPts val="900"/>
              </a:spcAft>
              <a:buNone/>
            </a:pPr>
            <a:r>
              <a:rPr lang="es-ES" sz="18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🔗 </a:t>
            </a:r>
            <a:r>
              <a:rPr lang="es-ES" sz="1800" b="1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Regla de la Cadena</a:t>
            </a:r>
          </a:p>
          <a:p>
            <a:pPr algn="l">
              <a:spcAft>
                <a:spcPts val="1200"/>
              </a:spcAft>
              <a:buNone/>
            </a:pPr>
            <a:r>
              <a:rPr lang="es-ES" sz="18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Fundamental para </a:t>
            </a:r>
            <a:r>
              <a:rPr lang="es-ES" sz="1800" b="0" i="0" dirty="0" err="1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backpropagation</a:t>
            </a:r>
            <a:r>
              <a:rPr lang="es-ES" sz="18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en redes neuronales</a:t>
            </a: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125A9663-467B-BB4A-52B9-9D90F5DD0732}"/>
              </a:ext>
            </a:extLst>
          </p:cNvPr>
          <p:cNvSpPr/>
          <p:nvPr/>
        </p:nvSpPr>
        <p:spPr>
          <a:xfrm>
            <a:off x="92471" y="3668556"/>
            <a:ext cx="4388777" cy="106089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l">
              <a:spcAft>
                <a:spcPts val="900"/>
              </a:spcAft>
              <a:buNone/>
            </a:pPr>
            <a:r>
              <a:rPr lang="es-CL" sz="18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⬇️ </a:t>
            </a:r>
            <a:r>
              <a:rPr lang="es-CL" sz="1800" b="1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Descenso de Gradiente</a:t>
            </a:r>
          </a:p>
          <a:p>
            <a:pPr algn="l">
              <a:spcAft>
                <a:spcPts val="1200"/>
              </a:spcAft>
              <a:buNone/>
            </a:pPr>
            <a:r>
              <a:rPr lang="es-CL" sz="18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Algoritmo iterativo para minimizar funciones de costo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229C7A20-E174-A92F-B7C3-61B42CE5410E}"/>
              </a:ext>
            </a:extLst>
          </p:cNvPr>
          <p:cNvSpPr/>
          <p:nvPr/>
        </p:nvSpPr>
        <p:spPr>
          <a:xfrm>
            <a:off x="4631928" y="3668557"/>
            <a:ext cx="4388777" cy="106089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l">
              <a:spcAft>
                <a:spcPts val="900"/>
              </a:spcAft>
              <a:buNone/>
            </a:pPr>
            <a:r>
              <a:rPr lang="es-ES" sz="1800" b="1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🎯 Optimización</a:t>
            </a:r>
          </a:p>
          <a:p>
            <a:pPr algn="l">
              <a:spcAft>
                <a:spcPts val="1200"/>
              </a:spcAft>
              <a:buNone/>
            </a:pPr>
            <a:r>
              <a:rPr lang="es-ES" sz="18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Búsqueda de máximos y mínimos globales y locales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728C1703-1133-06D9-BDE6-942F73A7FBEF}"/>
              </a:ext>
            </a:extLst>
          </p:cNvPr>
          <p:cNvSpPr/>
          <p:nvPr/>
        </p:nvSpPr>
        <p:spPr>
          <a:xfrm>
            <a:off x="2377611" y="3138109"/>
            <a:ext cx="4388777" cy="106089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Aft>
                <a:spcPts val="900"/>
              </a:spcAft>
            </a:pPr>
            <a:r>
              <a:rPr lang="es-ES" sz="18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🔄 </a:t>
            </a:r>
            <a:r>
              <a:rPr lang="es-ES" sz="1800" b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Newton-Raphson</a:t>
            </a:r>
          </a:p>
          <a:p>
            <a:pPr>
              <a:spcAft>
                <a:spcPts val="1200"/>
              </a:spcAft>
            </a:pPr>
            <a:r>
              <a:rPr lang="es-ES" sz="18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Método numérico para encontrar raíces y optimizar funciones</a:t>
            </a:r>
          </a:p>
        </p:txBody>
      </p:sp>
    </p:spTree>
    <p:extLst>
      <p:ext uri="{BB962C8B-B14F-4D97-AF65-F5344CB8AC3E}">
        <p14:creationId xmlns:p14="http://schemas.microsoft.com/office/powerpoint/2010/main" val="3928993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4BDC7-674F-D55F-6D68-C5FD04D0D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B1A368-17FF-A03D-B490-3599870A3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Estadística</a:t>
            </a:r>
            <a:endParaRPr lang="es-CL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C00595D-669C-C439-EDEB-30D1D0FF948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37</a:t>
            </a:fld>
            <a:endParaRPr lang="es-CL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32DC479-E1F1-9DC0-FBA2-BD3C9FDC4D53}"/>
              </a:ext>
            </a:extLst>
          </p:cNvPr>
          <p:cNvSpPr txBox="1"/>
          <p:nvPr/>
        </p:nvSpPr>
        <p:spPr>
          <a:xfrm>
            <a:off x="1101386" y="1094540"/>
            <a:ext cx="757440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  <a:buNone/>
            </a:pPr>
            <a:r>
              <a:rPr lang="es-ES" sz="1600" b="1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Concepto</a:t>
            </a:r>
          </a:p>
          <a:p>
            <a:pPr algn="just">
              <a:spcAft>
                <a:spcPts val="1200"/>
              </a:spcAft>
              <a:buNone/>
            </a:pPr>
            <a:r>
              <a:rPr lang="es-ES" sz="160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 usa para sacar conclusiones de los datos, cuantificar incertidumbre y validar hipótesis científicas.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37C4A16-BAED-6B06-C910-35304E21B9E6}"/>
              </a:ext>
            </a:extLst>
          </p:cNvPr>
          <p:cNvSpPr txBox="1"/>
          <p:nvPr/>
        </p:nvSpPr>
        <p:spPr>
          <a:xfrm>
            <a:off x="1101386" y="2072740"/>
            <a:ext cx="7574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  <a:buNone/>
            </a:pPr>
            <a:r>
              <a:rPr lang="es-ES" sz="1600" b="1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Elementos Fundamentales:</a:t>
            </a: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3BB0DE24-A4F9-757F-1186-281C133C81C7}"/>
              </a:ext>
            </a:extLst>
          </p:cNvPr>
          <p:cNvSpPr/>
          <p:nvPr/>
        </p:nvSpPr>
        <p:spPr>
          <a:xfrm>
            <a:off x="92471" y="2488266"/>
            <a:ext cx="4388777" cy="2200691"/>
          </a:xfrm>
          <a:prstGeom prst="roundRect">
            <a:avLst>
              <a:gd name="adj" fmla="val 11836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>
              <a:spcAft>
                <a:spcPts val="1200"/>
              </a:spcAft>
              <a:buNone/>
            </a:pPr>
            <a:r>
              <a:rPr lang="es-ES" sz="16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📊 </a:t>
            </a:r>
            <a:r>
              <a:rPr lang="es-ES" sz="1800" b="1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Estadística Descriptiva</a:t>
            </a:r>
          </a:p>
          <a:p>
            <a:pPr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6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Medidas de tendencia central (media, mediana, moda)</a:t>
            </a:r>
          </a:p>
          <a:p>
            <a:pPr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6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Medidas de dispersión (varianza, desviación estándar)</a:t>
            </a:r>
          </a:p>
          <a:p>
            <a:pPr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6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Cuartiles, percentiles, rango intercuartílico</a:t>
            </a:r>
          </a:p>
          <a:p>
            <a:pPr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6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Distribuciones de frecuencia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B7D13878-E38E-08CD-BA0F-71137D961F8E}"/>
              </a:ext>
            </a:extLst>
          </p:cNvPr>
          <p:cNvSpPr/>
          <p:nvPr/>
        </p:nvSpPr>
        <p:spPr>
          <a:xfrm>
            <a:off x="4631928" y="2488266"/>
            <a:ext cx="4388777" cy="2200691"/>
          </a:xfrm>
          <a:prstGeom prst="roundRect">
            <a:avLst>
              <a:gd name="adj" fmla="val 12802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>
              <a:spcAft>
                <a:spcPts val="1200"/>
              </a:spcAft>
              <a:buNone/>
            </a:pPr>
            <a:r>
              <a:rPr lang="es-ES" sz="16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🔍 </a:t>
            </a:r>
            <a:r>
              <a:rPr lang="es-ES" sz="1800" b="1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Estadística Inferencial</a:t>
            </a:r>
          </a:p>
          <a:p>
            <a:pPr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6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Estimación puntual y por intervalos</a:t>
            </a:r>
          </a:p>
          <a:p>
            <a:pPr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6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Pruebas de hipótesis (t-test, chi-cuadrado)</a:t>
            </a:r>
          </a:p>
          <a:p>
            <a:pPr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6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Intervalos de confianza</a:t>
            </a:r>
          </a:p>
          <a:p>
            <a:pPr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6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Análisis de varianza (ANOVA)</a:t>
            </a:r>
          </a:p>
          <a:p>
            <a:pPr algn="just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ES" sz="1600" b="0" i="0" dirty="0">
              <a:solidFill>
                <a:schemeClr val="tx1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958960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28E29-032F-1C63-0205-E4D33A2B8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1ECAE2-4727-A964-86C3-2DA2A4480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Probabilidad y Teorema de Bayes</a:t>
            </a:r>
            <a:endParaRPr lang="es-CL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97FAFEC-E404-5BF8-67A8-9ABD07B15E6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38</a:t>
            </a:fld>
            <a:endParaRPr lang="es-CL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845AC84-81D8-000D-91BD-F1C48A7B1B7B}"/>
              </a:ext>
            </a:extLst>
          </p:cNvPr>
          <p:cNvSpPr txBox="1"/>
          <p:nvPr/>
        </p:nvSpPr>
        <p:spPr>
          <a:xfrm>
            <a:off x="1101386" y="1094540"/>
            <a:ext cx="757440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  <a:buNone/>
            </a:pPr>
            <a:r>
              <a:rPr lang="es-ES" sz="1600" b="1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Concepto</a:t>
            </a:r>
          </a:p>
          <a:p>
            <a:pPr algn="just">
              <a:spcAft>
                <a:spcPts val="1200"/>
              </a:spcAft>
              <a:buNone/>
            </a:pPr>
            <a:r>
              <a:rPr lang="es-ES" sz="160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Proporciona herramientas para comprender y modelar la incertidumbre en datos y predicciones.</a:t>
            </a: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15954CA9-FA5E-B16E-989A-3831B2F65827}"/>
              </a:ext>
            </a:extLst>
          </p:cNvPr>
          <p:cNvSpPr/>
          <p:nvPr/>
        </p:nvSpPr>
        <p:spPr>
          <a:xfrm>
            <a:off x="92471" y="2152016"/>
            <a:ext cx="4388777" cy="2718634"/>
          </a:xfrm>
          <a:prstGeom prst="roundRect">
            <a:avLst>
              <a:gd name="adj" fmla="val 11836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l">
              <a:spcAft>
                <a:spcPts val="1200"/>
              </a:spcAft>
              <a:buNone/>
            </a:pPr>
            <a:r>
              <a:rPr lang="es-CL" sz="18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🎲 Distribuciones de Probabilidad</a:t>
            </a:r>
          </a:p>
          <a:p>
            <a:pPr algn="l">
              <a:spcAft>
                <a:spcPts val="1200"/>
              </a:spcAft>
              <a:buNone/>
            </a:pPr>
            <a:endParaRPr lang="es-CL" sz="18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>
              <a:spcAft>
                <a:spcPts val="1200"/>
              </a:spcAft>
              <a:buNone/>
            </a:pPr>
            <a:endParaRPr lang="es-CL" sz="1800" b="0" i="0" dirty="0">
              <a:solidFill>
                <a:schemeClr val="tx1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>
              <a:spcAft>
                <a:spcPts val="1200"/>
              </a:spcAft>
              <a:buNone/>
            </a:pPr>
            <a:endParaRPr lang="es-CL" sz="18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>
              <a:spcAft>
                <a:spcPts val="1200"/>
              </a:spcAft>
              <a:buNone/>
            </a:pPr>
            <a:endParaRPr lang="es-CL" sz="1800" b="0" i="0" dirty="0">
              <a:solidFill>
                <a:schemeClr val="tx1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>
              <a:spcAft>
                <a:spcPts val="1200"/>
              </a:spcAft>
              <a:buNone/>
            </a:pPr>
            <a:endParaRPr lang="es-CL" sz="1800" b="0" i="0" dirty="0">
              <a:solidFill>
                <a:schemeClr val="tx1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6A30CD01-7B83-AE15-DAFE-0F274E380509}"/>
              </a:ext>
            </a:extLst>
          </p:cNvPr>
          <p:cNvSpPr/>
          <p:nvPr/>
        </p:nvSpPr>
        <p:spPr>
          <a:xfrm>
            <a:off x="4631928" y="2152016"/>
            <a:ext cx="4388777" cy="2718634"/>
          </a:xfrm>
          <a:prstGeom prst="roundRect">
            <a:avLst>
              <a:gd name="adj" fmla="val 12802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l">
              <a:spcAft>
                <a:spcPts val="1200"/>
              </a:spcAft>
              <a:buNone/>
            </a:pPr>
            <a:r>
              <a:rPr lang="es-CL" sz="18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🧮 Teorema de Bayes</a:t>
            </a:r>
          </a:p>
          <a:p>
            <a:pPr algn="l">
              <a:spcAft>
                <a:spcPts val="1200"/>
              </a:spcAft>
              <a:buNone/>
            </a:pPr>
            <a:endParaRPr lang="es-CL" sz="18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>
              <a:spcAft>
                <a:spcPts val="1200"/>
              </a:spcAft>
              <a:buNone/>
            </a:pPr>
            <a:endParaRPr lang="es-CL" sz="1800" b="0" i="0" dirty="0">
              <a:solidFill>
                <a:schemeClr val="tx1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>
              <a:spcAft>
                <a:spcPts val="1200"/>
              </a:spcAft>
              <a:buNone/>
            </a:pPr>
            <a:endParaRPr lang="es-CL" sz="18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>
              <a:spcAft>
                <a:spcPts val="1200"/>
              </a:spcAft>
              <a:buNone/>
            </a:pPr>
            <a:endParaRPr lang="es-CL" sz="1800" b="0" i="0" dirty="0">
              <a:solidFill>
                <a:schemeClr val="tx1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>
              <a:spcAft>
                <a:spcPts val="1200"/>
              </a:spcAft>
              <a:buNone/>
            </a:pPr>
            <a:endParaRPr lang="es-CL" sz="1800" b="0" i="0" dirty="0">
              <a:solidFill>
                <a:schemeClr val="tx1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CD9E8E1-56D5-9DC7-018A-FD6987EDE1FE}"/>
              </a:ext>
            </a:extLst>
          </p:cNvPr>
          <p:cNvSpPr txBox="1"/>
          <p:nvPr/>
        </p:nvSpPr>
        <p:spPr>
          <a:xfrm>
            <a:off x="594900" y="2587022"/>
            <a:ext cx="258423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8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Normal (Gaussiana)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8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Binomial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8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Poisson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8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Exponencial</a:t>
            </a:r>
          </a:p>
        </p:txBody>
      </p:sp>
      <p:pic>
        <p:nvPicPr>
          <p:cNvPr id="1026" name="Picture 2" descr="Aplicación del Teorema de Bayes en la interpretación de los resultados de  una prueba para la detección de la Covid-19">
            <a:extLst>
              <a:ext uri="{FF2B5EF4-FFF2-40B4-BE49-F238E27FC236}">
                <a16:creationId xmlns:a16="http://schemas.microsoft.com/office/drawing/2014/main" id="{E0E00D95-0F63-337D-5053-92E9DB1DAE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1233" y="2587022"/>
            <a:ext cx="1943818" cy="1002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952AC6A8-FDBA-8063-06AD-FB4E1DC68C34}"/>
              </a:ext>
            </a:extLst>
          </p:cNvPr>
          <p:cNvSpPr txBox="1"/>
          <p:nvPr/>
        </p:nvSpPr>
        <p:spPr>
          <a:xfrm>
            <a:off x="5772515" y="3511333"/>
            <a:ext cx="2446452" cy="1392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es-ES" sz="1200" b="1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Aplicaciones: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Clasificación </a:t>
            </a:r>
            <a:r>
              <a:rPr lang="es-ES" sz="1200" b="0" i="0" dirty="0" err="1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Naive</a:t>
            </a:r>
            <a:r>
              <a:rPr lang="es-ES" sz="12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Bayes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Inferencia Bayesiana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Predicción de actividad biológica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Diagnóstico médico</a:t>
            </a:r>
          </a:p>
        </p:txBody>
      </p:sp>
    </p:spTree>
    <p:extLst>
      <p:ext uri="{BB962C8B-B14F-4D97-AF65-F5344CB8AC3E}">
        <p14:creationId xmlns:p14="http://schemas.microsoft.com/office/powerpoint/2010/main" val="15677923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F7044-0951-9A3D-1521-41842E2AD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C2FE4E-4765-70E8-1807-F5D3A69FF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Aplicaciones Matemáticas Prácticas</a:t>
            </a:r>
            <a:endParaRPr lang="es-CL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AB5D304-0B35-DBC1-EFF7-80896419B5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39</a:t>
            </a:fld>
            <a:endParaRPr lang="es-CL"/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34146B78-33B9-FA08-AFE3-C4742364C9AE}"/>
              </a:ext>
            </a:extLst>
          </p:cNvPr>
          <p:cNvSpPr/>
          <p:nvPr/>
        </p:nvSpPr>
        <p:spPr>
          <a:xfrm>
            <a:off x="113737" y="1096381"/>
            <a:ext cx="4388777" cy="171745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l">
              <a:spcAft>
                <a:spcPts val="1200"/>
              </a:spcAft>
              <a:buNone/>
            </a:pPr>
            <a:r>
              <a:rPr lang="es-ES" sz="18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🔍 </a:t>
            </a:r>
            <a:r>
              <a:rPr lang="es-ES" sz="1800" b="1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Regresión Lineal</a:t>
            </a:r>
          </a:p>
          <a:p>
            <a:pPr algn="l">
              <a:spcAft>
                <a:spcPts val="1200"/>
              </a:spcAft>
              <a:buNone/>
            </a:pPr>
            <a:r>
              <a:rPr lang="es-ES" b="1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Matemática:</a:t>
            </a:r>
            <a:r>
              <a:rPr lang="es-ES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Minimización de suma de errores cuadrados</a:t>
            </a:r>
          </a:p>
          <a:p>
            <a:pPr algn="ctr">
              <a:spcBef>
                <a:spcPts val="900"/>
              </a:spcBef>
              <a:spcAft>
                <a:spcPts val="900"/>
              </a:spcAft>
              <a:buNone/>
            </a:pPr>
            <a:r>
              <a:rPr lang="es-ES" b="1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min Σ(</a:t>
            </a:r>
            <a:r>
              <a:rPr lang="es-ES" b="1" i="0" dirty="0" err="1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yi</a:t>
            </a:r>
            <a:r>
              <a:rPr lang="es-ES" b="1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(β₀ + β₁xi))²</a:t>
            </a:r>
          </a:p>
          <a:p>
            <a:pPr algn="l">
              <a:spcAft>
                <a:spcPts val="1200"/>
              </a:spcAft>
              <a:buNone/>
            </a:pPr>
            <a:r>
              <a:rPr lang="es-ES" b="1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Aplicación:</a:t>
            </a:r>
            <a:r>
              <a:rPr lang="es-ES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Predicción de precios de vivienda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1737D8E2-6C79-A584-A054-1F2B714A4F5C}"/>
              </a:ext>
            </a:extLst>
          </p:cNvPr>
          <p:cNvSpPr/>
          <p:nvPr/>
        </p:nvSpPr>
        <p:spPr>
          <a:xfrm>
            <a:off x="4653193" y="1096381"/>
            <a:ext cx="4388777" cy="171745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l">
              <a:spcAft>
                <a:spcPts val="1200"/>
              </a:spcAft>
              <a:buNone/>
            </a:pPr>
            <a:r>
              <a:rPr lang="es-ES" sz="1800" b="1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🧠 Redes Neuronales</a:t>
            </a:r>
          </a:p>
          <a:p>
            <a:pPr algn="l">
              <a:spcAft>
                <a:spcPts val="1200"/>
              </a:spcAft>
              <a:buNone/>
            </a:pPr>
            <a:r>
              <a:rPr lang="es-ES" b="1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Matemática:</a:t>
            </a:r>
            <a:r>
              <a:rPr lang="es-ES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Descenso de gradiente + regla de la cadena</a:t>
            </a:r>
          </a:p>
          <a:p>
            <a:pPr algn="ctr">
              <a:spcBef>
                <a:spcPts val="900"/>
              </a:spcBef>
              <a:spcAft>
                <a:spcPts val="900"/>
              </a:spcAft>
              <a:buNone/>
            </a:pPr>
            <a:r>
              <a:rPr lang="es-ES" b="1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∂C/∂w = ∂C/∂a × ∂a/∂z × ∂z/∂w</a:t>
            </a:r>
          </a:p>
          <a:p>
            <a:pPr algn="l">
              <a:spcAft>
                <a:spcPts val="1200"/>
              </a:spcAft>
              <a:buNone/>
            </a:pPr>
            <a:r>
              <a:rPr lang="es-ES" b="1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Aplicación:</a:t>
            </a:r>
            <a:r>
              <a:rPr lang="es-ES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Reconocimiento de imágenes</a:t>
            </a: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DA78F453-1BE0-4958-5763-4177A256B8A8}"/>
              </a:ext>
            </a:extLst>
          </p:cNvPr>
          <p:cNvSpPr/>
          <p:nvPr/>
        </p:nvSpPr>
        <p:spPr>
          <a:xfrm>
            <a:off x="113737" y="3033257"/>
            <a:ext cx="4388777" cy="171745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l">
              <a:spcAft>
                <a:spcPts val="1200"/>
              </a:spcAft>
              <a:buNone/>
            </a:pPr>
            <a:r>
              <a:rPr lang="es-ES" sz="18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📊 </a:t>
            </a:r>
            <a:r>
              <a:rPr lang="es-ES" sz="1800" b="1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PCA</a:t>
            </a:r>
          </a:p>
          <a:p>
            <a:pPr algn="l">
              <a:spcAft>
                <a:spcPts val="1200"/>
              </a:spcAft>
              <a:buNone/>
            </a:pPr>
            <a:r>
              <a:rPr lang="es-ES" b="1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Matemática:</a:t>
            </a:r>
            <a:r>
              <a:rPr lang="es-ES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Descomposición de valores propios</a:t>
            </a:r>
          </a:p>
          <a:p>
            <a:pPr algn="ctr">
              <a:spcBef>
                <a:spcPts val="900"/>
              </a:spcBef>
              <a:spcAft>
                <a:spcPts val="900"/>
              </a:spcAft>
              <a:buNone/>
            </a:pPr>
            <a:r>
              <a:rPr lang="es-ES" b="1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 = VDV^T</a:t>
            </a:r>
          </a:p>
          <a:p>
            <a:pPr algn="l">
              <a:spcAft>
                <a:spcPts val="1200"/>
              </a:spcAft>
              <a:buNone/>
            </a:pPr>
            <a:r>
              <a:rPr lang="es-ES" b="1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Aplicación:</a:t>
            </a:r>
            <a:r>
              <a:rPr lang="es-ES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Reducción de dimensionalidad en </a:t>
            </a:r>
            <a:r>
              <a:rPr lang="es-ES" b="0" i="0" dirty="0" err="1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datasets</a:t>
            </a:r>
            <a:endParaRPr lang="es-ES" b="0" i="0" dirty="0">
              <a:solidFill>
                <a:schemeClr val="tx1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E784DDD7-96F4-DFD3-C391-1AB12DD4181F}"/>
              </a:ext>
            </a:extLst>
          </p:cNvPr>
          <p:cNvSpPr/>
          <p:nvPr/>
        </p:nvSpPr>
        <p:spPr>
          <a:xfrm>
            <a:off x="4653194" y="3033258"/>
            <a:ext cx="4388777" cy="171745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l">
              <a:spcAft>
                <a:spcPts val="1200"/>
              </a:spcAft>
              <a:buNone/>
            </a:pPr>
            <a:r>
              <a:rPr lang="es-ES" sz="18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🎯 </a:t>
            </a:r>
            <a:r>
              <a:rPr lang="es-ES" sz="1800" b="1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K-</a:t>
            </a:r>
            <a:r>
              <a:rPr lang="es-ES" sz="1800" b="1" i="0" dirty="0" err="1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means</a:t>
            </a:r>
            <a:endParaRPr lang="es-ES" sz="1800" b="1" i="0" dirty="0">
              <a:solidFill>
                <a:schemeClr val="tx1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>
              <a:spcAft>
                <a:spcPts val="1200"/>
              </a:spcAft>
              <a:buNone/>
            </a:pPr>
            <a:r>
              <a:rPr lang="es-ES" b="1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Matemática:</a:t>
            </a:r>
            <a:r>
              <a:rPr lang="es-ES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Minimización de varianza </a:t>
            </a:r>
            <a:r>
              <a:rPr lang="es-ES" b="0" i="0" dirty="0" err="1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intra-cluster</a:t>
            </a:r>
            <a:endParaRPr lang="es-ES" b="0" i="0" dirty="0">
              <a:solidFill>
                <a:schemeClr val="tx1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>
              <a:spcBef>
                <a:spcPts val="900"/>
              </a:spcBef>
              <a:spcAft>
                <a:spcPts val="900"/>
              </a:spcAft>
              <a:buNone/>
            </a:pPr>
            <a:r>
              <a:rPr lang="es-ES" b="1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min Σ </a:t>
            </a:r>
            <a:r>
              <a:rPr lang="es-ES" b="1" i="0" dirty="0" err="1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Σ</a:t>
            </a:r>
            <a:r>
              <a:rPr lang="es-ES" b="1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||xi - </a:t>
            </a:r>
            <a:r>
              <a:rPr lang="es-ES" b="1" i="0" dirty="0" err="1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μk</a:t>
            </a:r>
            <a:r>
              <a:rPr lang="es-ES" b="1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||²</a:t>
            </a:r>
          </a:p>
          <a:p>
            <a:pPr algn="l">
              <a:spcAft>
                <a:spcPts val="1200"/>
              </a:spcAft>
              <a:buNone/>
            </a:pPr>
            <a:r>
              <a:rPr lang="es-ES" b="1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Aplicación:</a:t>
            </a:r>
            <a:r>
              <a:rPr lang="es-ES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Segmentación de clientes</a:t>
            </a:r>
          </a:p>
        </p:txBody>
      </p:sp>
    </p:spTree>
    <p:extLst>
      <p:ext uri="{BB962C8B-B14F-4D97-AF65-F5344CB8AC3E}">
        <p14:creationId xmlns:p14="http://schemas.microsoft.com/office/powerpoint/2010/main" val="16593373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993B5-3B7D-EB2E-0D74-DF23F6D22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1E26B7-7A9A-CE2B-C78F-3EE08D7A9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 El Futuro de los Datos</a:t>
            </a:r>
            <a:endParaRPr lang="es-CL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B7192DC-F34B-847F-63C6-127BB73CB84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40</a:t>
            </a:fld>
            <a:endParaRPr lang="es-CL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D8C58A25-78FA-14C4-0141-B6F7D7B0A6DC}"/>
              </a:ext>
            </a:extLst>
          </p:cNvPr>
          <p:cNvSpPr/>
          <p:nvPr/>
        </p:nvSpPr>
        <p:spPr>
          <a:xfrm>
            <a:off x="489098" y="1191564"/>
            <a:ext cx="8272130" cy="175100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s-ES" sz="1500" dirty="0"/>
              <a:t>🎯 </a:t>
            </a:r>
            <a:r>
              <a:rPr lang="es-ES" sz="1500" b="1" dirty="0"/>
              <a:t>Puntos Clave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500" dirty="0"/>
              <a:t>La ciencia de datos combina matemáticas, estadística, programación y conocimiento del dominio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500" dirty="0"/>
              <a:t>Los tipos de análisis van del descriptivo al prescriptivo, aumentando valor y complejidad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500" dirty="0"/>
              <a:t>Los fundamentos matemáticos son esenciales para comprender y optimizar algoritmos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500" dirty="0"/>
              <a:t>La elección del algoritmo depende del problema, datos y objetivos específicos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500" dirty="0"/>
              <a:t>La visualización y comunicación son tan importantes como el análisis técnico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7ECE79A3-5646-219A-C992-D2EFBE4E2A3E}"/>
              </a:ext>
            </a:extLst>
          </p:cNvPr>
          <p:cNvSpPr/>
          <p:nvPr/>
        </p:nvSpPr>
        <p:spPr>
          <a:xfrm>
            <a:off x="1101386" y="3189767"/>
            <a:ext cx="7213274" cy="137886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800" b="1" dirty="0"/>
              <a:t>La ciencia de datos continuará evolucionando, integrando nuevas tecnologías y metodologías. El éxito requiere combinación de habilidades técnicas, pensamiento crítico y comunicación efectiva.</a:t>
            </a:r>
            <a:endParaRPr lang="es-ES" sz="1800" dirty="0"/>
          </a:p>
        </p:txBody>
      </p:sp>
    </p:spTree>
    <p:extLst>
      <p:ext uri="{BB962C8B-B14F-4D97-AF65-F5344CB8AC3E}">
        <p14:creationId xmlns:p14="http://schemas.microsoft.com/office/powerpoint/2010/main" val="24530969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2C45B1-808C-2AC7-ACC4-2CC2A00EF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¿Qué es Machine </a:t>
            </a:r>
            <a:r>
              <a:rPr lang="es-CL" dirty="0" err="1"/>
              <a:t>Learning</a:t>
            </a:r>
            <a:r>
              <a:rPr lang="es-CL" dirty="0"/>
              <a:t>?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1E6F930-AE0B-8C58-7DCE-5C18AF6EA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1374" y="2034286"/>
            <a:ext cx="7574411" cy="2537765"/>
          </a:xfrm>
        </p:spPr>
        <p:txBody>
          <a:bodyPr/>
          <a:lstStyle/>
          <a:p>
            <a:pPr algn="just"/>
            <a:r>
              <a:rPr lang="es-ES" sz="1800" dirty="0"/>
              <a:t>Los algoritmos identifican patrones en los datos y hacen predicciones</a:t>
            </a:r>
          </a:p>
          <a:p>
            <a:pPr algn="just"/>
            <a:r>
              <a:rPr lang="es-ES" sz="1800" dirty="0"/>
              <a:t>Objetivo: Que el modelo generalice bien a datos nuevos e invisibles</a:t>
            </a:r>
          </a:p>
          <a:p>
            <a:pPr marL="63500" indent="0" algn="just">
              <a:buNone/>
            </a:pPr>
            <a:r>
              <a:rPr lang="es-ES" sz="1800" dirty="0"/>
              <a:t>Características:</a:t>
            </a:r>
          </a:p>
          <a:p>
            <a:pPr algn="just"/>
            <a:r>
              <a:rPr lang="es-ES" sz="1800" dirty="0"/>
              <a:t>Aprende de la experiencia (datos)</a:t>
            </a:r>
          </a:p>
          <a:p>
            <a:pPr algn="just"/>
            <a:r>
              <a:rPr lang="es-ES" sz="1800" dirty="0"/>
              <a:t>Mejora su rendimiento con el tiempo</a:t>
            </a:r>
          </a:p>
          <a:p>
            <a:pPr algn="just"/>
            <a:r>
              <a:rPr lang="es-ES" sz="1800" dirty="0"/>
              <a:t>Hace predicciones o decisiones autónomas</a:t>
            </a:r>
          </a:p>
          <a:p>
            <a:pPr algn="just"/>
            <a:endParaRPr lang="es-CL" sz="1800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FE0FC5F-67FB-A0DD-2220-FC3B6A67009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41</a:t>
            </a:fld>
            <a:endParaRPr lang="es-CL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19CA9EE3-089E-FA0A-E714-7B70ADA8B00B}"/>
              </a:ext>
            </a:extLst>
          </p:cNvPr>
          <p:cNvSpPr/>
          <p:nvPr/>
        </p:nvSpPr>
        <p:spPr>
          <a:xfrm>
            <a:off x="594900" y="1089062"/>
            <a:ext cx="8080886" cy="932372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b="1" dirty="0"/>
              <a:t>Machine </a:t>
            </a:r>
            <a:r>
              <a:rPr lang="es-ES" sz="1800" b="1" dirty="0" err="1"/>
              <a:t>Learning</a:t>
            </a:r>
            <a:r>
              <a:rPr lang="es-ES" sz="1800" dirty="0"/>
              <a:t> (ML) es una rama de la inteligencia artificial que permite a las máquinas aprender de los datos sin ser programadas explícitamente</a:t>
            </a:r>
            <a:endParaRPr lang="es-CL" sz="1800" dirty="0"/>
          </a:p>
        </p:txBody>
      </p:sp>
    </p:spTree>
    <p:extLst>
      <p:ext uri="{BB962C8B-B14F-4D97-AF65-F5344CB8AC3E}">
        <p14:creationId xmlns:p14="http://schemas.microsoft.com/office/powerpoint/2010/main" val="35689672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E7B575-797D-72AA-4288-F48AD826D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Machine </a:t>
            </a:r>
            <a:r>
              <a:rPr lang="es-CL" dirty="0" err="1"/>
              <a:t>Learning</a:t>
            </a:r>
            <a:r>
              <a:rPr lang="es-CL" dirty="0"/>
              <a:t> </a:t>
            </a:r>
            <a:r>
              <a:rPr lang="es-CL" dirty="0" err="1"/>
              <a:t>Workflow</a:t>
            </a:r>
            <a:endParaRPr lang="es-CL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3149663-DD3C-9F63-EE7F-0015028DE0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1375" y="972507"/>
            <a:ext cx="4549412" cy="3537900"/>
          </a:xfrm>
        </p:spPr>
        <p:txBody>
          <a:bodyPr/>
          <a:lstStyle/>
          <a:p>
            <a:r>
              <a:rPr lang="es-ES" sz="1800" dirty="0"/>
              <a:t>1. Definición del Problema</a:t>
            </a:r>
          </a:p>
          <a:p>
            <a:r>
              <a:rPr lang="es-ES" sz="1800" dirty="0"/>
              <a:t>2. Recolección de Datos (ej. ChEMBL, PubChem)</a:t>
            </a:r>
          </a:p>
          <a:p>
            <a:r>
              <a:rPr lang="es-ES" sz="1800" dirty="0"/>
              <a:t>3. Exploración y Limpieza</a:t>
            </a:r>
          </a:p>
          <a:p>
            <a:r>
              <a:rPr lang="es-ES" sz="1800" dirty="0"/>
              <a:t>4. Ingeniería de Características (ej. fingerprints)</a:t>
            </a:r>
          </a:p>
          <a:p>
            <a:r>
              <a:rPr lang="es-ES" sz="1800" dirty="0"/>
              <a:t>5. Selección de Modelo</a:t>
            </a:r>
          </a:p>
          <a:p>
            <a:r>
              <a:rPr lang="es-ES" sz="1800" dirty="0"/>
              <a:t>6. Entrenamiento</a:t>
            </a:r>
          </a:p>
          <a:p>
            <a:r>
              <a:rPr lang="es-ES" sz="1800" dirty="0"/>
              <a:t>7. Evaluación</a:t>
            </a:r>
          </a:p>
          <a:p>
            <a:r>
              <a:rPr lang="es-ES" sz="1800" dirty="0"/>
              <a:t>8. Ajuste de </a:t>
            </a:r>
            <a:r>
              <a:rPr lang="es-ES" sz="1800" dirty="0" err="1"/>
              <a:t>Hiperparámetros</a:t>
            </a:r>
            <a:endParaRPr lang="es-ES" sz="1800" dirty="0"/>
          </a:p>
          <a:p>
            <a:r>
              <a:rPr lang="es-ES" sz="1800" dirty="0"/>
              <a:t>9. Validación Final</a:t>
            </a:r>
          </a:p>
          <a:p>
            <a:r>
              <a:rPr lang="es-ES" sz="1800" dirty="0"/>
              <a:t>10. Despliegue</a:t>
            </a:r>
          </a:p>
          <a:p>
            <a:r>
              <a:rPr lang="es-ES" sz="1800" dirty="0"/>
              <a:t>11. Monitoreo</a:t>
            </a:r>
          </a:p>
          <a:p>
            <a:endParaRPr lang="es-CL" sz="1800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97C793D-CDEE-D581-3B9A-D2DAB19756B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42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397062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1FC77-5B04-199A-1822-9D61CD225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Tipos de Aprendizaje - Visión General</a:t>
            </a:r>
            <a:endParaRPr lang="es-CL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DAC3D98-14CA-660D-4B11-2E44D08EA0A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43</a:t>
            </a:fld>
            <a:endParaRPr lang="es-CL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79E670B9-C05F-2CBC-6294-0F573C9232C8}"/>
              </a:ext>
            </a:extLst>
          </p:cNvPr>
          <p:cNvSpPr/>
          <p:nvPr/>
        </p:nvSpPr>
        <p:spPr>
          <a:xfrm>
            <a:off x="1306868" y="1304818"/>
            <a:ext cx="3265131" cy="1541124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900"/>
              </a:spcAft>
              <a:buNone/>
            </a:pPr>
            <a:r>
              <a:rPr lang="es-ES" sz="1800" b="0" i="0" dirty="0">
                <a:solidFill>
                  <a:srgbClr val="F5F5F5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🎯 </a:t>
            </a:r>
          </a:p>
          <a:p>
            <a:pPr algn="ctr">
              <a:spcAft>
                <a:spcPts val="900"/>
              </a:spcAft>
              <a:buNone/>
            </a:pPr>
            <a:r>
              <a:rPr lang="es-ES" sz="1800" b="1" i="0" dirty="0">
                <a:solidFill>
                  <a:srgbClr val="F5F5F5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Supervisado</a:t>
            </a:r>
          </a:p>
          <a:p>
            <a:pPr algn="ctr">
              <a:buNone/>
            </a:pPr>
            <a:r>
              <a:rPr lang="es-ES" sz="1800" b="0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Aprende con ejemplos etiquetados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B0FA6B39-B22F-D1A9-6196-5041249AD727}"/>
              </a:ext>
            </a:extLst>
          </p:cNvPr>
          <p:cNvSpPr/>
          <p:nvPr/>
        </p:nvSpPr>
        <p:spPr>
          <a:xfrm>
            <a:off x="4973024" y="1304818"/>
            <a:ext cx="3265131" cy="1541124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900"/>
              </a:spcAft>
              <a:buNone/>
            </a:pPr>
            <a:r>
              <a:rPr lang="es-ES" sz="1800" b="0" i="0" dirty="0">
                <a:solidFill>
                  <a:srgbClr val="F5F5F5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🔍 </a:t>
            </a:r>
          </a:p>
          <a:p>
            <a:pPr algn="ctr">
              <a:spcAft>
                <a:spcPts val="900"/>
              </a:spcAft>
              <a:buNone/>
            </a:pPr>
            <a:r>
              <a:rPr lang="es-ES" sz="1800" b="1" i="0" dirty="0">
                <a:solidFill>
                  <a:srgbClr val="F5F5F5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No Supervisado</a:t>
            </a:r>
          </a:p>
          <a:p>
            <a:pPr algn="ctr">
              <a:buNone/>
            </a:pPr>
            <a:r>
              <a:rPr lang="es-ES" sz="1800" b="0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Encuentra patrones en datos sin etiquetas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101D50D7-C2DE-3367-4B27-E2D1676912DF}"/>
              </a:ext>
            </a:extLst>
          </p:cNvPr>
          <p:cNvSpPr/>
          <p:nvPr/>
        </p:nvSpPr>
        <p:spPr>
          <a:xfrm>
            <a:off x="1306868" y="3049712"/>
            <a:ext cx="3265131" cy="1541124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900"/>
              </a:spcAft>
              <a:buNone/>
            </a:pPr>
            <a:r>
              <a:rPr lang="es-ES" sz="1800" b="0" i="0" dirty="0">
                <a:solidFill>
                  <a:srgbClr val="F5F5F5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⚖️ </a:t>
            </a:r>
          </a:p>
          <a:p>
            <a:pPr algn="ctr">
              <a:spcAft>
                <a:spcPts val="900"/>
              </a:spcAft>
              <a:buNone/>
            </a:pPr>
            <a:r>
              <a:rPr lang="es-ES" sz="1800" b="1" i="0" dirty="0" err="1">
                <a:solidFill>
                  <a:srgbClr val="F5F5F5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Semi-supervisado</a:t>
            </a:r>
            <a:endParaRPr lang="es-ES" sz="1800" b="1" i="0" dirty="0">
              <a:solidFill>
                <a:srgbClr val="F5F5F5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>
              <a:buNone/>
            </a:pPr>
            <a:r>
              <a:rPr lang="es-ES" sz="1800" b="0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Combina datos etiquetados y no etiquetados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33815EA4-57EF-EABC-23EB-E5E30CDAE549}"/>
              </a:ext>
            </a:extLst>
          </p:cNvPr>
          <p:cNvSpPr/>
          <p:nvPr/>
        </p:nvSpPr>
        <p:spPr>
          <a:xfrm>
            <a:off x="4973024" y="3049712"/>
            <a:ext cx="3265131" cy="1541124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900"/>
              </a:spcAft>
              <a:buNone/>
            </a:pPr>
            <a:r>
              <a:rPr lang="es-ES" sz="1800" b="0" i="0" dirty="0">
                <a:solidFill>
                  <a:srgbClr val="F5F5F5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🎮 </a:t>
            </a:r>
          </a:p>
          <a:p>
            <a:pPr algn="ctr">
              <a:spcAft>
                <a:spcPts val="900"/>
              </a:spcAft>
              <a:buNone/>
            </a:pPr>
            <a:r>
              <a:rPr lang="es-ES" sz="1800" b="1" i="0" dirty="0">
                <a:solidFill>
                  <a:srgbClr val="F5F5F5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Refuerzo</a:t>
            </a:r>
          </a:p>
          <a:p>
            <a:pPr algn="ctr">
              <a:buNone/>
            </a:pPr>
            <a:r>
              <a:rPr lang="es-ES" sz="1800" b="0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Aprende mediante recompensas y castigos</a:t>
            </a:r>
          </a:p>
        </p:txBody>
      </p:sp>
    </p:spTree>
    <p:extLst>
      <p:ext uri="{BB962C8B-B14F-4D97-AF65-F5344CB8AC3E}">
        <p14:creationId xmlns:p14="http://schemas.microsoft.com/office/powerpoint/2010/main" val="75173091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13B6FA-0CA7-E9EA-6AF9-7C82751B9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Supervisado y No Supervisado</a:t>
            </a:r>
            <a:endParaRPr lang="es-CL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6E9C97C-E3DE-FB85-1A00-9F3823D073F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44</a:t>
            </a:fld>
            <a:endParaRPr lang="es-CL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20E409F-0F87-008A-A65E-AD66FD4344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019" y="1183615"/>
            <a:ext cx="8147961" cy="3583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022228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EEA5D-0B77-8C79-C093-244C8C10A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B56C61-63DF-5795-1972-999905903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Aprendizaje Supervisado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8552395-0497-B083-8470-983C5CECE9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1374" y="2034286"/>
            <a:ext cx="7574411" cy="2537765"/>
          </a:xfrm>
        </p:spPr>
        <p:txBody>
          <a:bodyPr/>
          <a:lstStyle/>
          <a:p>
            <a:pPr marL="63500" indent="0" algn="just">
              <a:buNone/>
            </a:pPr>
            <a:r>
              <a:rPr lang="es-ES" sz="1800" b="1" dirty="0"/>
              <a:t>Objetivo</a:t>
            </a:r>
            <a:r>
              <a:rPr lang="es-ES" sz="1800" dirty="0"/>
              <a:t>: Predecir correctamente las salidas para nuevos datos.</a:t>
            </a:r>
          </a:p>
          <a:p>
            <a:pPr marL="63500" indent="0" algn="just">
              <a:buNone/>
            </a:pPr>
            <a:r>
              <a:rPr lang="es-ES" sz="1800" dirty="0"/>
              <a:t>Características:</a:t>
            </a:r>
          </a:p>
          <a:p>
            <a:pPr algn="just"/>
            <a:r>
              <a:rPr lang="es-ES" sz="1800" dirty="0"/>
              <a:t>Requiere datos etiquetados.</a:t>
            </a:r>
          </a:p>
          <a:p>
            <a:pPr algn="just"/>
            <a:r>
              <a:rPr lang="es-ES" sz="1800" dirty="0"/>
              <a:t>Evaluación clara del rendimiento.</a:t>
            </a:r>
          </a:p>
          <a:p>
            <a:pPr algn="just"/>
            <a:r>
              <a:rPr lang="es-ES" sz="1800" dirty="0"/>
              <a:t>Dos tipos principales: Clasificación y Regresión.</a:t>
            </a:r>
            <a:endParaRPr lang="es-CL" sz="1800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4CE88C0-D10F-9809-8F4B-AB74CA2696B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45</a:t>
            </a:fld>
            <a:endParaRPr lang="es-CL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4B69C004-8473-7981-0EF5-5A22C7F462EA}"/>
              </a:ext>
            </a:extLst>
          </p:cNvPr>
          <p:cNvSpPr/>
          <p:nvPr/>
        </p:nvSpPr>
        <p:spPr>
          <a:xfrm>
            <a:off x="594900" y="1089062"/>
            <a:ext cx="8080886" cy="932372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/>
              <a:t>El modelo aprende de datos de entrenamiento que incluyen tanto las características (X, ej. descriptores moleculares) como las respuestas correctas (y, ej. actividad biológica)</a:t>
            </a:r>
            <a:endParaRPr lang="es-CL" sz="1800" dirty="0"/>
          </a:p>
        </p:txBody>
      </p:sp>
    </p:spTree>
    <p:extLst>
      <p:ext uri="{BB962C8B-B14F-4D97-AF65-F5344CB8AC3E}">
        <p14:creationId xmlns:p14="http://schemas.microsoft.com/office/powerpoint/2010/main" val="228217383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74930-CA3E-9DC7-90AD-6853D1675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A8F82A-3DFC-D465-EF4E-F558CB5B1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Clasificación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51BBDD6-ABB9-4885-98CA-2E13276399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1374" y="1417846"/>
            <a:ext cx="7574411" cy="2537765"/>
          </a:xfrm>
        </p:spPr>
        <p:txBody>
          <a:bodyPr/>
          <a:lstStyle/>
          <a:p>
            <a:pPr marL="63500" indent="0">
              <a:buNone/>
            </a:pPr>
            <a:r>
              <a:rPr lang="es-CL" sz="1600" b="1" dirty="0"/>
              <a:t>Salida:</a:t>
            </a:r>
            <a:r>
              <a:rPr lang="es-CL" sz="1600" dirty="0"/>
              <a:t> Etiquetas categóricas (</a:t>
            </a:r>
            <a:r>
              <a:rPr lang="es-CL" sz="1600" dirty="0" err="1"/>
              <a:t>ej</a:t>
            </a:r>
            <a:r>
              <a:rPr lang="es-CL" sz="1600" dirty="0"/>
              <a:t>: spam/no spam, gato/perro)</a:t>
            </a:r>
          </a:p>
          <a:p>
            <a:pPr marL="63500" indent="0">
              <a:buNone/>
            </a:pPr>
            <a:r>
              <a:rPr lang="es-CL" sz="1600" b="1" dirty="0"/>
              <a:t>Ejemplos:</a:t>
            </a:r>
            <a:r>
              <a:rPr lang="es-CL" sz="1600" dirty="0"/>
              <a:t> Detección de spam, Diagnóstico médico, Cribado virtual (activo/inactivo)</a:t>
            </a:r>
          </a:p>
          <a:p>
            <a:pPr marL="63500" indent="0">
              <a:buNone/>
            </a:pPr>
            <a:r>
              <a:rPr lang="es-CL" sz="1600" dirty="0"/>
              <a:t>Tipos:</a:t>
            </a:r>
          </a:p>
          <a:p>
            <a:r>
              <a:rPr lang="es-CL" sz="1600" dirty="0"/>
              <a:t>Binaria: 2 clases (sí/no)</a:t>
            </a:r>
          </a:p>
          <a:p>
            <a:r>
              <a:rPr lang="es-CL" sz="1600" dirty="0"/>
              <a:t>Multiclase: 3+ clases (A, B, C)</a:t>
            </a:r>
          </a:p>
          <a:p>
            <a:r>
              <a:rPr lang="es-CL" sz="1600" dirty="0" err="1"/>
              <a:t>Multilabel</a:t>
            </a:r>
            <a:r>
              <a:rPr lang="es-CL" sz="1600" dirty="0"/>
              <a:t>: Múltiples etiquetas simultáneas</a:t>
            </a:r>
          </a:p>
          <a:p>
            <a:pPr marL="63500" indent="0">
              <a:buNone/>
            </a:pPr>
            <a:r>
              <a:rPr lang="es-CL" sz="1600" dirty="0"/>
              <a:t>Ejemplos:</a:t>
            </a:r>
          </a:p>
          <a:p>
            <a:r>
              <a:rPr lang="es-CL" sz="1600" dirty="0"/>
              <a:t>Detección de spam</a:t>
            </a:r>
          </a:p>
          <a:p>
            <a:r>
              <a:rPr lang="es-CL" sz="1600" dirty="0"/>
              <a:t>Diagnóstico médico</a:t>
            </a:r>
          </a:p>
          <a:p>
            <a:r>
              <a:rPr lang="es-CL" sz="1600" dirty="0"/>
              <a:t>Cribado virtual: activo / inactivo</a:t>
            </a:r>
          </a:p>
          <a:p>
            <a:pPr algn="just"/>
            <a:endParaRPr lang="es-CL" sz="1600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B9A030F-1CA7-2A78-2D5E-D78CA8E7F1E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46</a:t>
            </a:fld>
            <a:endParaRPr lang="es-CL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F0C4E57D-5205-823D-417C-6A27B0DFA758}"/>
              </a:ext>
            </a:extLst>
          </p:cNvPr>
          <p:cNvSpPr/>
          <p:nvPr/>
        </p:nvSpPr>
        <p:spPr>
          <a:xfrm>
            <a:off x="594900" y="1047967"/>
            <a:ext cx="8080886" cy="47262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800" dirty="0"/>
              <a:t>Predecir categorías o clases discretas</a:t>
            </a:r>
            <a:endParaRPr lang="es-CL" sz="1800" dirty="0"/>
          </a:p>
        </p:txBody>
      </p:sp>
    </p:spTree>
    <p:extLst>
      <p:ext uri="{BB962C8B-B14F-4D97-AF65-F5344CB8AC3E}">
        <p14:creationId xmlns:p14="http://schemas.microsoft.com/office/powerpoint/2010/main" val="32025516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1C5DF-7536-C4F8-EB1A-0AFCADC6C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7320EF-AD78-7BB9-E289-B97296C3B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Algoritmos de Clasificación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B133224-2B66-54FB-E23D-D9827A53294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47</a:t>
            </a:fld>
            <a:endParaRPr lang="es-CL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164A0565-75E6-054F-52B4-8E05E7613D0D}"/>
              </a:ext>
            </a:extLst>
          </p:cNvPr>
          <p:cNvSpPr/>
          <p:nvPr/>
        </p:nvSpPr>
        <p:spPr>
          <a:xfrm>
            <a:off x="1101384" y="1089062"/>
            <a:ext cx="7574401" cy="657545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800" b="1" dirty="0"/>
              <a:t>Regresión Logística</a:t>
            </a:r>
          </a:p>
          <a:p>
            <a:r>
              <a:rPr lang="es-ES" sz="1600" dirty="0"/>
              <a:t>Simple, interpretable, bueno para problemas lineales</a:t>
            </a:r>
            <a:endParaRPr lang="es-CL" sz="1600" dirty="0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A84A4BB9-CAB3-7E1E-898A-5614F874231C}"/>
              </a:ext>
            </a:extLst>
          </p:cNvPr>
          <p:cNvSpPr/>
          <p:nvPr/>
        </p:nvSpPr>
        <p:spPr>
          <a:xfrm>
            <a:off x="1101383" y="1852561"/>
            <a:ext cx="7574401" cy="657545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800" b="1" dirty="0"/>
              <a:t>Árboles de Decisión</a:t>
            </a:r>
            <a:endParaRPr lang="es-ES" sz="1600" b="1" dirty="0"/>
          </a:p>
          <a:p>
            <a:r>
              <a:rPr lang="es-ES" sz="1600" dirty="0"/>
              <a:t>Fácil de interpretar, maneja datos categóricos y numéricos</a:t>
            </a:r>
            <a:endParaRPr lang="es-CL" sz="1600" dirty="0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73AA70C4-21B4-D10D-96C5-B9FF0ADFF60A}"/>
              </a:ext>
            </a:extLst>
          </p:cNvPr>
          <p:cNvSpPr/>
          <p:nvPr/>
        </p:nvSpPr>
        <p:spPr>
          <a:xfrm>
            <a:off x="1101381" y="2616060"/>
            <a:ext cx="7574401" cy="657545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800" b="1" dirty="0" err="1"/>
              <a:t>Random</a:t>
            </a:r>
            <a:r>
              <a:rPr lang="es-ES" sz="1800" b="1" dirty="0"/>
              <a:t> Forest</a:t>
            </a:r>
          </a:p>
          <a:p>
            <a:r>
              <a:rPr lang="es-ES" sz="1600" dirty="0"/>
              <a:t>Conjunto de árboles, reduce sobreajuste</a:t>
            </a:r>
            <a:endParaRPr lang="es-CL" sz="1600" dirty="0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D00C1486-8D3E-26EB-EED6-BD1BD647C911}"/>
              </a:ext>
            </a:extLst>
          </p:cNvPr>
          <p:cNvSpPr/>
          <p:nvPr/>
        </p:nvSpPr>
        <p:spPr>
          <a:xfrm>
            <a:off x="1101381" y="3375707"/>
            <a:ext cx="7574401" cy="657545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800" b="1" dirty="0" err="1"/>
              <a:t>Support</a:t>
            </a:r>
            <a:r>
              <a:rPr lang="es-ES" sz="1800" b="1" dirty="0"/>
              <a:t> Vector Machine</a:t>
            </a:r>
          </a:p>
          <a:p>
            <a:r>
              <a:rPr lang="es-ES" sz="1600" dirty="0"/>
              <a:t>Efectivo en espacios de alta dimensión</a:t>
            </a:r>
            <a:endParaRPr lang="es-CL" sz="1600" dirty="0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C87BA503-571D-AE1F-60E1-8155F121C7B9}"/>
              </a:ext>
            </a:extLst>
          </p:cNvPr>
          <p:cNvSpPr/>
          <p:nvPr/>
        </p:nvSpPr>
        <p:spPr>
          <a:xfrm>
            <a:off x="1101381" y="4143058"/>
            <a:ext cx="7574401" cy="657545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800" b="1" dirty="0" err="1"/>
              <a:t>Naive</a:t>
            </a:r>
            <a:r>
              <a:rPr lang="es-ES" sz="1800" b="1" dirty="0"/>
              <a:t> Bayes</a:t>
            </a:r>
          </a:p>
          <a:p>
            <a:r>
              <a:rPr lang="es-ES" sz="1600" dirty="0"/>
              <a:t>Rápido, simple, bueno para texto</a:t>
            </a:r>
            <a:endParaRPr lang="es-CL" sz="1600" dirty="0"/>
          </a:p>
        </p:txBody>
      </p:sp>
    </p:spTree>
    <p:extLst>
      <p:ext uri="{BB962C8B-B14F-4D97-AF65-F5344CB8AC3E}">
        <p14:creationId xmlns:p14="http://schemas.microsoft.com/office/powerpoint/2010/main" val="218219463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C8C77-A9BA-D319-1688-7B629E461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288102-FE0A-54A8-1052-CCE0F6F5F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Regresión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FD10040-149D-33E8-C4BF-1D54F625E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1374" y="1417846"/>
            <a:ext cx="7574411" cy="2537765"/>
          </a:xfrm>
        </p:spPr>
        <p:txBody>
          <a:bodyPr/>
          <a:lstStyle/>
          <a:p>
            <a:pPr marL="63500" indent="0" algn="just">
              <a:buNone/>
            </a:pPr>
            <a:r>
              <a:rPr lang="es-ES" sz="1600" b="1" dirty="0"/>
              <a:t>Objetivo:</a:t>
            </a:r>
            <a:r>
              <a:rPr lang="es-ES" sz="1600" dirty="0"/>
              <a:t> Encontrar la mejor línea/curva que se ajuste a los datos</a:t>
            </a:r>
          </a:p>
          <a:p>
            <a:pPr marL="63500" indent="0" algn="just">
              <a:buNone/>
            </a:pPr>
            <a:r>
              <a:rPr lang="es-ES" sz="1600" b="1" dirty="0"/>
              <a:t>Salida:</a:t>
            </a:r>
            <a:r>
              <a:rPr lang="es-ES" sz="1600" dirty="0"/>
              <a:t> Números reales (</a:t>
            </a:r>
            <a:r>
              <a:rPr lang="es-ES" sz="1600" dirty="0" err="1"/>
              <a:t>ej</a:t>
            </a:r>
            <a:r>
              <a:rPr lang="es-ES" sz="1600" dirty="0"/>
              <a:t>: precio, temperatura, edad)</a:t>
            </a:r>
          </a:p>
          <a:p>
            <a:pPr marL="63500" indent="0" algn="just">
              <a:buNone/>
            </a:pPr>
            <a:r>
              <a:rPr lang="es-ES" sz="1600" b="1" dirty="0"/>
              <a:t>Ejemplos:</a:t>
            </a:r>
            <a:r>
              <a:rPr lang="es-ES" sz="1600" dirty="0"/>
              <a:t> Predicción de precios de casas, Estimación de temperatura, Predicción de pIC50 o solubilidad (logS)</a:t>
            </a:r>
          </a:p>
          <a:p>
            <a:pPr algn="just"/>
            <a:r>
              <a:rPr lang="es-ES" sz="1600" dirty="0"/>
              <a:t>Ejemplos:</a:t>
            </a:r>
          </a:p>
          <a:p>
            <a:pPr algn="just"/>
            <a:r>
              <a:rPr lang="es-ES" sz="1600" dirty="0"/>
              <a:t>Predicción de precios de casas</a:t>
            </a:r>
          </a:p>
          <a:p>
            <a:pPr algn="just"/>
            <a:r>
              <a:rPr lang="es-ES" sz="1600" dirty="0"/>
              <a:t>Pronóstico de ventas</a:t>
            </a:r>
          </a:p>
          <a:p>
            <a:pPr algn="just"/>
            <a:r>
              <a:rPr lang="es-ES" sz="1600" dirty="0"/>
              <a:t>Estimación de temperatura</a:t>
            </a:r>
          </a:p>
          <a:p>
            <a:pPr algn="just"/>
            <a:r>
              <a:rPr lang="es-ES" sz="1600" dirty="0"/>
              <a:t>Predicción de pIC50 / logS</a:t>
            </a:r>
          </a:p>
          <a:p>
            <a:pPr algn="just"/>
            <a:endParaRPr lang="es-CL" sz="1600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3FC9A0F-6C7C-649D-8244-7E21D4B2078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48</a:t>
            </a:fld>
            <a:endParaRPr lang="es-CL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544D6DDB-FB65-9420-53AC-7497E1ADD328}"/>
              </a:ext>
            </a:extLst>
          </p:cNvPr>
          <p:cNvSpPr/>
          <p:nvPr/>
        </p:nvSpPr>
        <p:spPr>
          <a:xfrm>
            <a:off x="594900" y="1047967"/>
            <a:ext cx="8080886" cy="47262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800" dirty="0"/>
              <a:t>Predecir valores numéricos continuos</a:t>
            </a:r>
            <a:endParaRPr lang="es-CL" sz="1800" dirty="0"/>
          </a:p>
        </p:txBody>
      </p:sp>
    </p:spTree>
    <p:extLst>
      <p:ext uri="{BB962C8B-B14F-4D97-AF65-F5344CB8AC3E}">
        <p14:creationId xmlns:p14="http://schemas.microsoft.com/office/powerpoint/2010/main" val="367338937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C9FDD-70D9-FC8E-24F5-8A5DC1501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3D647F-9EF8-E409-FCE5-0E106A450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Algoritmos de Regresión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3DDB7EB-4314-8B55-49F8-F4268C6E04D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49</a:t>
            </a:fld>
            <a:endParaRPr lang="es-CL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27AA9567-C9C8-4402-4AA8-E50714773BC7}"/>
              </a:ext>
            </a:extLst>
          </p:cNvPr>
          <p:cNvSpPr/>
          <p:nvPr/>
        </p:nvSpPr>
        <p:spPr>
          <a:xfrm>
            <a:off x="1101384" y="1089062"/>
            <a:ext cx="7574401" cy="657545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800" b="1" dirty="0"/>
              <a:t>Regresión Lineal</a:t>
            </a:r>
            <a:endParaRPr lang="es-ES" sz="1600" dirty="0"/>
          </a:p>
          <a:p>
            <a:r>
              <a:rPr lang="es-ES" sz="1600" dirty="0"/>
              <a:t>Relación lineal entre variables, simple e interpretable</a:t>
            </a:r>
            <a:endParaRPr lang="es-CL" sz="1600" dirty="0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07698A6C-83C0-23A6-157D-C400522ED81F}"/>
              </a:ext>
            </a:extLst>
          </p:cNvPr>
          <p:cNvSpPr/>
          <p:nvPr/>
        </p:nvSpPr>
        <p:spPr>
          <a:xfrm>
            <a:off x="1101383" y="1852561"/>
            <a:ext cx="7574401" cy="657545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800" b="1" dirty="0"/>
              <a:t>Regresión Polinomial</a:t>
            </a:r>
          </a:p>
          <a:p>
            <a:r>
              <a:rPr lang="es-ES" sz="1600" dirty="0"/>
              <a:t>Relaciones no lineales, más flexible que lineal</a:t>
            </a:r>
            <a:endParaRPr lang="es-CL" sz="1600" dirty="0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B7222C2A-35B7-4A03-BCE1-7B6744F98508}"/>
              </a:ext>
            </a:extLst>
          </p:cNvPr>
          <p:cNvSpPr/>
          <p:nvPr/>
        </p:nvSpPr>
        <p:spPr>
          <a:xfrm>
            <a:off x="1101381" y="2616060"/>
            <a:ext cx="7574401" cy="657545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800" b="1" dirty="0" err="1"/>
              <a:t>Random</a:t>
            </a:r>
            <a:r>
              <a:rPr lang="es-ES" sz="1800" b="1" dirty="0"/>
              <a:t> Forest </a:t>
            </a:r>
            <a:r>
              <a:rPr lang="es-ES" sz="1800" b="1" dirty="0" err="1"/>
              <a:t>Regressor</a:t>
            </a:r>
            <a:endParaRPr lang="es-ES" sz="1800" b="1" dirty="0"/>
          </a:p>
          <a:p>
            <a:r>
              <a:rPr lang="es-ES" sz="1600" dirty="0"/>
              <a:t>Robusto al sobreajuste, maneja relaciones complejas</a:t>
            </a:r>
            <a:endParaRPr lang="es-CL" sz="1600" dirty="0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80DB13FC-1E7E-158E-2C76-48A75B7D77D8}"/>
              </a:ext>
            </a:extLst>
          </p:cNvPr>
          <p:cNvSpPr/>
          <p:nvPr/>
        </p:nvSpPr>
        <p:spPr>
          <a:xfrm>
            <a:off x="1101381" y="3375707"/>
            <a:ext cx="7574401" cy="657545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800" b="1" dirty="0" err="1"/>
              <a:t>Support</a:t>
            </a:r>
            <a:r>
              <a:rPr lang="es-ES" sz="1800" b="1" dirty="0"/>
              <a:t> Vector Machine</a:t>
            </a:r>
          </a:p>
          <a:p>
            <a:r>
              <a:rPr lang="es-ES" sz="1600" dirty="0"/>
              <a:t>Efectivo en espacios de alta dimensión</a:t>
            </a:r>
            <a:endParaRPr lang="es-CL" sz="1600" dirty="0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F7ABFBF6-4569-C029-EAE7-7A21A7CE9677}"/>
              </a:ext>
            </a:extLst>
          </p:cNvPr>
          <p:cNvSpPr/>
          <p:nvPr/>
        </p:nvSpPr>
        <p:spPr>
          <a:xfrm>
            <a:off x="1101381" y="4143058"/>
            <a:ext cx="7574401" cy="657545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800" b="1" dirty="0"/>
              <a:t>Redes Neuronales</a:t>
            </a:r>
          </a:p>
          <a:p>
            <a:r>
              <a:rPr lang="es-ES" sz="1600" dirty="0"/>
              <a:t>Patrones muy complejos, requiere más datos</a:t>
            </a:r>
            <a:endParaRPr lang="es-CL" sz="1600" dirty="0"/>
          </a:p>
        </p:txBody>
      </p:sp>
    </p:spTree>
    <p:extLst>
      <p:ext uri="{BB962C8B-B14F-4D97-AF65-F5344CB8AC3E}">
        <p14:creationId xmlns:p14="http://schemas.microsoft.com/office/powerpoint/2010/main" val="190962938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7E3315-3D22-E045-CA6D-CD8BADCE1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Matriz de confusión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F719493-1F8A-6189-C353-CE192131A1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1386" y="1021950"/>
            <a:ext cx="7574399" cy="3537900"/>
          </a:xfrm>
        </p:spPr>
        <p:txBody>
          <a:bodyPr/>
          <a:lstStyle/>
          <a:p>
            <a:pPr algn="just"/>
            <a:r>
              <a:rPr lang="es-ES" sz="1800" dirty="0"/>
              <a:t>Una manera de evaluar el rendimiento de un clasificador es observar la matriz de confusión. La idea general es contar la cantidad de veces que los ejemplos de la clase A son clasificados como clase B. Este cálculo normalmente se debe realizar en el subconjunto de prueba.</a:t>
            </a:r>
          </a:p>
          <a:p>
            <a:pPr marL="63500" indent="0" algn="just">
              <a:buNone/>
            </a:pPr>
            <a:endParaRPr lang="es-CL" sz="1800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A87A507-D326-584E-29A3-D0077636E1B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50</a:t>
            </a:fld>
            <a:endParaRPr lang="es-CL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85AF4E7-07C1-6E77-F3B8-D6588ED64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1280" y="2602572"/>
            <a:ext cx="5525609" cy="229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12897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25A420-A73C-2DC4-F8F6-168A571E8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 err="1"/>
              <a:t>Precision</a:t>
            </a:r>
            <a:r>
              <a:rPr lang="es-CL" dirty="0"/>
              <a:t> y </a:t>
            </a:r>
            <a:r>
              <a:rPr lang="es-CL" dirty="0" err="1"/>
              <a:t>recall</a:t>
            </a:r>
            <a:endParaRPr lang="es-CL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16D49EF-CE47-18D3-5587-9F0673917B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1374" y="1023875"/>
            <a:ext cx="4970242" cy="3537900"/>
          </a:xfrm>
        </p:spPr>
        <p:txBody>
          <a:bodyPr/>
          <a:lstStyle/>
          <a:p>
            <a:pPr algn="just"/>
            <a:r>
              <a:rPr lang="es-ES" sz="1800" dirty="0"/>
              <a:t>La </a:t>
            </a:r>
            <a:r>
              <a:rPr lang="es-ES" sz="1800" i="1" dirty="0" err="1"/>
              <a:t>precision</a:t>
            </a:r>
            <a:r>
              <a:rPr lang="es-ES" sz="1800" i="1" dirty="0"/>
              <a:t> </a:t>
            </a:r>
            <a:r>
              <a:rPr lang="es-ES" sz="1800" dirty="0"/>
              <a:t>busca identificar la proporción de predicciones positivas que realmente eran positivas.</a:t>
            </a:r>
          </a:p>
          <a:p>
            <a:pPr algn="just"/>
            <a:r>
              <a:rPr lang="es-ES" sz="1800" dirty="0"/>
              <a:t>El </a:t>
            </a:r>
            <a:r>
              <a:rPr lang="es-ES" sz="1800" i="1" dirty="0" err="1"/>
              <a:t>recall</a:t>
            </a:r>
            <a:r>
              <a:rPr lang="es-ES" sz="1800" i="1" dirty="0"/>
              <a:t> </a:t>
            </a:r>
            <a:r>
              <a:rPr lang="es-ES" sz="1800" dirty="0"/>
              <a:t>busca identificar la proporción de elementos realmente positivos que se predijeron como positivos.</a:t>
            </a:r>
          </a:p>
          <a:p>
            <a:pPr marL="63500" indent="0" algn="just">
              <a:buNone/>
            </a:pPr>
            <a:r>
              <a:rPr lang="es-ES" sz="1800" dirty="0"/>
              <a:t>Para evaluar el rendimiento de nuestro modelo debemos evaluar ambas métricas. Típicamente existe un compromiso entre ambas métricas que debemos manejar con cuidado.</a:t>
            </a:r>
            <a:endParaRPr lang="es-CL" sz="1800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4B36822-D75E-D2D8-27E9-5DF855D7099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51</a:t>
            </a:fld>
            <a:endParaRPr lang="es-CL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0981FD6A-BBC5-FE23-ABB7-29CCD440FA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8620" y="1021950"/>
            <a:ext cx="2167166" cy="3863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65789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346EB8-C1FC-31BD-C9C6-B2EF2F9C3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F-Score</a:t>
            </a:r>
            <a:endParaRPr lang="es-CL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64E7465-4220-50BC-AEC8-9DC5BFD2B1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1374" y="1311550"/>
            <a:ext cx="7574399" cy="3537900"/>
          </a:xfrm>
        </p:spPr>
        <p:txBody>
          <a:bodyPr/>
          <a:lstStyle/>
          <a:p>
            <a:pPr algn="just"/>
            <a:r>
              <a:rPr lang="es-ES" sz="1800" dirty="0"/>
              <a:t>El F-Score es una métrica resumen que nos comunica el resultado de la </a:t>
            </a:r>
            <a:r>
              <a:rPr lang="es-ES" sz="1800" i="1" dirty="0" err="1"/>
              <a:t>precision</a:t>
            </a:r>
            <a:r>
              <a:rPr lang="es-ES" sz="1800" i="1" dirty="0"/>
              <a:t> </a:t>
            </a:r>
            <a:r>
              <a:rPr lang="es-ES" sz="1800" dirty="0"/>
              <a:t>y el </a:t>
            </a:r>
            <a:r>
              <a:rPr lang="es-ES" sz="1800" i="1" dirty="0" err="1"/>
              <a:t>recall</a:t>
            </a:r>
            <a:r>
              <a:rPr lang="es-ES" sz="1800" i="1" dirty="0"/>
              <a:t> </a:t>
            </a:r>
            <a:r>
              <a:rPr lang="es-ES" sz="1800" dirty="0"/>
              <a:t>en un sólo valor. La versión más utilizada es el F1-score, que pondera con el mismo peso la </a:t>
            </a:r>
            <a:r>
              <a:rPr lang="es-ES" sz="1800" i="1" dirty="0" err="1"/>
              <a:t>precision</a:t>
            </a:r>
            <a:r>
              <a:rPr lang="es-ES" sz="1800" i="1" dirty="0"/>
              <a:t> </a:t>
            </a:r>
            <a:r>
              <a:rPr lang="es-ES" sz="1800" dirty="0"/>
              <a:t>y el </a:t>
            </a:r>
            <a:r>
              <a:rPr lang="es-ES" sz="1800" i="1" dirty="0" err="1"/>
              <a:t>recall</a:t>
            </a:r>
            <a:r>
              <a:rPr lang="es-ES" sz="1800" dirty="0"/>
              <a:t>.</a:t>
            </a:r>
            <a:endParaRPr lang="es-CL" sz="1800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5FBD327-17E2-2EDB-549A-A8758817A7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52</a:t>
            </a:fld>
            <a:endParaRPr lang="es-CL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7531B48-49B0-DFF6-E55B-FE35566221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393" y="2696036"/>
            <a:ext cx="6976078" cy="2153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11461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54BB62-500A-8F74-681C-F78EC3BD2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Métricas de rendimiento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8C82660-4080-1ED0-EF16-3394939BF0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1374" y="1023876"/>
            <a:ext cx="7574399" cy="3537900"/>
          </a:xfrm>
        </p:spPr>
        <p:txBody>
          <a:bodyPr/>
          <a:lstStyle/>
          <a:p>
            <a:pPr algn="just"/>
            <a:r>
              <a:rPr lang="es-ES" sz="1800" dirty="0"/>
              <a:t>Las métricas más utilizadas para evaluar el rendimiento de un regresor son el </a:t>
            </a:r>
            <a:r>
              <a:rPr lang="es-ES" sz="1800" i="1" dirty="0"/>
              <a:t>Mean Absolute Error</a:t>
            </a:r>
            <a:r>
              <a:rPr lang="es-ES" sz="1800" dirty="0"/>
              <a:t>(MAE), </a:t>
            </a:r>
            <a:r>
              <a:rPr lang="es-ES" sz="1800" i="1" dirty="0"/>
              <a:t>Mean </a:t>
            </a:r>
            <a:r>
              <a:rPr lang="es-ES" sz="1800" i="1" dirty="0" err="1"/>
              <a:t>Squared</a:t>
            </a:r>
            <a:r>
              <a:rPr lang="es-ES" sz="1800" i="1" dirty="0"/>
              <a:t> Error</a:t>
            </a:r>
            <a:r>
              <a:rPr lang="es-ES" sz="1800" dirty="0"/>
              <a:t>(MSE) y el </a:t>
            </a:r>
            <a:r>
              <a:rPr lang="es-ES" sz="1800" i="1" dirty="0" err="1"/>
              <a:t>Root</a:t>
            </a:r>
            <a:r>
              <a:rPr lang="es-ES" sz="1800" i="1" dirty="0"/>
              <a:t> Mean </a:t>
            </a:r>
            <a:r>
              <a:rPr lang="es-ES" sz="1800" i="1" dirty="0" err="1"/>
              <a:t>Squared</a:t>
            </a:r>
            <a:r>
              <a:rPr lang="es-ES" sz="1800" i="1" dirty="0"/>
              <a:t> Error</a:t>
            </a:r>
            <a:r>
              <a:rPr lang="es-ES" sz="1800" dirty="0"/>
              <a:t>(RMSE).</a:t>
            </a:r>
            <a:endParaRPr lang="es-CL" sz="1800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71953D0-EF86-7C75-6653-5CAC85C591A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53</a:t>
            </a:fld>
            <a:endParaRPr lang="es-CL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DB3F5EA-F2B0-4490-0D3F-443C15DE3D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361" y="2362699"/>
            <a:ext cx="7574400" cy="2034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32252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5D1DC-0F69-B419-5FBC-70E24B81B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50BB9E-6479-A264-4773-3C733CBDA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Aprendizaje No-Supervisado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6C9728F-BCED-F6BE-CE4A-D5C991F81F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1374" y="2034286"/>
            <a:ext cx="7574411" cy="2537765"/>
          </a:xfrm>
        </p:spPr>
        <p:txBody>
          <a:bodyPr/>
          <a:lstStyle/>
          <a:p>
            <a:pPr marL="63500" indent="0">
              <a:buNone/>
            </a:pPr>
            <a:r>
              <a:rPr lang="es-ES" sz="1800" i="1" dirty="0"/>
              <a:t>Nota: No hay respuestas 'correctas' predefinidas</a:t>
            </a:r>
            <a:endParaRPr lang="es-ES" sz="1800" dirty="0"/>
          </a:p>
          <a:p>
            <a:pPr marL="63500" indent="0">
              <a:buNone/>
            </a:pPr>
            <a:r>
              <a:rPr lang="es-ES" sz="1800" dirty="0"/>
              <a:t>Tareas:</a:t>
            </a:r>
          </a:p>
          <a:p>
            <a:r>
              <a:rPr lang="es-ES" sz="1800" dirty="0" err="1"/>
              <a:t>Clustering</a:t>
            </a:r>
            <a:r>
              <a:rPr lang="es-ES" sz="1800" dirty="0"/>
              <a:t> (Agrupamiento)</a:t>
            </a:r>
          </a:p>
          <a:p>
            <a:r>
              <a:rPr lang="es-ES" sz="1800" dirty="0"/>
              <a:t>Reducción de Dimensionalidad</a:t>
            </a:r>
          </a:p>
          <a:p>
            <a:r>
              <a:rPr lang="es-ES" sz="1800" dirty="0"/>
              <a:t>Detección de Anomalías</a:t>
            </a:r>
          </a:p>
          <a:p>
            <a:r>
              <a:rPr lang="es-ES" sz="1800" dirty="0"/>
              <a:t>Reglas de Asociación</a:t>
            </a:r>
          </a:p>
          <a:p>
            <a:pPr algn="just"/>
            <a:endParaRPr lang="es-CL" sz="1800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C51A66-55E5-8E63-3D1B-3C8DD87D37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54</a:t>
            </a:fld>
            <a:endParaRPr lang="es-CL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5E5CDDFD-4FB9-D5AD-3373-17B635B0A587}"/>
              </a:ext>
            </a:extLst>
          </p:cNvPr>
          <p:cNvSpPr/>
          <p:nvPr/>
        </p:nvSpPr>
        <p:spPr>
          <a:xfrm>
            <a:off x="594900" y="1089062"/>
            <a:ext cx="8080886" cy="932372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/>
              <a:t>Encuentra </a:t>
            </a:r>
            <a:r>
              <a:rPr lang="es-ES" sz="1800" b="1" dirty="0"/>
              <a:t>patrones ocultos (ej. en el espacio químico de una biblioteca de compuestos)</a:t>
            </a:r>
            <a:r>
              <a:rPr lang="es-ES" sz="1800" dirty="0"/>
              <a:t> en datos </a:t>
            </a:r>
            <a:r>
              <a:rPr lang="es-ES" sz="1800" b="1" dirty="0"/>
              <a:t>sin etiquetas</a:t>
            </a:r>
            <a:endParaRPr lang="es-CL" sz="1800" b="1" dirty="0"/>
          </a:p>
        </p:txBody>
      </p:sp>
    </p:spTree>
    <p:extLst>
      <p:ext uri="{BB962C8B-B14F-4D97-AF65-F5344CB8AC3E}">
        <p14:creationId xmlns:p14="http://schemas.microsoft.com/office/powerpoint/2010/main" val="323154737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8295F-2064-48C2-FF81-060E43922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FCF6FB-13F0-0613-300F-4D72B40AA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 err="1"/>
              <a:t>Clustering</a:t>
            </a:r>
            <a:endParaRPr lang="es-CL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118B407-3FB5-EFEF-25E5-6F584FABF7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1374" y="2034286"/>
            <a:ext cx="7574411" cy="2537765"/>
          </a:xfrm>
        </p:spPr>
        <p:txBody>
          <a:bodyPr/>
          <a:lstStyle/>
          <a:p>
            <a:pPr marL="63500" indent="0">
              <a:buNone/>
            </a:pPr>
            <a:r>
              <a:rPr lang="es-ES" sz="1800" b="1" dirty="0"/>
              <a:t>Objetivo:</a:t>
            </a:r>
            <a:r>
              <a:rPr lang="es-ES" sz="1800" dirty="0"/>
              <a:t> Elementos en el mismo grupo son más similares entre sí que con otros grupos</a:t>
            </a:r>
          </a:p>
          <a:p>
            <a:pPr marL="63500" indent="0">
              <a:buNone/>
            </a:pPr>
            <a:r>
              <a:rPr lang="es-ES" sz="1800" dirty="0"/>
              <a:t>Aplicaciones:</a:t>
            </a:r>
          </a:p>
          <a:p>
            <a:r>
              <a:rPr lang="es-ES" sz="1800" dirty="0"/>
              <a:t>Segmentación de clientes</a:t>
            </a:r>
          </a:p>
          <a:p>
            <a:r>
              <a:rPr lang="es-ES" sz="1800" dirty="0"/>
              <a:t>Análisis de redes sociales</a:t>
            </a:r>
          </a:p>
          <a:p>
            <a:r>
              <a:rPr lang="es-ES" sz="1800" dirty="0"/>
              <a:t>Organización de documentos</a:t>
            </a:r>
          </a:p>
          <a:p>
            <a:r>
              <a:rPr lang="es-ES" sz="1800" dirty="0"/>
              <a:t>Agrupamiento de compuestos por similitud estructural</a:t>
            </a:r>
          </a:p>
          <a:p>
            <a:pPr algn="just"/>
            <a:endParaRPr lang="es-CL" sz="1800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FDA07E2-2F6F-E956-3054-6C8E4C956AD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55</a:t>
            </a:fld>
            <a:endParaRPr lang="es-CL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33E80473-A416-5751-B00C-DA2E6B1E3167}"/>
              </a:ext>
            </a:extLst>
          </p:cNvPr>
          <p:cNvSpPr/>
          <p:nvPr/>
        </p:nvSpPr>
        <p:spPr>
          <a:xfrm>
            <a:off x="594900" y="1089062"/>
            <a:ext cx="8080886" cy="932372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/>
              <a:t>Agrupar datos similares en </a:t>
            </a:r>
            <a:r>
              <a:rPr lang="es-ES" sz="1800" dirty="0" err="1"/>
              <a:t>clusters</a:t>
            </a:r>
            <a:endParaRPr lang="es-CL" sz="1800" dirty="0"/>
          </a:p>
        </p:txBody>
      </p:sp>
    </p:spTree>
    <p:extLst>
      <p:ext uri="{BB962C8B-B14F-4D97-AF65-F5344CB8AC3E}">
        <p14:creationId xmlns:p14="http://schemas.microsoft.com/office/powerpoint/2010/main" val="343900179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7A91F-1DC9-7880-7A03-0174D8B08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1F409E-2A1D-7712-461A-A94045023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Algoritmos de </a:t>
            </a:r>
            <a:r>
              <a:rPr lang="es-CL" dirty="0" err="1"/>
              <a:t>Clustering</a:t>
            </a:r>
            <a:endParaRPr lang="es-CL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97F09BE-E3E0-03A7-CFE7-172F7EA5AC6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56</a:t>
            </a:fld>
            <a:endParaRPr lang="es-CL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618CA2CF-39D0-3CB2-70B4-232078C4C9E0}"/>
              </a:ext>
            </a:extLst>
          </p:cNvPr>
          <p:cNvSpPr/>
          <p:nvPr/>
        </p:nvSpPr>
        <p:spPr>
          <a:xfrm>
            <a:off x="1101384" y="1089062"/>
            <a:ext cx="7574401" cy="749100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800" b="1" dirty="0"/>
              <a:t>K-</a:t>
            </a:r>
            <a:r>
              <a:rPr lang="es-ES" sz="1800" b="1" dirty="0" err="1"/>
              <a:t>Means</a:t>
            </a:r>
            <a:endParaRPr lang="es-ES" sz="1800" b="1" dirty="0"/>
          </a:p>
          <a:p>
            <a:r>
              <a:rPr lang="es-ES" sz="1800" dirty="0"/>
              <a:t>Divide datos en K grupos, rápido y eficiente</a:t>
            </a:r>
            <a:endParaRPr lang="es-CL" sz="1600" dirty="0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19384A46-EF42-91DD-7980-EE450D166D80}"/>
              </a:ext>
            </a:extLst>
          </p:cNvPr>
          <p:cNvSpPr/>
          <p:nvPr/>
        </p:nvSpPr>
        <p:spPr>
          <a:xfrm>
            <a:off x="1101381" y="2001535"/>
            <a:ext cx="7574401" cy="749100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800" b="1" dirty="0"/>
              <a:t>DBSCAN</a:t>
            </a:r>
          </a:p>
          <a:p>
            <a:r>
              <a:rPr lang="es-ES" sz="1800" dirty="0"/>
              <a:t>Basado en densidad, detecta formas arbitrarias y ruido</a:t>
            </a:r>
            <a:endParaRPr lang="es-CL" sz="1600" dirty="0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D5AE0362-812D-935D-CE2D-DDF47D4D5075}"/>
              </a:ext>
            </a:extLst>
          </p:cNvPr>
          <p:cNvSpPr/>
          <p:nvPr/>
        </p:nvSpPr>
        <p:spPr>
          <a:xfrm>
            <a:off x="1101381" y="2914008"/>
            <a:ext cx="7574401" cy="749100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800" b="1" dirty="0" err="1"/>
              <a:t>Hierarchical</a:t>
            </a:r>
            <a:r>
              <a:rPr lang="es-ES" sz="1800" b="1" dirty="0"/>
              <a:t> </a:t>
            </a:r>
            <a:r>
              <a:rPr lang="es-ES" sz="1800" b="1" dirty="0" err="1"/>
              <a:t>Clustering</a:t>
            </a:r>
            <a:endParaRPr lang="es-ES" sz="1800" b="1" dirty="0"/>
          </a:p>
          <a:p>
            <a:r>
              <a:rPr lang="es-ES" sz="1800" dirty="0"/>
              <a:t>Crea jerarquía de </a:t>
            </a:r>
            <a:r>
              <a:rPr lang="es-ES" sz="1800" dirty="0" err="1"/>
              <a:t>clusters</a:t>
            </a:r>
            <a:r>
              <a:rPr lang="es-ES" sz="1800" dirty="0"/>
              <a:t>, </a:t>
            </a:r>
            <a:r>
              <a:rPr lang="es-ES" sz="1800" dirty="0" err="1"/>
              <a:t>dendrogramas</a:t>
            </a:r>
            <a:r>
              <a:rPr lang="es-ES" sz="1800" dirty="0"/>
              <a:t> útiles</a:t>
            </a:r>
            <a:endParaRPr lang="es-CL" sz="1600" dirty="0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40C454A3-ED81-42BC-4E8C-DCE385B982B6}"/>
              </a:ext>
            </a:extLst>
          </p:cNvPr>
          <p:cNvSpPr/>
          <p:nvPr/>
        </p:nvSpPr>
        <p:spPr>
          <a:xfrm>
            <a:off x="1101381" y="3832257"/>
            <a:ext cx="7574401" cy="749100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800" b="1" dirty="0"/>
              <a:t>Gaussian Mixture </a:t>
            </a:r>
            <a:r>
              <a:rPr lang="es-ES" sz="1800" b="1" dirty="0" err="1"/>
              <a:t>Models</a:t>
            </a:r>
            <a:endParaRPr lang="es-ES" sz="1800" b="1" dirty="0"/>
          </a:p>
          <a:p>
            <a:r>
              <a:rPr lang="es-ES" sz="1800" dirty="0" err="1"/>
              <a:t>Clusters</a:t>
            </a:r>
            <a:r>
              <a:rPr lang="es-ES" sz="1800" dirty="0"/>
              <a:t> probabilísticos, más flexible que K-</a:t>
            </a:r>
            <a:r>
              <a:rPr lang="es-ES" sz="1800" dirty="0" err="1"/>
              <a:t>Means</a:t>
            </a:r>
            <a:endParaRPr lang="es-CL" sz="1600" dirty="0"/>
          </a:p>
        </p:txBody>
      </p:sp>
    </p:spTree>
    <p:extLst>
      <p:ext uri="{BB962C8B-B14F-4D97-AF65-F5344CB8AC3E}">
        <p14:creationId xmlns:p14="http://schemas.microsoft.com/office/powerpoint/2010/main" val="237123897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F3544-09DE-43AE-3D34-BE6D09F79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1100CD-E9D6-1A86-62B3-101548AC3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 err="1"/>
              <a:t>Clustering</a:t>
            </a:r>
            <a:endParaRPr lang="es-CL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2D0E6CA-262C-7F11-776E-CE290CC6E01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57</a:t>
            </a:fld>
            <a:endParaRPr lang="es-CL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C45FB972-58C5-85BB-AEB0-8E86B8F112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868" y="1237178"/>
            <a:ext cx="8226558" cy="3478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947E5D6E-95C5-CC7B-1DB8-1BCEF2D66783}"/>
              </a:ext>
            </a:extLst>
          </p:cNvPr>
          <p:cNvSpPr txBox="1"/>
          <p:nvPr/>
        </p:nvSpPr>
        <p:spPr>
          <a:xfrm>
            <a:off x="2629825" y="4594772"/>
            <a:ext cx="52603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dirty="0">
                <a:hlinkClick r:id="rId3"/>
              </a:rPr>
              <a:t>https://www.cs.us.es/~fsancho/Blog/posts/Clustering/</a:t>
            </a:r>
            <a:r>
              <a:rPr lang="es-CL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99810287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86ACF-28ED-7CE1-E6DC-807749812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EFD497-10D2-94E4-5D50-245997A6C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 err="1"/>
              <a:t>Clustering</a:t>
            </a:r>
            <a:endParaRPr lang="es-CL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EED1BDC-664A-683E-99C8-79C8D8BE20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58</a:t>
            </a:fld>
            <a:endParaRPr lang="es-CL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7A0470E-0CDE-B7C6-57B2-65C2ADD216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9761" y="1067305"/>
            <a:ext cx="5378446" cy="3695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559436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50C08E-D623-FC56-DBEB-76F4E7A24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k-</a:t>
            </a:r>
            <a:r>
              <a:rPr lang="es-CL" dirty="0" err="1"/>
              <a:t>Means</a:t>
            </a:r>
            <a:endParaRPr lang="es-CL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0B4363-1A27-E9BD-10EB-106C481C5C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1374" y="1023876"/>
            <a:ext cx="7574399" cy="3537900"/>
          </a:xfrm>
        </p:spPr>
        <p:txBody>
          <a:bodyPr/>
          <a:lstStyle/>
          <a:p>
            <a:pPr algn="just"/>
            <a:r>
              <a:rPr lang="es-ES" sz="1800" dirty="0"/>
              <a:t>Con este algoritmo se busca particionar los objetos en una cantidad predefinida </a:t>
            </a:r>
            <a:r>
              <a:rPr lang="es-CL" sz="1800" dirty="0"/>
              <a:t>de grupos.</a:t>
            </a:r>
          </a:p>
          <a:p>
            <a:pPr algn="just"/>
            <a:r>
              <a:rPr lang="es-ES" sz="1800" dirty="0"/>
              <a:t>Para generar grupos mediante el </a:t>
            </a:r>
            <a:r>
              <a:rPr lang="es-CL" sz="1800" dirty="0"/>
              <a:t>algoritmo de k-</a:t>
            </a:r>
            <a:r>
              <a:rPr lang="es-CL" sz="1800" dirty="0" err="1"/>
              <a:t>means</a:t>
            </a:r>
            <a:r>
              <a:rPr lang="es-CL" sz="1800" dirty="0"/>
              <a:t> necesitamos </a:t>
            </a:r>
            <a:r>
              <a:rPr lang="es-ES" sz="1800" dirty="0"/>
              <a:t>primero definir la cantidad de grupos que queremos encontrar y el algoritmo le asignará exactamente un grupo a cada uno de los objetos.</a:t>
            </a:r>
            <a:endParaRPr lang="es-CL" sz="1800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CB21BFC-A497-0CF3-6E81-9D19522827E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59</a:t>
            </a:fld>
            <a:endParaRPr lang="es-CL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C4958AD-B2D7-8FE7-5401-388DAEBA86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2750906"/>
            <a:ext cx="4519138" cy="2119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18015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F60F47-26A6-9611-1603-65937FFE5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El algoritmo de k-</a:t>
            </a:r>
            <a:r>
              <a:rPr lang="es-CL" dirty="0" err="1"/>
              <a:t>means</a:t>
            </a:r>
            <a:endParaRPr lang="es-CL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7349D11-DA6D-C025-5A0C-AAFC072778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8917" y="1021950"/>
            <a:ext cx="4140485" cy="3537900"/>
          </a:xfrm>
        </p:spPr>
        <p:txBody>
          <a:bodyPr/>
          <a:lstStyle/>
          <a:p>
            <a:pPr marL="63500" indent="0" algn="just">
              <a:buNone/>
            </a:pPr>
            <a:r>
              <a:rPr lang="es-ES" sz="2000" dirty="0"/>
              <a:t>1. Asignar al azar un entero de 1 a k a cada uno de los objetos del conjunto de datos (ej. compuestos representados por sus fingerprints).</a:t>
            </a:r>
          </a:p>
          <a:p>
            <a:pPr marL="63500" indent="0" algn="just">
              <a:buNone/>
            </a:pPr>
            <a:r>
              <a:rPr lang="es-ES" sz="2000" dirty="0"/>
              <a:t>2. Iterar hasta que los </a:t>
            </a:r>
            <a:r>
              <a:rPr lang="es-ES" sz="2000" dirty="0" err="1"/>
              <a:t>asignamientos</a:t>
            </a:r>
            <a:r>
              <a:rPr lang="es-ES" sz="2000" dirty="0"/>
              <a:t> de grupos no cambien.</a:t>
            </a:r>
          </a:p>
          <a:p>
            <a:pPr algn="just"/>
            <a:r>
              <a:rPr lang="es-ES" sz="2000" dirty="0"/>
              <a:t>a. Para cada uno de los k grupos, calcular el centroide.</a:t>
            </a:r>
          </a:p>
          <a:p>
            <a:pPr algn="just"/>
            <a:r>
              <a:rPr lang="es-ES" sz="2000" dirty="0"/>
              <a:t>b. Asignar a cada uno de los objetos al grupo cuyo centroide está más cerca.</a:t>
            </a:r>
            <a:endParaRPr lang="es-CL" sz="2000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D3A817C-7BC1-4620-99A5-407B7303A85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60</a:t>
            </a:fld>
            <a:endParaRPr lang="es-CL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EB4B595-729B-5B0D-175F-9683097667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5329" y="1093613"/>
            <a:ext cx="3839428" cy="3777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39242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8C998-9F06-DAC8-026C-96892640E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199270-A6BE-9823-26B0-14BA916AF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</a:t>
            </a:r>
            <a:r>
              <a:rPr lang="es-CL" dirty="0" err="1"/>
              <a:t>prendizaje</a:t>
            </a:r>
            <a:r>
              <a:rPr lang="es-CL" dirty="0"/>
              <a:t> Semi-Supervisado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4468CBA-457A-2F53-8392-9805A6B52D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1374" y="2034286"/>
            <a:ext cx="7574412" cy="2537765"/>
          </a:xfrm>
        </p:spPr>
        <p:txBody>
          <a:bodyPr/>
          <a:lstStyle/>
          <a:p>
            <a:pPr marL="63500" indent="0" algn="just">
              <a:buNone/>
            </a:pPr>
            <a:r>
              <a:rPr lang="es-ES" sz="1800" b="1" dirty="0"/>
              <a:t>Ventaja:</a:t>
            </a:r>
            <a:r>
              <a:rPr lang="es-ES" sz="1800" dirty="0"/>
              <a:t> Aprovecha datos abundantes no etiquetados</a:t>
            </a:r>
          </a:p>
          <a:p>
            <a:pPr marL="63500" indent="0" algn="just">
              <a:buNone/>
            </a:pPr>
            <a:r>
              <a:rPr lang="es-ES" sz="1800" b="1" dirty="0"/>
              <a:t>Aplicación:</a:t>
            </a:r>
            <a:r>
              <a:rPr lang="es-ES" sz="1800" dirty="0"/>
              <a:t> Cuando etiquetar es costoso o difícil</a:t>
            </a:r>
          </a:p>
          <a:p>
            <a:pPr marL="63500" indent="0" algn="just">
              <a:buNone/>
            </a:pPr>
            <a:r>
              <a:rPr lang="es-ES" sz="1800" dirty="0"/>
              <a:t>Principios:</a:t>
            </a:r>
          </a:p>
          <a:p>
            <a:pPr algn="just"/>
            <a:r>
              <a:rPr lang="es-ES" sz="1800" dirty="0"/>
              <a:t>Hipótesis de continuidad: Puntos cercanos tienen etiquetas similares</a:t>
            </a:r>
          </a:p>
          <a:p>
            <a:pPr algn="just"/>
            <a:r>
              <a:rPr lang="es-ES" sz="1800" dirty="0"/>
              <a:t>Hipótesis de </a:t>
            </a:r>
            <a:r>
              <a:rPr lang="es-ES" sz="1800" dirty="0" err="1"/>
              <a:t>clustering</a:t>
            </a:r>
            <a:r>
              <a:rPr lang="es-ES" sz="1800" dirty="0"/>
              <a:t>: Datos se agrupan naturalmente</a:t>
            </a:r>
          </a:p>
          <a:p>
            <a:pPr algn="just"/>
            <a:r>
              <a:rPr lang="es-ES" sz="1800" dirty="0"/>
              <a:t>Hipótesis de variedad: Datos están en un espacio de menor dimensión</a:t>
            </a:r>
          </a:p>
          <a:p>
            <a:pPr algn="just"/>
            <a:endParaRPr lang="es-ES" sz="1800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82C72AB-43B1-F3E3-1A70-D06D65680AB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61</a:t>
            </a:fld>
            <a:endParaRPr lang="es-CL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75248DDD-FE6F-960C-1789-FEA235A46948}"/>
              </a:ext>
            </a:extLst>
          </p:cNvPr>
          <p:cNvSpPr/>
          <p:nvPr/>
        </p:nvSpPr>
        <p:spPr>
          <a:xfrm>
            <a:off x="594900" y="1089062"/>
            <a:ext cx="8080886" cy="932372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/>
              <a:t>Combina pequeña cantidad de </a:t>
            </a:r>
            <a:r>
              <a:rPr lang="es-ES" sz="1800" b="1" dirty="0"/>
              <a:t>datos etiquetados</a:t>
            </a:r>
            <a:r>
              <a:rPr lang="es-ES" sz="1800" dirty="0"/>
              <a:t> con gran volumen de </a:t>
            </a:r>
            <a:r>
              <a:rPr lang="es-ES" sz="1800" b="1" dirty="0"/>
              <a:t>datos no etiquetados</a:t>
            </a:r>
            <a:endParaRPr lang="es-CL" sz="1800" b="1" dirty="0"/>
          </a:p>
        </p:txBody>
      </p:sp>
    </p:spTree>
    <p:extLst>
      <p:ext uri="{BB962C8B-B14F-4D97-AF65-F5344CB8AC3E}">
        <p14:creationId xmlns:p14="http://schemas.microsoft.com/office/powerpoint/2010/main" val="317086527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B418B-E411-891E-3F55-84DB47936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B2460E-5E0C-A31D-3E73-018ACA458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</a:t>
            </a:r>
            <a:r>
              <a:rPr lang="es-CL" dirty="0" err="1"/>
              <a:t>prendizaje</a:t>
            </a:r>
            <a:r>
              <a:rPr lang="es-CL" dirty="0"/>
              <a:t> por Refuerzo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70762F8-969F-EB82-7A67-615933EC2B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1374" y="1839080"/>
            <a:ext cx="7574412" cy="2537765"/>
          </a:xfrm>
        </p:spPr>
        <p:txBody>
          <a:bodyPr/>
          <a:lstStyle/>
          <a:p>
            <a:pPr marL="63500" indent="0" algn="just">
              <a:buNone/>
            </a:pPr>
            <a:r>
              <a:rPr lang="es-ES" sz="1800" b="1" dirty="0"/>
              <a:t>Objetivo:</a:t>
            </a:r>
            <a:r>
              <a:rPr lang="es-ES" sz="1800" dirty="0"/>
              <a:t> Maximizar recompensa acumulada a largo plazo</a:t>
            </a:r>
          </a:p>
          <a:p>
            <a:pPr marL="63500" indent="0" algn="just">
              <a:buNone/>
            </a:pPr>
            <a:r>
              <a:rPr lang="es-ES" sz="1800" b="1" dirty="0"/>
              <a:t>Proceso:</a:t>
            </a:r>
            <a:r>
              <a:rPr lang="es-ES" sz="1800" dirty="0"/>
              <a:t> Acción → Observación → Recompensa/Castigo</a:t>
            </a:r>
          </a:p>
          <a:p>
            <a:pPr marL="63500" indent="0" algn="just">
              <a:buNone/>
            </a:pPr>
            <a:r>
              <a:rPr lang="es-ES" sz="1800" dirty="0"/>
              <a:t>Componentes:</a:t>
            </a:r>
          </a:p>
          <a:p>
            <a:pPr algn="just"/>
            <a:r>
              <a:rPr lang="es-ES" sz="1800" dirty="0"/>
              <a:t>Agente: Quien toma decisiones</a:t>
            </a:r>
          </a:p>
          <a:p>
            <a:pPr algn="just"/>
            <a:r>
              <a:rPr lang="es-ES" sz="1800" dirty="0"/>
              <a:t>Entorno: El mundo donde actúa</a:t>
            </a:r>
          </a:p>
          <a:p>
            <a:pPr algn="just"/>
            <a:r>
              <a:rPr lang="es-ES" sz="1800" dirty="0"/>
              <a:t>Acciones: Lo que puede hacer el agente</a:t>
            </a:r>
          </a:p>
          <a:p>
            <a:pPr algn="just"/>
            <a:r>
              <a:rPr lang="es-ES" sz="1800" dirty="0"/>
              <a:t>Estados: Situaciones del entorno</a:t>
            </a:r>
          </a:p>
          <a:p>
            <a:pPr algn="just"/>
            <a:r>
              <a:rPr lang="es-ES" sz="1800" dirty="0"/>
              <a:t>Recompensas: </a:t>
            </a:r>
            <a:r>
              <a:rPr lang="es-ES" sz="1800" dirty="0" err="1"/>
              <a:t>Feedback</a:t>
            </a:r>
            <a:r>
              <a:rPr lang="es-ES" sz="1800" dirty="0"/>
              <a:t> positivo/negativo</a:t>
            </a:r>
          </a:p>
          <a:p>
            <a:pPr algn="just"/>
            <a:endParaRPr lang="es-ES" sz="1800" dirty="0"/>
          </a:p>
          <a:p>
            <a:pPr algn="just"/>
            <a:endParaRPr lang="es-ES" sz="1800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8014198-95FF-E50D-604F-0240EA855B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62</a:t>
            </a:fld>
            <a:endParaRPr lang="es-CL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C28EA9D3-F8B5-301B-7D69-D780A2A8E057}"/>
              </a:ext>
            </a:extLst>
          </p:cNvPr>
          <p:cNvSpPr/>
          <p:nvPr/>
        </p:nvSpPr>
        <p:spPr>
          <a:xfrm>
            <a:off x="594900" y="1089062"/>
            <a:ext cx="8080886" cy="7317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/>
              <a:t>Agente aprende mediante interacción con el entorno</a:t>
            </a:r>
            <a:endParaRPr lang="es-CL" sz="1800" b="1" dirty="0"/>
          </a:p>
        </p:txBody>
      </p:sp>
    </p:spTree>
    <p:extLst>
      <p:ext uri="{BB962C8B-B14F-4D97-AF65-F5344CB8AC3E}">
        <p14:creationId xmlns:p14="http://schemas.microsoft.com/office/powerpoint/2010/main" val="163160198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D638A7-A6E2-C7F8-07DA-975AF9775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Bibliotecas de </a:t>
            </a:r>
            <a:r>
              <a:rPr lang="es-ES" dirty="0" err="1"/>
              <a:t>python</a:t>
            </a:r>
            <a:endParaRPr lang="es-CL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25A4A6F-8706-24FE-2C2E-3BF37F3238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1375" y="1023878"/>
            <a:ext cx="6686436" cy="3537900"/>
          </a:xfrm>
        </p:spPr>
        <p:txBody>
          <a:bodyPr/>
          <a:lstStyle/>
          <a:p>
            <a:pPr marL="63500" indent="0">
              <a:buNone/>
            </a:pPr>
            <a:r>
              <a:rPr lang="es-CL" sz="1800" dirty="0"/>
              <a:t>📊 Bibliotecas Fundamentales:</a:t>
            </a:r>
          </a:p>
          <a:p>
            <a:r>
              <a:rPr lang="es-CL" sz="1800" b="1" dirty="0" err="1"/>
              <a:t>NumPy</a:t>
            </a:r>
            <a:r>
              <a:rPr lang="es-CL" sz="1800" dirty="0"/>
              <a:t>: Operaciones numéricas</a:t>
            </a:r>
          </a:p>
          <a:p>
            <a:r>
              <a:rPr lang="es-CL" sz="1800" b="1" dirty="0"/>
              <a:t>Pandas</a:t>
            </a:r>
            <a:r>
              <a:rPr lang="es-CL" sz="1800" dirty="0"/>
              <a:t>: Manipulación de datos</a:t>
            </a:r>
          </a:p>
          <a:p>
            <a:r>
              <a:rPr lang="es-CL" sz="1800" b="1" dirty="0" err="1"/>
              <a:t>Matplotlib</a:t>
            </a:r>
            <a:r>
              <a:rPr lang="es-CL" sz="1800" b="1" dirty="0"/>
              <a:t>/</a:t>
            </a:r>
            <a:r>
              <a:rPr lang="es-CL" sz="1800" b="1" dirty="0" err="1"/>
              <a:t>Seaborn</a:t>
            </a:r>
            <a:r>
              <a:rPr lang="es-CL" sz="1800" dirty="0"/>
              <a:t>: Visualización</a:t>
            </a:r>
          </a:p>
          <a:p>
            <a:pPr marL="63500" indent="0">
              <a:buNone/>
            </a:pPr>
            <a:r>
              <a:rPr lang="es-CL" sz="1800" dirty="0"/>
              <a:t>🤖 Bibliotecas de ML:</a:t>
            </a:r>
          </a:p>
          <a:p>
            <a:r>
              <a:rPr lang="es-CL" sz="1800" b="1" dirty="0" err="1"/>
              <a:t>Scikit-learn</a:t>
            </a:r>
            <a:r>
              <a:rPr lang="es-CL" sz="1800" dirty="0"/>
              <a:t>: ML clásico (con RDKit para química)</a:t>
            </a:r>
          </a:p>
          <a:p>
            <a:r>
              <a:rPr lang="es-CL" sz="1800" b="1" dirty="0" err="1"/>
              <a:t>TensorFlow</a:t>
            </a:r>
            <a:r>
              <a:rPr lang="es-CL" sz="1800" dirty="0"/>
              <a:t>: Deep </a:t>
            </a:r>
            <a:r>
              <a:rPr lang="es-CL" sz="1800" dirty="0" err="1"/>
              <a:t>Learning</a:t>
            </a:r>
            <a:r>
              <a:rPr lang="es-CL" sz="1800" dirty="0"/>
              <a:t> (Google)</a:t>
            </a:r>
          </a:p>
          <a:p>
            <a:r>
              <a:rPr lang="es-CL" sz="1800" b="1" dirty="0" err="1"/>
              <a:t>PyTorch</a:t>
            </a:r>
            <a:r>
              <a:rPr lang="es-CL" sz="1800" dirty="0"/>
              <a:t>: Deep </a:t>
            </a:r>
            <a:r>
              <a:rPr lang="es-CL" sz="1800" dirty="0" err="1"/>
              <a:t>Learning</a:t>
            </a:r>
            <a:r>
              <a:rPr lang="es-CL" sz="1800" dirty="0"/>
              <a:t> (Facebook)</a:t>
            </a:r>
          </a:p>
          <a:p>
            <a:r>
              <a:rPr lang="es-CL" sz="1800" b="1" dirty="0" err="1"/>
              <a:t>Keras</a:t>
            </a:r>
            <a:r>
              <a:rPr lang="es-CL" sz="1800" dirty="0"/>
              <a:t>: Alto nivel sobre </a:t>
            </a:r>
            <a:r>
              <a:rPr lang="es-CL" sz="1800" dirty="0" err="1"/>
              <a:t>TensorFlow</a:t>
            </a:r>
            <a:endParaRPr lang="es-CL" sz="1800" dirty="0"/>
          </a:p>
          <a:p>
            <a:endParaRPr lang="es-CL" sz="1800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CD446A3-4630-DB48-2D58-8166E8AFF76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63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0948898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7753C-EEFD-FB29-A883-DA0255070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EF4FDC-7CB1-68C2-A456-28745AE5A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Scikit-learn</a:t>
            </a:r>
            <a:endParaRPr lang="es-CL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F54DA34-0EBE-D76C-C9B1-19B8D14103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1375" y="921138"/>
            <a:ext cx="6686436" cy="3537900"/>
          </a:xfrm>
        </p:spPr>
        <p:txBody>
          <a:bodyPr/>
          <a:lstStyle/>
          <a:p>
            <a:pPr marL="63500" indent="0">
              <a:buNone/>
            </a:pPr>
            <a:r>
              <a:rPr lang="es-ES" sz="1800" dirty="0"/>
              <a:t>La Biblioteca Principal de ML</a:t>
            </a:r>
            <a:r>
              <a:rPr lang="es-CL" sz="1800" dirty="0"/>
              <a:t>: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F1DC149-E794-FC8F-BF1E-620B5D3D18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64</a:t>
            </a:fld>
            <a:endParaRPr lang="es-CL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70581614-53D8-4AE6-772E-9E31FBBA8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493" y="1487790"/>
            <a:ext cx="5468113" cy="2943636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8F741D55-C2B7-B555-E124-CAC064342E65}"/>
              </a:ext>
            </a:extLst>
          </p:cNvPr>
          <p:cNvSpPr txBox="1"/>
          <p:nvPr/>
        </p:nvSpPr>
        <p:spPr>
          <a:xfrm>
            <a:off x="6626830" y="2135792"/>
            <a:ext cx="252744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CL" dirty="0"/>
              <a:t>Características: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L" dirty="0"/>
              <a:t>API consistente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L" dirty="0"/>
              <a:t>Amplia gama de algoritmos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L" dirty="0"/>
              <a:t>Excelente documentación</a:t>
            </a:r>
          </a:p>
        </p:txBody>
      </p:sp>
    </p:spTree>
    <p:extLst>
      <p:ext uri="{BB962C8B-B14F-4D97-AF65-F5344CB8AC3E}">
        <p14:creationId xmlns:p14="http://schemas.microsoft.com/office/powerpoint/2010/main" val="253507891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B418B-E411-891E-3F55-84DB47936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B2460E-5E0C-A31D-3E73-018ACA458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Redes Neuronales de Grafos (GNN)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70762F8-969F-EB82-7A67-615933EC2B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1374" y="1839080"/>
            <a:ext cx="7574412" cy="2537765"/>
          </a:xfrm>
        </p:spPr>
        <p:txBody>
          <a:bodyPr/>
          <a:lstStyle/>
          <a:p>
            <a:pPr marL="63500" indent="0" algn="just">
              <a:buNone/>
            </a:pPr>
            <a:r>
              <a:rPr lang="es-ES" sz="1800" b="1" dirty="0"/>
              <a:t>Objetivo:</a:t>
            </a:r>
            <a:r>
              <a:rPr lang="es-ES" sz="1800" dirty="0"/>
              <a:t> Aprender representaciones moleculares directamente del grafo átomo-enlace, sin fingerprints fijos</a:t>
            </a:r>
          </a:p>
          <a:p>
            <a:pPr marL="63500" indent="0" algn="just">
              <a:buNone/>
            </a:pPr>
            <a:r>
              <a:rPr lang="es-ES" sz="1800" b="1" dirty="0"/>
              <a:t>Proceso:</a:t>
            </a:r>
            <a:r>
              <a:rPr lang="es-ES" sz="1800" dirty="0"/>
              <a:t> Message passing: cada átomo actualiza su estado con la información de sus vecinos</a:t>
            </a:r>
          </a:p>
          <a:p>
            <a:pPr marL="63500" indent="0" algn="just">
              <a:buNone/>
            </a:pPr>
            <a:r>
              <a:rPr lang="es-ES" sz="1800" dirty="0"/>
              <a:t>Componentes:</a:t>
            </a:r>
          </a:p>
          <a:p>
            <a:pPr algn="just"/>
            <a:r>
              <a:rPr lang="es-ES" sz="1800" dirty="0"/>
              <a:t>Nodos: átomos, con propiedades como tipo, carga e hibridación</a:t>
            </a:r>
          </a:p>
          <a:p>
            <a:pPr algn="just"/>
            <a:r>
              <a:rPr lang="es-ES" sz="1800" dirty="0"/>
              <a:t>Aristas: enlaces químicos, con su orden y tipo</a:t>
            </a:r>
          </a:p>
          <a:p>
            <a:pPr algn="just"/>
            <a:r>
              <a:rPr lang="es-ES" sz="1800" dirty="0"/>
              <a:t>Arquitecturas comunes: GCN, MPNN, GAT</a:t>
            </a:r>
          </a:p>
          <a:p>
            <a:pPr algn="just"/>
            <a:r>
              <a:rPr lang="es-ES" sz="1800" dirty="0"/>
              <a:t>Aplicaciones: predicción de propiedades ADMET, energías de reacción, diseño de fármacos</a:t>
            </a:r>
          </a:p>
          <a:p>
            <a:pPr algn="just"/>
            <a:endParaRPr lang="es-ES" sz="1800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8014198-95FF-E50D-604F-0240EA855B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65</a:t>
            </a:fld>
            <a:endParaRPr lang="es-CL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C28EA9D3-F8B5-301B-7D69-D780A2A8E057}"/>
              </a:ext>
            </a:extLst>
          </p:cNvPr>
          <p:cNvSpPr/>
          <p:nvPr/>
        </p:nvSpPr>
        <p:spPr>
          <a:xfrm>
            <a:off x="594900" y="1089062"/>
            <a:ext cx="8080886" cy="7317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/>
              <a:t>Una alternativa moderna a los fingerprints: la molécula como grafo</a:t>
            </a:r>
            <a:endParaRPr lang="es-CL" sz="1800" b="1" dirty="0"/>
          </a:p>
        </p:txBody>
      </p:sp>
    </p:spTree>
    <p:extLst>
      <p:ext uri="{BB962C8B-B14F-4D97-AF65-F5344CB8AC3E}">
        <p14:creationId xmlns:p14="http://schemas.microsoft.com/office/powerpoint/2010/main" val="163160198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3D49B-50FE-A7E4-442E-4FD2E6EE0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5C2987-BB20-AF8B-BC96-D361B853A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Problemas Importantes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7F8C959-AC6C-B8D0-9804-F2DB79385E9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66</a:t>
            </a:fld>
            <a:endParaRPr lang="es-CL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BAFFB1B4-3066-F7A9-C838-89FDD497F1C2}"/>
              </a:ext>
            </a:extLst>
          </p:cNvPr>
          <p:cNvSpPr/>
          <p:nvPr/>
        </p:nvSpPr>
        <p:spPr>
          <a:xfrm>
            <a:off x="1101384" y="1089061"/>
            <a:ext cx="7574401" cy="99017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800" b="1" dirty="0">
                <a:solidFill>
                  <a:srgbClr val="FF0000"/>
                </a:solidFill>
              </a:rPr>
              <a:t>Sobreajuste (</a:t>
            </a:r>
            <a:r>
              <a:rPr lang="es-ES" sz="1800" b="1" dirty="0" err="1">
                <a:solidFill>
                  <a:srgbClr val="FF0000"/>
                </a:solidFill>
              </a:rPr>
              <a:t>Overfitting</a:t>
            </a:r>
            <a:r>
              <a:rPr lang="es-ES" sz="1800" b="1" dirty="0">
                <a:solidFill>
                  <a:srgbClr val="FF0000"/>
                </a:solidFill>
              </a:rPr>
              <a:t>)</a:t>
            </a:r>
          </a:p>
          <a:p>
            <a:r>
              <a:rPr lang="es-ES" sz="1600" dirty="0">
                <a:solidFill>
                  <a:srgbClr val="FF0000"/>
                </a:solidFill>
              </a:rPr>
              <a:t>Modelo memoriza en lugar de generalizar</a:t>
            </a:r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2FE6BC9C-F94F-BB11-6E8E-8164F63EC33D}"/>
              </a:ext>
            </a:extLst>
          </p:cNvPr>
          <p:cNvSpPr/>
          <p:nvPr/>
        </p:nvSpPr>
        <p:spPr>
          <a:xfrm>
            <a:off x="1101381" y="2258385"/>
            <a:ext cx="7574401" cy="99017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800" b="1" dirty="0">
                <a:solidFill>
                  <a:srgbClr val="FF0000"/>
                </a:solidFill>
              </a:rPr>
              <a:t>Modelos Caja Negra</a:t>
            </a:r>
          </a:p>
          <a:p>
            <a:r>
              <a:rPr lang="es-ES" sz="1600" dirty="0">
                <a:solidFill>
                  <a:srgbClr val="FF0000"/>
                </a:solidFill>
              </a:rPr>
              <a:t>Falta de interpretabilidad</a:t>
            </a:r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0FF19004-E005-1E9D-0656-92E24ED44B1E}"/>
              </a:ext>
            </a:extLst>
          </p:cNvPr>
          <p:cNvSpPr/>
          <p:nvPr/>
        </p:nvSpPr>
        <p:spPr>
          <a:xfrm>
            <a:off x="1101381" y="3437987"/>
            <a:ext cx="7574401" cy="99017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800" b="1" dirty="0">
                <a:solidFill>
                  <a:srgbClr val="FF0000"/>
                </a:solidFill>
              </a:rPr>
              <a:t>Desbalance de Datos</a:t>
            </a:r>
          </a:p>
          <a:p>
            <a:r>
              <a:rPr lang="es-ES" sz="1600" dirty="0">
                <a:solidFill>
                  <a:srgbClr val="FF0000"/>
                </a:solidFill>
              </a:rPr>
              <a:t>Distribuciones desiguales de clases</a:t>
            </a:r>
            <a:endParaRPr lang="es-CL" dirty="0">
              <a:solidFill>
                <a:srgbClr val="FF0000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D2A8083-54FC-3667-0FC6-3E249DA94AF8}"/>
              </a:ext>
            </a:extLst>
          </p:cNvPr>
          <p:cNvSpPr txBox="1"/>
          <p:nvPr/>
        </p:nvSpPr>
        <p:spPr>
          <a:xfrm>
            <a:off x="1101380" y="4388526"/>
            <a:ext cx="75744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i="1" dirty="0">
                <a:solidFill>
                  <a:schemeClr val="tx1"/>
                </a:solidFill>
                <a:effectLst/>
                <a:latin typeface="FKGroteskNeue"/>
              </a:rPr>
              <a:t>Estos problemas pueden comprometer seriamente el rendimiento y confiabilidad de los modelos de ML</a:t>
            </a:r>
            <a:endParaRPr lang="es-CL" sz="1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292358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D8FEA-61A3-2122-0DDA-3B9421A05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F24526-55E7-93EC-0AE5-85D29F9BD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Sobreajuste (</a:t>
            </a:r>
            <a:r>
              <a:rPr lang="es-CL" dirty="0" err="1"/>
              <a:t>Overfitting</a:t>
            </a:r>
            <a:r>
              <a:rPr lang="es-CL" dirty="0"/>
              <a:t>)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1CB9A9B-D27E-C1E9-E949-9E341D202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1374" y="1839080"/>
            <a:ext cx="7574412" cy="2537765"/>
          </a:xfrm>
        </p:spPr>
        <p:txBody>
          <a:bodyPr/>
          <a:lstStyle/>
          <a:p>
            <a:pPr marL="63500" indent="0" algn="just">
              <a:buNone/>
            </a:pPr>
            <a:r>
              <a:rPr lang="es-ES" sz="1800" b="1" dirty="0"/>
              <a:t>Síntoma:</a:t>
            </a:r>
            <a:r>
              <a:rPr lang="es-ES" sz="1800" dirty="0"/>
              <a:t> Excelente rendimiento en entrenamiento, pobre en datos nuevos</a:t>
            </a:r>
          </a:p>
          <a:p>
            <a:pPr marL="63500" indent="0" algn="just">
              <a:buNone/>
            </a:pPr>
            <a:r>
              <a:rPr lang="es-ES" sz="1800" b="1" dirty="0"/>
              <a:t>Analogía:</a:t>
            </a:r>
            <a:r>
              <a:rPr lang="es-ES" sz="1800" dirty="0"/>
              <a:t> Un modelo QSAR que memoriza las moléculas de entrenamiento en vez de aprender relaciones estructura-actividad</a:t>
            </a:r>
          </a:p>
          <a:p>
            <a:pPr marL="63500" indent="0" algn="just">
              <a:buNone/>
            </a:pPr>
            <a:r>
              <a:rPr lang="es-ES" sz="1800" dirty="0"/>
              <a:t>Causas:</a:t>
            </a:r>
          </a:p>
          <a:p>
            <a:pPr algn="just"/>
            <a:r>
              <a:rPr lang="es-ES" sz="1800" dirty="0"/>
              <a:t>Modelo demasiado complejo</a:t>
            </a:r>
          </a:p>
          <a:p>
            <a:pPr algn="just"/>
            <a:r>
              <a:rPr lang="es-ES" sz="1800" dirty="0"/>
              <a:t>Pocos datos de entrenamiento</a:t>
            </a:r>
          </a:p>
          <a:p>
            <a:pPr algn="just"/>
            <a:r>
              <a:rPr lang="es-ES" sz="1800" dirty="0"/>
              <a:t>Entrenamiento excesivo</a:t>
            </a:r>
          </a:p>
          <a:p>
            <a:pPr algn="just"/>
            <a:r>
              <a:rPr lang="es-ES" sz="1800" dirty="0"/>
              <a:t>Ruido en los datos</a:t>
            </a:r>
          </a:p>
          <a:p>
            <a:pPr algn="just"/>
            <a:endParaRPr lang="es-ES" sz="1800" dirty="0"/>
          </a:p>
          <a:p>
            <a:pPr algn="just"/>
            <a:endParaRPr lang="es-ES" sz="1800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675FDBF-ED66-2C8D-44DE-FCF5FA147DD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67</a:t>
            </a:fld>
            <a:endParaRPr lang="es-CL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FE4CE81F-C4C3-DFD7-4550-14FC23740AEA}"/>
              </a:ext>
            </a:extLst>
          </p:cNvPr>
          <p:cNvSpPr/>
          <p:nvPr/>
        </p:nvSpPr>
        <p:spPr>
          <a:xfrm>
            <a:off x="594900" y="1089062"/>
            <a:ext cx="8080886" cy="7317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/>
              <a:t>El modelo memoriza los datos de entrenamiento en lugar de aprender patrones generales</a:t>
            </a:r>
            <a:endParaRPr lang="es-CL" sz="1800" b="1" dirty="0"/>
          </a:p>
        </p:txBody>
      </p:sp>
    </p:spTree>
    <p:extLst>
      <p:ext uri="{BB962C8B-B14F-4D97-AF65-F5344CB8AC3E}">
        <p14:creationId xmlns:p14="http://schemas.microsoft.com/office/powerpoint/2010/main" val="10526349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8FB46-C664-801E-569B-32D77924C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7D390F-3FB4-4808-317F-6521E595D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Prevención del Sobreajuste 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60D0283-4CAD-DBCC-9D04-C0CB5A2C0B6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68</a:t>
            </a:fld>
            <a:endParaRPr lang="es-CL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5EC9F8FB-3171-0778-18B4-CA77D1480C40}"/>
              </a:ext>
            </a:extLst>
          </p:cNvPr>
          <p:cNvSpPr/>
          <p:nvPr/>
        </p:nvSpPr>
        <p:spPr>
          <a:xfrm>
            <a:off x="361648" y="1089062"/>
            <a:ext cx="4754889" cy="657545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800" b="1" dirty="0"/>
              <a:t>Validación Cruzada</a:t>
            </a:r>
            <a:endParaRPr lang="es-ES" sz="1600" b="1" dirty="0"/>
          </a:p>
          <a:p>
            <a:r>
              <a:rPr lang="es-ES" sz="1600" dirty="0"/>
              <a:t>Divide datos en múltiples </a:t>
            </a:r>
            <a:r>
              <a:rPr lang="es-ES" sz="1600" dirty="0" err="1"/>
              <a:t>folds</a:t>
            </a:r>
            <a:endParaRPr lang="es-CL" sz="1600" dirty="0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F282D4D4-065B-C651-DB65-0FAEFA977149}"/>
              </a:ext>
            </a:extLst>
          </p:cNvPr>
          <p:cNvSpPr/>
          <p:nvPr/>
        </p:nvSpPr>
        <p:spPr>
          <a:xfrm>
            <a:off x="361647" y="1852561"/>
            <a:ext cx="4754889" cy="657545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800" b="1" dirty="0"/>
              <a:t>Regularización L1/L2</a:t>
            </a:r>
          </a:p>
          <a:p>
            <a:r>
              <a:rPr lang="es-ES" sz="1600" dirty="0"/>
              <a:t>Penaliza complejidad del modelo</a:t>
            </a:r>
            <a:endParaRPr lang="es-CL" sz="1600" dirty="0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D3B37D64-C6B7-1250-F82E-2D51A41C5774}"/>
              </a:ext>
            </a:extLst>
          </p:cNvPr>
          <p:cNvSpPr/>
          <p:nvPr/>
        </p:nvSpPr>
        <p:spPr>
          <a:xfrm>
            <a:off x="361645" y="2616060"/>
            <a:ext cx="4754889" cy="657545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800" b="1" dirty="0" err="1"/>
              <a:t>Early</a:t>
            </a:r>
            <a:r>
              <a:rPr lang="es-ES" sz="1800" b="1" dirty="0"/>
              <a:t> </a:t>
            </a:r>
            <a:r>
              <a:rPr lang="es-ES" sz="1800" b="1" dirty="0" err="1"/>
              <a:t>Stopping</a:t>
            </a:r>
            <a:endParaRPr lang="es-ES" sz="1800" b="1" dirty="0"/>
          </a:p>
          <a:p>
            <a:r>
              <a:rPr lang="es-ES" sz="1600" dirty="0"/>
              <a:t>Para entrenamiento cuando no mejora</a:t>
            </a:r>
            <a:endParaRPr lang="es-CL" sz="1600" dirty="0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565A96A9-A3E4-E91C-DC4B-19934E592034}"/>
              </a:ext>
            </a:extLst>
          </p:cNvPr>
          <p:cNvSpPr/>
          <p:nvPr/>
        </p:nvSpPr>
        <p:spPr>
          <a:xfrm>
            <a:off x="361645" y="3375707"/>
            <a:ext cx="4754889" cy="657545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800" b="1" dirty="0" err="1"/>
              <a:t>Dropout</a:t>
            </a:r>
            <a:endParaRPr lang="es-ES" sz="1800" b="1" dirty="0"/>
          </a:p>
          <a:p>
            <a:r>
              <a:rPr lang="es-ES" sz="1600" dirty="0"/>
              <a:t>Desactiva neuronas aleatoriamente</a:t>
            </a:r>
            <a:endParaRPr lang="es-CL" sz="1600" dirty="0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8CC2471D-B7E9-E4C9-8FF8-CE48772A8323}"/>
              </a:ext>
            </a:extLst>
          </p:cNvPr>
          <p:cNvSpPr/>
          <p:nvPr/>
        </p:nvSpPr>
        <p:spPr>
          <a:xfrm>
            <a:off x="361645" y="4143058"/>
            <a:ext cx="4754889" cy="657545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800" b="1" dirty="0"/>
              <a:t>Más Datos</a:t>
            </a:r>
          </a:p>
          <a:p>
            <a:r>
              <a:rPr lang="es-ES" sz="1800" dirty="0"/>
              <a:t>Aumenta tamaño del </a:t>
            </a:r>
            <a:r>
              <a:rPr lang="es-ES" sz="1800" dirty="0" err="1"/>
              <a:t>dataset</a:t>
            </a:r>
            <a:endParaRPr lang="es-CL" sz="18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7495134-4F29-2ABB-158E-61D45FFCF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1075" y="2632758"/>
            <a:ext cx="3839211" cy="657544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BC093BBF-4CF6-7973-0714-CB1E37651272}"/>
              </a:ext>
            </a:extLst>
          </p:cNvPr>
          <p:cNvSpPr txBox="1"/>
          <p:nvPr/>
        </p:nvSpPr>
        <p:spPr>
          <a:xfrm>
            <a:off x="5231075" y="2263973"/>
            <a:ext cx="52603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Código de Ejemplo</a:t>
            </a:r>
            <a:endParaRPr lang="es-CL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070685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6E14E-E5E1-1AFF-A72F-5F4E11803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2B45C8-2134-2AE9-0B82-819CF5978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Modelos Caja Negra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FB0361D-6413-C6D5-DED7-61B3CE3270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1374" y="1839080"/>
            <a:ext cx="7574412" cy="2537765"/>
          </a:xfrm>
        </p:spPr>
        <p:txBody>
          <a:bodyPr/>
          <a:lstStyle/>
          <a:p>
            <a:pPr marL="63500" indent="0" algn="just">
              <a:buNone/>
            </a:pPr>
            <a:r>
              <a:rPr lang="es-ES" sz="1800" b="1" dirty="0"/>
              <a:t>Ejemplos:</a:t>
            </a:r>
            <a:r>
              <a:rPr lang="es-ES" sz="1800" dirty="0"/>
              <a:t> Redes neuronales profundas, ensemble </a:t>
            </a:r>
            <a:r>
              <a:rPr lang="es-ES" sz="1800" dirty="0" err="1"/>
              <a:t>methods</a:t>
            </a:r>
            <a:r>
              <a:rPr lang="es-ES" sz="1800" dirty="0"/>
              <a:t> complejos</a:t>
            </a:r>
          </a:p>
          <a:p>
            <a:pPr marL="63500" indent="0" algn="just">
              <a:buNone/>
            </a:pPr>
            <a:r>
              <a:rPr lang="es-ES" sz="1800" dirty="0"/>
              <a:t>¿Por qué importa?</a:t>
            </a:r>
          </a:p>
          <a:p>
            <a:pPr algn="just"/>
            <a:r>
              <a:rPr lang="es-ES" sz="1800" dirty="0"/>
              <a:t>Sectores críticos: Medicina, descubrimiento de fármacos, finanzas, justicia</a:t>
            </a:r>
          </a:p>
          <a:p>
            <a:pPr algn="just"/>
            <a:r>
              <a:rPr lang="es-ES" sz="1800" dirty="0"/>
              <a:t>Regulaciones: GDPR requiere </a:t>
            </a:r>
            <a:r>
              <a:rPr lang="es-ES" sz="1800" dirty="0" err="1"/>
              <a:t>explicabilidad</a:t>
            </a:r>
            <a:endParaRPr lang="es-ES" sz="1800" dirty="0"/>
          </a:p>
          <a:p>
            <a:pPr algn="just"/>
            <a:r>
              <a:rPr lang="es-ES" sz="1800" dirty="0"/>
              <a:t>Confianza: Usuarios necesitan entender las decisiones</a:t>
            </a:r>
          </a:p>
          <a:p>
            <a:pPr algn="just"/>
            <a:r>
              <a:rPr lang="es-ES" sz="1800" dirty="0" err="1"/>
              <a:t>Debugging</a:t>
            </a:r>
            <a:r>
              <a:rPr lang="es-ES" sz="1800" dirty="0"/>
              <a:t>: Difícil mejorar modelos sin entender errores</a:t>
            </a:r>
          </a:p>
          <a:p>
            <a:pPr marL="63500" indent="0" algn="just">
              <a:buNone/>
            </a:pPr>
            <a:endParaRPr lang="es-ES" sz="1800" dirty="0"/>
          </a:p>
          <a:p>
            <a:pPr algn="just"/>
            <a:endParaRPr lang="es-ES" sz="1800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9C39427-7824-17F2-BE4D-CA94DC3286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69</a:t>
            </a:fld>
            <a:endParaRPr lang="es-CL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6BC1D72E-3073-5406-0DFB-0C077B3506D8}"/>
              </a:ext>
            </a:extLst>
          </p:cNvPr>
          <p:cNvSpPr/>
          <p:nvPr/>
        </p:nvSpPr>
        <p:spPr>
          <a:xfrm>
            <a:off x="594900" y="1089062"/>
            <a:ext cx="8080886" cy="7317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/>
              <a:t>Modelos donde no podemos entender cómo toman decisiones</a:t>
            </a:r>
            <a:endParaRPr lang="es-CL" sz="1800" b="1" dirty="0"/>
          </a:p>
        </p:txBody>
      </p:sp>
    </p:spTree>
    <p:extLst>
      <p:ext uri="{BB962C8B-B14F-4D97-AF65-F5344CB8AC3E}">
        <p14:creationId xmlns:p14="http://schemas.microsoft.com/office/powerpoint/2010/main" val="11957336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517578-FB34-0B7A-C90A-B53E4892F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Modelos Caja Negra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5DE8BE2-DEF1-BA70-49D4-086804A8DA0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70</a:t>
            </a:fld>
            <a:endParaRPr lang="es-CL"/>
          </a:p>
        </p:txBody>
      </p:sp>
      <p:pic>
        <p:nvPicPr>
          <p:cNvPr id="2050" name="Picture 2" descr="White-box vs black-box machine learning models">
            <a:extLst>
              <a:ext uri="{FF2B5EF4-FFF2-40B4-BE49-F238E27FC236}">
                <a16:creationId xmlns:a16="http://schemas.microsoft.com/office/drawing/2014/main" id="{6EEC2588-CD21-FB66-5A75-701F854CAE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35" b="3828"/>
          <a:stretch>
            <a:fillRect/>
          </a:stretch>
        </p:blipFill>
        <p:spPr bwMode="auto">
          <a:xfrm>
            <a:off x="1551135" y="1021950"/>
            <a:ext cx="6657165" cy="3837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852205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A11BC-498B-F347-D66B-62509ADD9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A83843-BF7B-0D78-5C17-54A1B1DEC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 err="1"/>
              <a:t>Explicabilidad</a:t>
            </a:r>
            <a:r>
              <a:rPr lang="es-CL" dirty="0"/>
              <a:t> de IA (XAI)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70F6838-A551-54D0-0CC0-C7742FEDE12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71</a:t>
            </a:fld>
            <a:endParaRPr lang="es-CL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E72F0D9B-E006-ADDD-531C-80A14B78BDA0}"/>
              </a:ext>
            </a:extLst>
          </p:cNvPr>
          <p:cNvSpPr/>
          <p:nvPr/>
        </p:nvSpPr>
        <p:spPr>
          <a:xfrm>
            <a:off x="1173306" y="1078790"/>
            <a:ext cx="3575075" cy="1121591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900"/>
              </a:spcAft>
              <a:buNone/>
            </a:pPr>
            <a:r>
              <a:rPr lang="es-ES" sz="1800" b="1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LIME</a:t>
            </a:r>
          </a:p>
          <a:p>
            <a:pPr algn="ctr">
              <a:spcAft>
                <a:spcPts val="900"/>
              </a:spcAft>
              <a:buNone/>
            </a:pPr>
            <a:r>
              <a:rPr lang="es-ES" sz="1800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Explica predicciones individuales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CAE6177E-930B-FB68-D76D-11E4E3F0673C}"/>
              </a:ext>
            </a:extLst>
          </p:cNvPr>
          <p:cNvSpPr/>
          <p:nvPr/>
        </p:nvSpPr>
        <p:spPr>
          <a:xfrm>
            <a:off x="5116860" y="1078790"/>
            <a:ext cx="3575075" cy="1121591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900"/>
              </a:spcAft>
              <a:buNone/>
            </a:pPr>
            <a:r>
              <a:rPr lang="pt-BR" sz="1800" b="1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SHAP</a:t>
            </a:r>
          </a:p>
          <a:p>
            <a:pPr algn="ctr">
              <a:spcAft>
                <a:spcPts val="900"/>
              </a:spcAft>
              <a:buNone/>
            </a:pPr>
            <a:r>
              <a:rPr lang="pt-BR" sz="1800" i="0" dirty="0" err="1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Asigna</a:t>
            </a:r>
            <a:r>
              <a:rPr lang="pt-BR" sz="1800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pt-BR" sz="1800" i="0" dirty="0" err="1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importancia</a:t>
            </a:r>
            <a:r>
              <a:rPr lang="pt-BR" sz="1800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 cada característica</a:t>
            </a:r>
            <a:endParaRPr lang="es-ES" sz="1800" i="0" dirty="0"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0422DEAA-A225-31F1-97CA-835876661E3F}"/>
              </a:ext>
            </a:extLst>
          </p:cNvPr>
          <p:cNvSpPr/>
          <p:nvPr/>
        </p:nvSpPr>
        <p:spPr>
          <a:xfrm>
            <a:off x="1173306" y="2309980"/>
            <a:ext cx="3575075" cy="1121591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900"/>
              </a:spcAft>
              <a:buNone/>
            </a:pPr>
            <a:r>
              <a:rPr lang="es-ES" sz="1800" b="1" i="0" dirty="0" err="1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Feature</a:t>
            </a:r>
            <a:r>
              <a:rPr lang="es-ES" sz="1800" b="1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" sz="1800" b="1" i="0" dirty="0" err="1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Importance</a:t>
            </a:r>
            <a:endParaRPr lang="es-ES" sz="1800" b="1" i="0" dirty="0"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ctr">
              <a:spcAft>
                <a:spcPts val="900"/>
              </a:spcAft>
              <a:buNone/>
            </a:pPr>
            <a:r>
              <a:rPr lang="es-ES" sz="1800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Ranking de variables más importantes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FC468BA6-240A-9AA1-67FA-CEAFFF64E0BD}"/>
              </a:ext>
            </a:extLst>
          </p:cNvPr>
          <p:cNvSpPr/>
          <p:nvPr/>
        </p:nvSpPr>
        <p:spPr>
          <a:xfrm>
            <a:off x="5116860" y="2309980"/>
            <a:ext cx="3575075" cy="1121591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900"/>
              </a:spcAft>
              <a:buNone/>
            </a:pPr>
            <a:r>
              <a:rPr lang="es-ES" sz="1800" b="1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Modelos Interpretables</a:t>
            </a:r>
          </a:p>
          <a:p>
            <a:pPr algn="ctr">
              <a:spcAft>
                <a:spcPts val="900"/>
              </a:spcAft>
              <a:buNone/>
            </a:pPr>
            <a:r>
              <a:rPr lang="es-ES" sz="1800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Árboles de decisión, regresión lineal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A830161-EF5D-A028-7B80-35C01650B9F6}"/>
              </a:ext>
            </a:extLst>
          </p:cNvPr>
          <p:cNvSpPr txBox="1"/>
          <p:nvPr/>
        </p:nvSpPr>
        <p:spPr>
          <a:xfrm>
            <a:off x="1173306" y="4010596"/>
            <a:ext cx="52603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Código de Ejemplo</a:t>
            </a:r>
            <a:endParaRPr lang="es-CL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9049E92F-62E1-2C9D-EDA9-60EB652CF1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047" y="3658573"/>
            <a:ext cx="3466251" cy="1011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82911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94A8D-D05C-2CB0-7FB4-B4D57515B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CC228-168A-F473-2909-F1122A666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Desbalance de Datos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4DF2746-9D6F-1665-A543-71F7B2440B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1374" y="1839080"/>
            <a:ext cx="7574412" cy="2537765"/>
          </a:xfrm>
        </p:spPr>
        <p:txBody>
          <a:bodyPr/>
          <a:lstStyle/>
          <a:p>
            <a:pPr marL="63500" indent="0">
              <a:buNone/>
            </a:pPr>
            <a:r>
              <a:rPr lang="es-ES" sz="1800" b="1" dirty="0"/>
              <a:t>Ejemplo:</a:t>
            </a:r>
            <a:r>
              <a:rPr lang="es-ES" sz="1800" dirty="0"/>
              <a:t> 95% emails normales, 5% spam (o 99% inactivos y 1% activos en cribado virtual)</a:t>
            </a:r>
          </a:p>
          <a:p>
            <a:pPr marL="63500" indent="0">
              <a:buNone/>
            </a:pPr>
            <a:r>
              <a:rPr lang="es-ES" sz="1800" b="1" dirty="0"/>
              <a:t>Problema:</a:t>
            </a:r>
            <a:r>
              <a:rPr lang="es-ES" sz="1800" dirty="0"/>
              <a:t> Modelo se sesga hacia la clase mayoritaria</a:t>
            </a:r>
          </a:p>
          <a:p>
            <a:pPr marL="63500" indent="0">
              <a:buNone/>
            </a:pPr>
            <a:r>
              <a:rPr lang="es-ES" sz="1800" dirty="0"/>
              <a:t>Consecuencias:</a:t>
            </a:r>
          </a:p>
          <a:p>
            <a:r>
              <a:rPr lang="es-ES" sz="1800" dirty="0"/>
              <a:t>Alta precisión global pero pobre en clase minoritaria</a:t>
            </a:r>
          </a:p>
          <a:p>
            <a:r>
              <a:rPr lang="es-ES" sz="1800" dirty="0"/>
              <a:t>Métricas engañosas</a:t>
            </a:r>
          </a:p>
          <a:p>
            <a:r>
              <a:rPr lang="es-ES" sz="1800" dirty="0"/>
              <a:t>Decisiones incorrectas en casos importantes</a:t>
            </a:r>
          </a:p>
          <a:p>
            <a:pPr algn="just"/>
            <a:endParaRPr lang="es-ES" sz="1800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BC57C0A-E866-1259-5BD5-F35F668B86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72</a:t>
            </a:fld>
            <a:endParaRPr lang="es-CL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359BD513-8B2B-0DFE-53FF-A5999D6CE75F}"/>
              </a:ext>
            </a:extLst>
          </p:cNvPr>
          <p:cNvSpPr/>
          <p:nvPr/>
        </p:nvSpPr>
        <p:spPr>
          <a:xfrm>
            <a:off x="594900" y="1089062"/>
            <a:ext cx="8080886" cy="7317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/>
              <a:t>Cuando las clases tienen distribuciones muy diferentes</a:t>
            </a:r>
            <a:endParaRPr lang="es-CL" sz="1800" b="1" dirty="0"/>
          </a:p>
        </p:txBody>
      </p:sp>
    </p:spTree>
    <p:extLst>
      <p:ext uri="{BB962C8B-B14F-4D97-AF65-F5344CB8AC3E}">
        <p14:creationId xmlns:p14="http://schemas.microsoft.com/office/powerpoint/2010/main" val="179933530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4E3B4-9F67-C8FA-D07C-176EB9FFB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40171D-B392-D40D-F0B4-B014CAD84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Importancia del Balanceo 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32EB822-ADF4-C27E-125B-7F5D0D2C72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73</a:t>
            </a:fld>
            <a:endParaRPr lang="es-CL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8FB50228-392D-43B2-B2EC-66C65067B899}"/>
              </a:ext>
            </a:extLst>
          </p:cNvPr>
          <p:cNvSpPr/>
          <p:nvPr/>
        </p:nvSpPr>
        <p:spPr>
          <a:xfrm>
            <a:off x="361648" y="1450572"/>
            <a:ext cx="4754889" cy="657545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Medicina</a:t>
            </a:r>
          </a:p>
          <a:p>
            <a:r>
              <a:rPr lang="es-CL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Detectar enfermedades raras (1% pacientes)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DC95690F-AAE4-351F-F541-A6F0EA6A985C}"/>
              </a:ext>
            </a:extLst>
          </p:cNvPr>
          <p:cNvSpPr/>
          <p:nvPr/>
        </p:nvSpPr>
        <p:spPr>
          <a:xfrm>
            <a:off x="361647" y="2214071"/>
            <a:ext cx="4754889" cy="657545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Finanzas</a:t>
            </a:r>
          </a:p>
          <a:p>
            <a:r>
              <a:rPr lang="es-E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Identificar fraudes (0.1% transacciones)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F34C45CA-924D-0A03-2004-5E66A8EC3E8F}"/>
              </a:ext>
            </a:extLst>
          </p:cNvPr>
          <p:cNvSpPr/>
          <p:nvPr/>
        </p:nvSpPr>
        <p:spPr>
          <a:xfrm>
            <a:off x="361645" y="2977570"/>
            <a:ext cx="4754889" cy="657545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Seguridad</a:t>
            </a:r>
          </a:p>
          <a:p>
            <a:r>
              <a:rPr lang="es-CL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Detectar intrusiones cibernéticas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ECDAA8B2-DEB9-6AD7-DCB4-8420E2A70C48}"/>
              </a:ext>
            </a:extLst>
          </p:cNvPr>
          <p:cNvSpPr/>
          <p:nvPr/>
        </p:nvSpPr>
        <p:spPr>
          <a:xfrm>
            <a:off x="361645" y="3737217"/>
            <a:ext cx="4754889" cy="657545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sz="1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Calidad</a:t>
            </a:r>
          </a:p>
          <a:p>
            <a:r>
              <a:rPr lang="es-CL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Encontrar productos defectuosos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98B483E-756D-30FC-845D-7A05384C9F7A}"/>
              </a:ext>
            </a:extLst>
          </p:cNvPr>
          <p:cNvSpPr txBox="1"/>
          <p:nvPr/>
        </p:nvSpPr>
        <p:spPr>
          <a:xfrm>
            <a:off x="244285" y="1048158"/>
            <a:ext cx="56990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spcAft>
                <a:spcPts val="900"/>
              </a:spcAft>
              <a:buNone/>
            </a:pPr>
            <a:r>
              <a:rPr lang="es-CL" sz="16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🏥 Sectores Críticos: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253ABAF-4B09-C55C-98A2-E6A5974C5E8B}"/>
              </a:ext>
            </a:extLst>
          </p:cNvPr>
          <p:cNvSpPr txBox="1"/>
          <p:nvPr/>
        </p:nvSpPr>
        <p:spPr>
          <a:xfrm>
            <a:off x="5260368" y="1048158"/>
            <a:ext cx="25274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spcAft>
                <a:spcPts val="900"/>
              </a:spcAft>
              <a:buNone/>
            </a:pPr>
            <a:r>
              <a:rPr lang="es-CL" sz="1600" b="0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📊 Ejemplos Reales: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4D2707DF-A509-ED8F-B911-34DD7E94CC5F}"/>
              </a:ext>
            </a:extLst>
          </p:cNvPr>
          <p:cNvSpPr txBox="1"/>
          <p:nvPr/>
        </p:nvSpPr>
        <p:spPr>
          <a:xfrm>
            <a:off x="5332287" y="1431059"/>
            <a:ext cx="352463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L" sz="1800" dirty="0"/>
              <a:t>Cáncer: 99% benignos, 1% malignos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L" sz="1800" dirty="0"/>
              <a:t>Fraude crediticio: 99.9% legítimas, 0.1% fraudulentas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L" sz="1800" dirty="0"/>
              <a:t>Cribado virtual: 99% inactivos, 1% activos</a:t>
            </a:r>
          </a:p>
        </p:txBody>
      </p:sp>
    </p:spTree>
    <p:extLst>
      <p:ext uri="{BB962C8B-B14F-4D97-AF65-F5344CB8AC3E}">
        <p14:creationId xmlns:p14="http://schemas.microsoft.com/office/powerpoint/2010/main" val="428372139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FF9475-652D-FCCC-0403-BA26A18DB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Técnicas de Balanceo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15CC58-FECE-7079-5583-6148658F211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74</a:t>
            </a:fld>
            <a:endParaRPr lang="es-CL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646B58B-7147-9360-A9EF-405E02505017}"/>
              </a:ext>
            </a:extLst>
          </p:cNvPr>
          <p:cNvSpPr txBox="1"/>
          <p:nvPr/>
        </p:nvSpPr>
        <p:spPr>
          <a:xfrm>
            <a:off x="895904" y="2571750"/>
            <a:ext cx="52603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i="0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Código de Ejemplo</a:t>
            </a:r>
            <a:endParaRPr lang="es-CL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0044E57-131A-4E49-F3BF-056616D3D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2690" y="2196070"/>
            <a:ext cx="4952635" cy="1010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97494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09F9D-792F-B1F9-5AB6-18F2B71AB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2A5BB2-A7D3-87C5-474D-6DE70A3F6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</a:t>
            </a:r>
            <a:r>
              <a:rPr lang="es-CL" dirty="0" err="1"/>
              <a:t>mportante</a:t>
            </a:r>
            <a:endParaRPr lang="es-CL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5191822-37BE-624C-6105-61615651AD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1374" y="1027422"/>
            <a:ext cx="8042626" cy="2537765"/>
          </a:xfrm>
        </p:spPr>
        <p:txBody>
          <a:bodyPr/>
          <a:lstStyle/>
          <a:p>
            <a:pPr marL="63500" indent="0" algn="just">
              <a:buNone/>
            </a:pPr>
            <a:r>
              <a:rPr lang="es-ES" sz="1800" dirty="0"/>
              <a:t>🎯 Puntos Clave:</a:t>
            </a:r>
          </a:p>
          <a:p>
            <a:pPr algn="just"/>
            <a:r>
              <a:rPr lang="es-ES" sz="1800" dirty="0"/>
              <a:t>ML no es magia: Requiere datos de calidad y entendimiento del problema.</a:t>
            </a:r>
          </a:p>
          <a:p>
            <a:pPr algn="just"/>
            <a:r>
              <a:rPr lang="es-ES" sz="1800" dirty="0"/>
              <a:t>No hay algoritmo universal: Cada problema requiere enfoque específico.</a:t>
            </a:r>
          </a:p>
          <a:p>
            <a:pPr algn="just"/>
            <a:r>
              <a:rPr lang="es-ES" sz="1800" dirty="0"/>
              <a:t>Interpretabilidad vs Performance: Balance crucial según el dominio.</a:t>
            </a:r>
          </a:p>
          <a:p>
            <a:pPr algn="just"/>
            <a:r>
              <a:rPr lang="es-ES" sz="1800" dirty="0"/>
              <a:t>Datos desbalanceados: Problema común que requiere técnicas específicas.</a:t>
            </a:r>
          </a:p>
          <a:p>
            <a:pPr algn="just"/>
            <a:r>
              <a:rPr lang="es-ES" sz="1800" dirty="0"/>
              <a:t>Experimentación: Probar múltiples enfoques y validar rigurosamente.</a:t>
            </a:r>
          </a:p>
          <a:p>
            <a:pPr algn="just"/>
            <a:endParaRPr lang="es-ES" sz="1800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ABE7EDA-D51A-37C4-7ECC-A2A1F0DA06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mtClean="0"/>
              <a:t>75</a:t>
            </a:fld>
            <a:endParaRPr lang="es-CL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6B02A9B3-1605-0950-B417-2A83EA7EDFAC}"/>
              </a:ext>
            </a:extLst>
          </p:cNvPr>
          <p:cNvSpPr/>
          <p:nvPr/>
        </p:nvSpPr>
        <p:spPr>
          <a:xfrm>
            <a:off x="594900" y="3955556"/>
            <a:ext cx="8080886" cy="731700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/>
              <a:t>¡El Machine </a:t>
            </a:r>
            <a:r>
              <a:rPr lang="es-ES" sz="1800" dirty="0" err="1"/>
              <a:t>Learning</a:t>
            </a:r>
            <a:r>
              <a:rPr lang="es-ES" sz="1800" dirty="0"/>
              <a:t> es una herramienta poderosa cuando se usa correctamente!</a:t>
            </a:r>
            <a:endParaRPr lang="es-CL" sz="1800" b="1" dirty="0"/>
          </a:p>
        </p:txBody>
      </p:sp>
    </p:spTree>
    <p:extLst>
      <p:ext uri="{BB962C8B-B14F-4D97-AF65-F5344CB8AC3E}">
        <p14:creationId xmlns:p14="http://schemas.microsoft.com/office/powerpoint/2010/main" val="190158506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"/>
          <p:cNvSpPr txBox="1">
            <a:spLocks noGrp="1"/>
          </p:cNvSpPr>
          <p:nvPr>
            <p:ph type="ctrTitle" idx="4294967295"/>
          </p:nvPr>
        </p:nvSpPr>
        <p:spPr>
          <a:xfrm>
            <a:off x="1033300" y="1158047"/>
            <a:ext cx="5739640" cy="543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osis"/>
              <a:buNone/>
            </a:pPr>
            <a:r>
              <a:rPr lang="es-CL" sz="2400" b="0" i="0" u="none" strike="noStrike" cap="none" dirty="0">
                <a:solidFill>
                  <a:schemeClr val="accent1"/>
                </a:solidFill>
                <a:latin typeface="Dosis"/>
                <a:ea typeface="Dosis"/>
                <a:cs typeface="Dosis"/>
                <a:sym typeface="Dosis"/>
              </a:rPr>
              <a:t>CONTACTO DOCENTE</a:t>
            </a:r>
            <a:br>
              <a:rPr lang="es-CL" sz="2400" b="0" i="0" u="none" strike="noStrike" cap="none" dirty="0">
                <a:solidFill>
                  <a:schemeClr val="accent1"/>
                </a:solidFill>
                <a:latin typeface="Dosis"/>
                <a:ea typeface="Dosis"/>
                <a:cs typeface="Dosis"/>
                <a:sym typeface="Dosis"/>
              </a:rPr>
            </a:br>
            <a:r>
              <a:rPr lang="es-CL" dirty="0">
                <a:solidFill>
                  <a:schemeClr val="bg1"/>
                </a:solidFill>
              </a:rPr>
              <a:t>oyanez@udla.cl </a:t>
            </a:r>
            <a:endParaRPr sz="2400" b="0" i="0" u="none" strike="noStrike" cap="none" dirty="0">
              <a:solidFill>
                <a:schemeClr val="bg1"/>
              </a:solidFill>
              <a:highlight>
                <a:srgbClr val="FFFF00"/>
              </a:highlight>
              <a:latin typeface="Dosis"/>
              <a:ea typeface="Dosis"/>
              <a:cs typeface="Dosis"/>
              <a:sym typeface="Dosis"/>
            </a:endParaRPr>
          </a:p>
        </p:txBody>
      </p:sp>
      <p:pic>
        <p:nvPicPr>
          <p:cNvPr id="188" name="Google Shape;188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93575" y="3743049"/>
            <a:ext cx="2827675" cy="107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illiam template">
  <a:themeElements>
    <a:clrScheme name="Custom 347">
      <a:dk1>
        <a:srgbClr val="222222"/>
      </a:dk1>
      <a:lt1>
        <a:srgbClr val="FFFFFF"/>
      </a:lt1>
      <a:dk2>
        <a:srgbClr val="666666"/>
      </a:dk2>
      <a:lt2>
        <a:srgbClr val="F3F3F3"/>
      </a:lt2>
      <a:accent1>
        <a:srgbClr val="FF8700"/>
      </a:accent1>
      <a:accent2>
        <a:srgbClr val="FFB840"/>
      </a:accent2>
      <a:accent3>
        <a:srgbClr val="333333"/>
      </a:accent3>
      <a:accent4>
        <a:srgbClr val="9B9796"/>
      </a:accent4>
      <a:accent5>
        <a:srgbClr val="C9C3BD"/>
      </a:accent5>
      <a:accent6>
        <a:srgbClr val="96C94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87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0D37A9D-6882-4531-8AF7-C2CFF0459CA5}">
  <we:reference id="wa200010001" version="1.0.0.1" store="es-ES" storeType="OMEX"/>
  <we:alternateReferences>
    <we:reference id="WA200010001" version="1.0.0.1" store="WA200010001" storeType="OMEX"/>
  </we:alternateReferences>
  <we:properties>
    <we:property name="claude.fileId" value="&quot;c0d900da-3196-4b29-a42b-79a0ba190b5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2310</TotalTime>
  <Words>3169</Words>
  <Application>Microsoft Office PowerPoint</Application>
  <PresentationFormat>Presentación en pantalla (16:9)</PresentationFormat>
  <Paragraphs>512</Paragraphs>
  <Slides>76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76</vt:i4>
      </vt:variant>
    </vt:vector>
  </HeadingPairs>
  <TitlesOfParts>
    <vt:vector size="84" baseType="lpstr">
      <vt:lpstr>Arial</vt:lpstr>
      <vt:lpstr>Times New Roman</vt:lpstr>
      <vt:lpstr>Dosis</vt:lpstr>
      <vt:lpstr>Calibri</vt:lpstr>
      <vt:lpstr>Roboto</vt:lpstr>
      <vt:lpstr>FKGroteskNeue</vt:lpstr>
      <vt:lpstr>William template</vt:lpstr>
      <vt:lpstr>1_Tema de Office</vt:lpstr>
      <vt:lpstr>Presentación de PowerPoint</vt:lpstr>
      <vt:lpstr>Presentación de PowerPoint</vt:lpstr>
      <vt:lpstr>Molecular representation</vt:lpstr>
      <vt:lpstr>Molecular representation</vt:lpstr>
      <vt:lpstr>Chemical file formats</vt:lpstr>
      <vt:lpstr>SMILES format</vt:lpstr>
      <vt:lpstr>SMILES format II</vt:lpstr>
      <vt:lpstr>Canonical SMILES</vt:lpstr>
      <vt:lpstr>Molecular representation</vt:lpstr>
      <vt:lpstr>Molecular similarity</vt:lpstr>
      <vt:lpstr>Molecular fingerprints</vt:lpstr>
      <vt:lpstr>Molecular fingerprints</vt:lpstr>
      <vt:lpstr>Molecular fingerprints</vt:lpstr>
      <vt:lpstr>Molecular fingerprints</vt:lpstr>
      <vt:lpstr>Similarity of molecular fingerprints</vt:lpstr>
      <vt:lpstr>Similarity of atom environments</vt:lpstr>
      <vt:lpstr>Molecular fingerprints</vt:lpstr>
      <vt:lpstr>Molecular fingerprints</vt:lpstr>
      <vt:lpstr>Molecular fingerprints</vt:lpstr>
      <vt:lpstr>Molecular fingerprints</vt:lpstr>
      <vt:lpstr>Fingerprinting methods</vt:lpstr>
      <vt:lpstr>Molecular fingerprints</vt:lpstr>
      <vt:lpstr>Molecular fingerprints</vt:lpstr>
      <vt:lpstr>Molecular fingerprints</vt:lpstr>
      <vt:lpstr>Molecular fingerprints</vt:lpstr>
      <vt:lpstr>Molecular fingerprints</vt:lpstr>
      <vt:lpstr>Herramientas</vt:lpstr>
      <vt:lpstr>¿Qué es la Ciencia de Datos?</vt:lpstr>
      <vt:lpstr>Vocabulario Data Science</vt:lpstr>
      <vt:lpstr>Data Science e Inteligencia Artificial</vt:lpstr>
      <vt:lpstr>Disciplina Multidisciplinaria</vt:lpstr>
      <vt:lpstr>Ciclo de Vida de un Proyecto</vt:lpstr>
      <vt:lpstr>Importancia en la Era Digital</vt:lpstr>
      <vt:lpstr>Matemáticas en Ciencia de Datos</vt:lpstr>
      <vt:lpstr>Álgebra Lineal</vt:lpstr>
      <vt:lpstr>Cálculo y Optimización</vt:lpstr>
      <vt:lpstr>Estadística</vt:lpstr>
      <vt:lpstr>Probabilidad y Teorema de Bayes</vt:lpstr>
      <vt:lpstr>Aplicaciones Matemáticas Prácticas</vt:lpstr>
      <vt:lpstr> El Futuro de los Datos</vt:lpstr>
      <vt:lpstr>¿Qué es Machine Learning?</vt:lpstr>
      <vt:lpstr>Machine Learning Workflow</vt:lpstr>
      <vt:lpstr>Tipos de Aprendizaje - Visión General</vt:lpstr>
      <vt:lpstr>Supervisado y No Supervisado</vt:lpstr>
      <vt:lpstr>Aprendizaje Supervisado</vt:lpstr>
      <vt:lpstr>Clasificación</vt:lpstr>
      <vt:lpstr>Algoritmos de Clasificación</vt:lpstr>
      <vt:lpstr>Regresión</vt:lpstr>
      <vt:lpstr>Algoritmos de Regresión</vt:lpstr>
      <vt:lpstr>Matriz de confusión</vt:lpstr>
      <vt:lpstr>Precision y recall</vt:lpstr>
      <vt:lpstr>F-Score</vt:lpstr>
      <vt:lpstr>Métricas de rendimiento</vt:lpstr>
      <vt:lpstr>Aprendizaje No-Supervisado</vt:lpstr>
      <vt:lpstr>Clustering</vt:lpstr>
      <vt:lpstr>Algoritmos de Clustering</vt:lpstr>
      <vt:lpstr>Clustering</vt:lpstr>
      <vt:lpstr>Clustering</vt:lpstr>
      <vt:lpstr>k-Means</vt:lpstr>
      <vt:lpstr>El algoritmo de k-means</vt:lpstr>
      <vt:lpstr>Aprendizaje Semi-Supervisado</vt:lpstr>
      <vt:lpstr>Aprendizaje por Refuerzo</vt:lpstr>
      <vt:lpstr>Bibliotecas de python</vt:lpstr>
      <vt:lpstr>Scikit-learn</vt:lpstr>
      <vt:lpstr>Redes Neuronales de Grafos (GNN)</vt:lpstr>
      <vt:lpstr>Problemas Importantes</vt:lpstr>
      <vt:lpstr>Sobreajuste (Overfitting)</vt:lpstr>
      <vt:lpstr>Prevención del Sobreajuste </vt:lpstr>
      <vt:lpstr>Modelos Caja Negra</vt:lpstr>
      <vt:lpstr>Modelos Caja Negra</vt:lpstr>
      <vt:lpstr>Explicabilidad de IA (XAI)</vt:lpstr>
      <vt:lpstr>Desbalance de Datos</vt:lpstr>
      <vt:lpstr>Importancia del Balanceo </vt:lpstr>
      <vt:lpstr>Técnicas de Balanceo</vt:lpstr>
      <vt:lpstr>Importante</vt:lpstr>
      <vt:lpstr>CONTACTO DOCENTE oyanez@udla.cl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HP</dc:creator>
  <cp:lastModifiedBy>Osvaldo Andres Yañez Osses</cp:lastModifiedBy>
  <cp:revision>220</cp:revision>
  <dcterms:modified xsi:type="dcterms:W3CDTF">2026-08-10T22:34:26Z</dcterms:modified>
</cp:coreProperties>
</file>